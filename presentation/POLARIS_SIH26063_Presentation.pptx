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33.svg" ContentType="image/svg+xml"/>
  <Override PartName="/ppt/media/image4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mo Bold" panose="020B0604020202020204" charset="0"/>
      <p:regular r:id="rId11"/>
    </p:embeddedFont>
    <p:embeddedFont>
      <p:font typeface="Calibri (MS)" panose="020B0604020202020204" charset="0"/>
      <p:regular r:id="rId12"/>
    </p:embeddedFont>
    <p:embeddedFont>
      <p:font typeface="Calibri (MS) Bold" panose="020B0604020202020204" charset="0"/>
      <p:regular r:id="rId13"/>
    </p:embeddedFont>
    <p:embeddedFont>
      <p:font typeface="Garamond Bold" panose="02020804030307010803" pitchFamily="18" charset="0"/>
      <p:regular r:id="rId14"/>
      <p:bold r:id="rId15"/>
    </p:embeddedFont>
    <p:embeddedFont>
      <p:font typeface="Times New Roman Bold" panose="02020803070505020304" pitchFamily="18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22" autoAdjust="0"/>
  </p:normalViewPr>
  <p:slideViewPr>
    <p:cSldViewPr>
      <p:cViewPr varScale="1">
        <p:scale>
          <a:sx n="51" d="100"/>
          <a:sy n="51" d="100"/>
        </p:scale>
        <p:origin x="7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1.7.2013</a:t>
            </a:r>
          </a:p>
          <a:p>
            <a:endParaRPr lang="en-US" dirty="0"/>
          </a:p>
          <a:p>
            <a:r>
              <a:rPr lang="en-US" dirty="0"/>
              <a:t>2</a:t>
            </a:r>
          </a:p>
          <a:p>
            <a:endParaRPr lang="en-US" dirty="0"/>
          </a:p>
          <a:p>
            <a:r>
              <a:rPr lang="en-US" dirty="0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1.7.2013</a:t>
            </a:r>
          </a:p>
          <a:p>
            <a:endParaRPr lang="en-US" dirty="0"/>
          </a:p>
          <a:p>
            <a:r>
              <a:rPr lang="en-US" dirty="0"/>
              <a:t>3</a:t>
            </a:r>
          </a:p>
          <a:p>
            <a:endParaRPr lang="en-US" dirty="0"/>
          </a:p>
          <a:p>
            <a:r>
              <a:rPr lang="en-US" dirty="0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1.7.2013</a:t>
            </a:r>
          </a:p>
          <a:p>
            <a:endParaRPr lang="en-US" dirty="0"/>
          </a:p>
          <a:p>
            <a:r>
              <a:rPr lang="en-US" dirty="0"/>
              <a:t>4</a:t>
            </a:r>
          </a:p>
          <a:p>
            <a:endParaRPr lang="en-US" dirty="0"/>
          </a:p>
          <a:p>
            <a:r>
              <a:rPr lang="en-US" dirty="0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1.7.2013</a:t>
            </a:r>
          </a:p>
          <a:p>
            <a:endParaRPr lang="en-US" dirty="0"/>
          </a:p>
          <a:p>
            <a:r>
              <a:rPr lang="en-US" dirty="0"/>
              <a:t>5</a:t>
            </a:r>
          </a:p>
          <a:p>
            <a:endParaRPr lang="en-US" dirty="0"/>
          </a:p>
          <a:p>
            <a:r>
              <a:rPr lang="en-US" dirty="0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1.7.2013</a:t>
            </a:r>
          </a:p>
          <a:p>
            <a:endParaRPr lang="en-US" dirty="0"/>
          </a:p>
          <a:p>
            <a:r>
              <a:rPr lang="en-US" dirty="0"/>
              <a:t>6</a:t>
            </a:r>
          </a:p>
          <a:p>
            <a:endParaRPr lang="en-US" dirty="0"/>
          </a:p>
          <a:p>
            <a:r>
              <a:rPr lang="en-US" dirty="0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3.jpeg"/><Relationship Id="rId5" Type="http://schemas.openxmlformats.org/officeDocument/2006/relationships/image" Target="../media/image6.sv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eg"/><Relationship Id="rId4" Type="http://schemas.openxmlformats.org/officeDocument/2006/relationships/image" Target="../media/image3.jpeg"/><Relationship Id="rId5" Type="http://schemas.openxmlformats.org/officeDocument/2006/relationships/image" Target="../media/image7.png"/><Relationship Id="rId6" Type="http://schemas.openxmlformats.org/officeDocument/2006/relationships/image" Target="../media/image10.svg"/><Relationship Id="rId7" Type="http://schemas.openxmlformats.org/officeDocument/2006/relationships/image" Target="../media/image11.svg"/><Relationship Id="rId8" Type="http://schemas.openxmlformats.org/officeDocument/2006/relationships/image" Target="../media/image12.svg"/><Relationship Id="rId9" Type="http://schemas.openxmlformats.org/officeDocument/2006/relationships/image" Target="../media/image13.svg"/><Relationship Id="rId10" Type="http://schemas.openxmlformats.org/officeDocument/2006/relationships/image" Target="../media/image14.svg"/><Relationship Id="rId11" Type="http://schemas.openxmlformats.org/officeDocument/2006/relationships/image" Target="../media/image15.svg"/><Relationship Id="rId12" Type="http://schemas.openxmlformats.org/officeDocument/2006/relationships/image" Target="../media/image16.svg"/><Relationship Id="rId13" Type="http://schemas.openxmlformats.org/officeDocument/2006/relationships/image" Target="../media/image17.svg"/><Relationship Id="rId14" Type="http://schemas.openxmlformats.org/officeDocument/2006/relationships/image" Target="../media/image18.svg"/><Relationship Id="rId15" Type="http://schemas.openxmlformats.org/officeDocument/2006/relationships/image" Target="../media/image19.svg"/><Relationship Id="rId16" Type="http://schemas.openxmlformats.org/officeDocument/2006/relationships/image" Target="../media/image20.svg"/><Relationship Id="rId17" Type="http://schemas.openxmlformats.org/officeDocument/2006/relationships/image" Target="../media/image21.svg"/><Relationship Id="rId18" Type="http://schemas.openxmlformats.org/officeDocument/2006/relationships/image" Target="../media/image22.svg"/><Relationship Id="rId19" Type="http://schemas.openxmlformats.org/officeDocument/2006/relationships/image" Target="../media/image23.svg"/><Relationship Id="rId20" Type="http://schemas.openxmlformats.org/officeDocument/2006/relationships/image" Target="../media/image24.svg"/><Relationship Id="rId21" Type="http://schemas.openxmlformats.org/officeDocument/2006/relationships/image" Target="../media/image25.png"/><Relationship Id="rId22" Type="http://schemas.openxmlformats.org/officeDocument/2006/relationships/image" Target="../media/image26.png"/><Relationship Id="rId23" Type="http://schemas.openxmlformats.org/officeDocument/2006/relationships/image" Target="../media/image6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6.svg"/><Relationship Id="rId10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eg"/><Relationship Id="rId4" Type="http://schemas.openxmlformats.org/officeDocument/2006/relationships/image" Target="../media/image3.jpeg"/><Relationship Id="rId5" Type="http://schemas.openxmlformats.org/officeDocument/2006/relationships/image" Target="../media/image33.svg"/><Relationship Id="rId6" Type="http://schemas.openxmlformats.org/officeDocument/2006/relationships/image" Target="../media/image7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Relationship Id="rId14" Type="http://schemas.openxmlformats.org/officeDocument/2006/relationships/image" Target="../media/image41.png"/><Relationship Id="rId15" Type="http://schemas.openxmlformats.org/officeDocument/2006/relationships/image" Target="../media/image42.png"/><Relationship Id="rId16" Type="http://schemas.openxmlformats.org/officeDocument/2006/relationships/image" Target="../media/image4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eg"/><Relationship Id="rId4" Type="http://schemas.openxmlformats.org/officeDocument/2006/relationships/image" Target="../media/image3.jpeg"/><Relationship Id="rId5" Type="http://schemas.openxmlformats.org/officeDocument/2006/relationships/image" Target="../media/image44.svg"/><Relationship Id="rId6" Type="http://schemas.openxmlformats.org/officeDocument/2006/relationships/image" Target="../media/image7.png"/><Relationship Id="rId7" Type="http://schemas.openxmlformats.org/officeDocument/2006/relationships/hyperlink" Target="https://arxiv.org/pdf/0803.0476" TargetMode="External"/><Relationship Id="rId8" Type="http://schemas.openxmlformats.org/officeDocument/2006/relationships/hyperlink" Target="https://nvlpubs.nist.gov/nistpubs/FIPS/NIST.FIPS.180-4.pdf" TargetMode="External"/><Relationship Id="rId9" Type="http://schemas.openxmlformats.org/officeDocument/2006/relationships/hyperlink" Target="https://spacy.io/usage/linguistic-features" TargetMode="External"/><Relationship Id="rId10" Type="http://schemas.openxmlformats.org/officeDocument/2006/relationships/hyperlink" Target="https://hyperledger-fabric.readthedocs.io/en/release-2.5/" TargetMode="External"/><Relationship Id="rId11" Type="http://schemas.openxmlformats.org/officeDocument/2006/relationships/hyperlink" Target="https://arxiv.org/pdf/2005.11401" TargetMode="External"/><Relationship Id="rId12" Type="http://schemas.openxmlformats.org/officeDocument/2006/relationships/hyperlink" Target="https://github.com/JaidedAI/EasyOCR" TargetMode="External"/><Relationship Id="rId13" Type="http://schemas.openxmlformats.org/officeDocument/2006/relationships/hyperlink" Target="https://publications.idiap.ch/attachments/papers/2021/Fabien_INTERSPEECH2021_2021.pdf?utm_source=chatgpt.com" TargetMode="External"/><Relationship Id="rId14" Type="http://schemas.openxmlformats.org/officeDocument/2006/relationships/hyperlink" Target="https://cina.gmu.edu/projects/using-deep-learning-to-extract-and-analyze-dynamic-knowledge-graphs-of-criminal-networks-from-publicly-available-text/" TargetMode="External"/><Relationship Id="rId15" Type="http://schemas.openxmlformats.org/officeDocument/2006/relationships/hyperlink" Target="https://docs.ultralytics.com/models/yolov8" TargetMode="External"/><Relationship Id="rId16" Type="http://schemas.openxmlformats.org/officeDocument/2006/relationships/hyperlink" Target="https://docs.opencv.org/5.0/" TargetMode="External"/><Relationship Id="rId17" Type="http://schemas.openxmlformats.org/officeDocument/2006/relationships/image" Target="../media/image45.png"/><Relationship Id="rId18" Type="http://schemas.openxmlformats.org/officeDocument/2006/relationships/hyperlink" Target="https://github.com/nani224/EviGraph" TargetMode="External"/><Relationship Id="rId19" Type="http://schemas.openxmlformats.org/officeDocument/2006/relationships/hyperlink" Target="https://evigraph.onrender.com" TargetMode="External"/><Relationship Id="rId20" Type="http://schemas.openxmlformats.org/officeDocument/2006/relationships/hyperlink" Target="https://www.youtube.com/watch?v=uqp38NY1QrQ" TargetMode="External"/><Relationship Id="rId21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3"/>
          <p:cNvGrpSpPr/>
          <p:nvPr/>
        </p:nvGrpSpPr>
        <p:grpSpPr>
          <a:xfrm>
            <a:off x="10917279" y="2419693"/>
            <a:ext cx="4805267" cy="5139357"/>
            <a:chOff x="0" y="0"/>
            <a:chExt cx="6407023" cy="6852476"/>
          </a:xfrm>
        </p:grpSpPr>
        <p:sp>
          <p:nvSpPr>
            <p:cNvPr id="16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5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18" name="Group 6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19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21" name="TextBox 9"/>
          <p:cNvSpPr txBox="1"/>
          <p:nvPr/>
        </p:nvSpPr>
        <p:spPr>
          <a:xfrm>
            <a:off x="588369" y="2108968"/>
            <a:ext cx="8703945" cy="796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Problem Statement ID: SIH26063</a:t>
            </a:r>
            <a:endParaRPr dirty="0"/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Problem Statement: Integrated Polar Science Outreach, Knowledge Repository and Media Dissemination Portal</a:t>
            </a:r>
          </a:p>
          <a:p>
            <a:pPr>
              <a:defRPr sz="1800" b="0">
                <a:solidFill>
                  <a:srgbClr val="FFFFFF"/>
                </a:solidFill>
                <a:latin typeface="Segoe UI"/>
              </a:defRPr>
            </a:pPr>
            <a:r>
              <a:t>Organization: Ministry of Earth Sciences (MoES) | NCPOR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Project: POLARIS (Polar Knowledge &amp; Outreach Intelligence System)</a:t>
            </a:r>
          </a:p>
          <a:p>
            <a:pPr>
              <a:defRPr sz="1800" b="0">
                <a:solidFill>
                  <a:srgbClr val="FFFFFF"/>
                </a:solidFill>
                <a:latin typeface="Segoe UI"/>
              </a:defRPr>
            </a:pPr>
            <a:r>
              <a:t>Theme: Smart Education</a:t>
            </a:r>
          </a:p>
          <a:p>
            <a:pPr>
              <a:defRPr sz="1800" b="0">
                <a:solidFill>
                  <a:srgbClr val="FFFFFF"/>
                </a:solidFill>
                <a:latin typeface="Segoe UI"/>
              </a:defRPr>
            </a:pPr>
            <a:r>
              <a:t>Category: Software</a:t>
            </a:r>
          </a:p>
          <a:p>
            <a:pPr>
              <a:defRPr sz="1800" b="0">
                <a:solidFill>
                  <a:srgbClr val="FFFFFF"/>
                </a:solidFill>
                <a:latin typeface="Segoe UI"/>
              </a:defRPr>
            </a:pPr>
            <a:r>
              <a:t>Team ID: TBD</a:t>
            </a:r>
          </a:p>
          <a:p>
            <a:pPr>
              <a:defRPr sz="1800" b="0">
                <a:solidFill>
                  <a:srgbClr val="FFFFFF"/>
                </a:solidFill>
                <a:latin typeface="Segoe UI"/>
              </a:defRPr>
            </a:pPr>
            <a:r>
              <a:t>Team Name: TBD</a:t>
            </a:r>
          </a:p>
        </p:txBody>
      </p:sp>
      <p:grpSp>
        <p:nvGrpSpPr>
          <p:cNvPr id="22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23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979323"/>
            <a:ext cx="18288000" cy="319278"/>
            <a:chOff x="0" y="0"/>
            <a:chExt cx="24384000" cy="4257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425704"/>
            </a:xfrm>
            <a:custGeom>
              <a:avLst/>
              <a:gdLst/>
              <a:ahLst/>
              <a:cxnLst/>
              <a:rect l="l" t="t" r="r" b="b"/>
              <a:pathLst>
                <a:path w="24384000" h="425704">
                  <a:moveTo>
                    <a:pt x="0" y="0"/>
                  </a:moveTo>
                  <a:lnTo>
                    <a:pt x="24384000" y="0"/>
                  </a:lnTo>
                  <a:lnTo>
                    <a:pt x="24384000" y="425704"/>
                  </a:lnTo>
                  <a:lnTo>
                    <a:pt x="0" y="425704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204343" y="-78619"/>
            <a:ext cx="11528536" cy="1166574"/>
            <a:chOff x="0" y="0"/>
            <a:chExt cx="15371382" cy="1555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371318" cy="1555369"/>
            </a:xfrm>
            <a:custGeom>
              <a:avLst/>
              <a:gdLst/>
              <a:ahLst/>
              <a:cxnLst/>
              <a:rect l="l" t="t" r="r" b="b"/>
              <a:pathLst>
                <a:path w="15371318" h="1555369">
                  <a:moveTo>
                    <a:pt x="0" y="0"/>
                  </a:moveTo>
                  <a:lnTo>
                    <a:pt x="15371318" y="0"/>
                  </a:lnTo>
                  <a:lnTo>
                    <a:pt x="15371318" y="1555369"/>
                  </a:lnTo>
                  <a:lnTo>
                    <a:pt x="0" y="15553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2430" b="-14243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204343" y="-92907"/>
            <a:ext cx="11528536" cy="1180862"/>
            <a:chOff x="0" y="0"/>
            <a:chExt cx="15371382" cy="15744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371381" cy="1574482"/>
            </a:xfrm>
            <a:custGeom>
              <a:avLst/>
              <a:gdLst/>
              <a:ahLst/>
              <a:cxnLst/>
              <a:rect l="l" t="t" r="r" b="b"/>
              <a:pathLst>
                <a:path w="15371381" h="1574482">
                  <a:moveTo>
                    <a:pt x="0" y="0"/>
                  </a:moveTo>
                  <a:lnTo>
                    <a:pt x="15371381" y="0"/>
                  </a:lnTo>
                  <a:lnTo>
                    <a:pt x="15371381" y="1574482"/>
                  </a:lnTo>
                  <a:lnTo>
                    <a:pt x="0" y="15744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0228" b="-14022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5371382" cy="15935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b="1" sz="2200">
                  <a:solidFill>
                    <a:srgbClr val="FFFFFF"/>
                  </a:solidFill>
                  <a:latin typeface="Segoe UI"/>
                </a:defRPr>
              </a:pPr>
              <a:r>
                <a:t>POLARIS: Polar Knowledge &amp; Outreach Intelligence System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707" b="-10170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06400" y="9520238"/>
            <a:ext cx="4267200" cy="561975"/>
            <a:chOff x="0" y="0"/>
            <a:chExt cx="5689600" cy="7493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89600" cy="749301"/>
            </a:xfrm>
            <a:custGeom>
              <a:avLst/>
              <a:gdLst/>
              <a:ahLst/>
              <a:cxnLst/>
              <a:rect l="l" t="t" r="r" b="b"/>
              <a:pathLst>
                <a:path w="5689600" h="749301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7954" b="-9795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id="14" name="Freeform 14" descr="Your startup LOGO"/>
          <p:cNvSpPr/>
          <p:nvPr/>
        </p:nvSpPr>
        <p:spPr>
          <a:xfrm>
            <a:off x="106594" y="22117"/>
            <a:ext cx="2303431" cy="1004506"/>
          </a:xfrm>
          <a:custGeom>
            <a:avLst/>
            <a:gdLst/>
            <a:ahLst/>
            <a:cxnLst/>
            <a:rect l="l" t="t" r="r" b="b"/>
            <a:pathLst>
              <a:path w="2303431" h="1004506">
                <a:moveTo>
                  <a:pt x="0" y="0"/>
                </a:moveTo>
                <a:lnTo>
                  <a:pt x="2303431" y="0"/>
                </a:lnTo>
                <a:lnTo>
                  <a:pt x="2303431" y="1004507"/>
                </a:lnTo>
                <a:lnTo>
                  <a:pt x="0" y="1004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120882" y="-6458"/>
            <a:ext cx="2274818" cy="1018737"/>
            <a:chOff x="0" y="0"/>
            <a:chExt cx="3033090" cy="135831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33091" cy="1358315"/>
            </a:xfrm>
            <a:custGeom>
              <a:avLst/>
              <a:gdLst/>
              <a:ahLst/>
              <a:cxnLst/>
              <a:rect l="l" t="t" r="r" b="b"/>
              <a:pathLst>
                <a:path w="3033091" h="1358315">
                  <a:moveTo>
                    <a:pt x="0" y="0"/>
                  </a:moveTo>
                  <a:lnTo>
                    <a:pt x="3033091" y="0"/>
                  </a:lnTo>
                  <a:lnTo>
                    <a:pt x="3033091" y="1358315"/>
                  </a:lnTo>
                  <a:lnTo>
                    <a:pt x="0" y="13583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458" r="-74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3033090" cy="1415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t>TBD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009887" y="55455"/>
            <a:ext cx="2035016" cy="937736"/>
            <a:chOff x="0" y="0"/>
            <a:chExt cx="2713355" cy="125031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13355" cy="1250315"/>
            </a:xfrm>
            <a:custGeom>
              <a:avLst/>
              <a:gdLst/>
              <a:ahLst/>
              <a:cxnLst/>
              <a:rect l="l" t="t" r="r" b="b"/>
              <a:pathLst>
                <a:path w="2713355" h="1250315">
                  <a:moveTo>
                    <a:pt x="0" y="0"/>
                  </a:moveTo>
                  <a:lnTo>
                    <a:pt x="2713355" y="0"/>
                  </a:lnTo>
                  <a:lnTo>
                    <a:pt x="2713355" y="1250315"/>
                  </a:lnTo>
                  <a:lnTo>
                    <a:pt x="0" y="1250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257" b="-125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AutoShape 20"/>
          <p:cNvSpPr/>
          <p:nvPr/>
        </p:nvSpPr>
        <p:spPr>
          <a:xfrm rot="3600">
            <a:off x="-6925" y="1069029"/>
            <a:ext cx="18301849" cy="0"/>
          </a:xfrm>
          <a:prstGeom prst="line">
            <a:avLst/>
          </a:prstGeom>
          <a:ln w="19050" cap="rnd">
            <a:solidFill>
              <a:srgbClr val="4F81B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480000" y="1180000"/>
            <a:ext cx="5200000" cy="40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0000" y="1360000"/>
            <a:ext cx="824456" cy="2616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00" b="1" dirty="0">
                <a:solidFill>
                  <a:srgbClr val="DC2626"/>
                </a:solidFill>
              </a:rPr>
              <a:t>Problem:</a:t>
            </a:r>
            <a:endParaRPr sz="1700" b="1" dirty="0">
              <a:solidFill>
                <a:srgbClr val="0F172A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0000" y="1860000"/>
            <a:ext cx="4760000" cy="16902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0F2FE"/>
                </a:solidFill>
                <a:latin typeface="Segoe UI"/>
              </a:defRPr>
            </a:pPr>
            <a:r>
              <a:t>• Disconnected Polar Data Silos: 40+ years of expedition reports, datasets, publications, and media scattered across disparate archives.</a:t>
            </a:r>
          </a:p>
          <a:p>
            <a:pPr>
              <a:defRPr sz="1300">
                <a:solidFill>
                  <a:srgbClr val="E0F2FE"/>
                </a:solidFill>
                <a:latin typeface="Segoe UI"/>
              </a:defRPr>
            </a:pPr>
            <a:r>
              <a:t>• Complex Science Inaccessible to Public: Specialized cryospheric and oceanographic research is difficult for students and citizens to consume.</a:t>
            </a:r>
          </a:p>
          <a:p>
            <a:pPr>
              <a:defRPr sz="1300">
                <a:solidFill>
                  <a:srgbClr val="E0F2FE"/>
                </a:solidFill>
                <a:latin typeface="Segoe UI"/>
              </a:defRPr>
            </a:pPr>
            <a:r>
              <a:t>• Manual &amp; Slow Outreach Creation: Disseminating verified scientific findings across web, social media, and press requires tedious manual effort.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0000" y="4140000"/>
            <a:ext cx="1500000" cy="92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25400"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44+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Expeditions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Since 1981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0000" y="4140000"/>
            <a:ext cx="1500000" cy="92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25400"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3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Stations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Maitri, Bharati, Himadri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60000" y="4140000"/>
            <a:ext cx="1500000" cy="92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25400" rtlCol="0" anchor="ctr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Grounded RAG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Zero Hallucination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00" y="5380000"/>
            <a:ext cx="5200000" cy="40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0000" y="5560000"/>
            <a:ext cx="2841355" cy="2616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sz="1700" b="1" dirty="0">
                <a:solidFill>
                  <a:srgbClr val="059669"/>
                </a:solidFill>
              </a:rPr>
              <a:t>How It Addresses the Problem: </a:t>
            </a:r>
            <a:endParaRPr sz="1700" b="1" dirty="0">
              <a:solidFill>
                <a:srgbClr val="0F172A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0000" y="6060000"/>
            <a:ext cx="4760000" cy="22570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E0F2FE"/>
                </a:solidFill>
                <a:latin typeface="Segoe UI"/>
              </a:defRPr>
            </a:pPr>
            <a:r>
              <a:t>• Unified Polar Knowledge Lake: Aggregates expedition reports, papers, datasets, photos, and institutional activities in one central repository.</a:t>
            </a:r>
          </a:p>
          <a:p>
            <a:pPr>
              <a:defRPr sz="1100">
                <a:solidFill>
                  <a:srgbClr val="E0F2FE"/>
                </a:solidFill>
                <a:latin typeface="Segoe UI"/>
              </a:defRPr>
            </a:pPr>
            <a:r>
              <a:t>• Citation-Grounded RAG Assistant: POLAR AI answers natural-language science queries with exact document name, page, and evidence citations.</a:t>
            </a:r>
          </a:p>
          <a:p>
            <a:pPr>
              <a:defRPr sz="1100">
                <a:solidFill>
                  <a:srgbClr val="E0F2FE"/>
                </a:solidFill>
                <a:latin typeface="Segoe UI"/>
              </a:defRPr>
            </a:pPr>
            <a:r>
              <a:t>• Interactive Polar Station GIS: Leaflet/OSM mapping of Maitri, Bharati, and Himadri with linked expeditions, publications, and climate datasets.</a:t>
            </a:r>
          </a:p>
          <a:p>
            <a:pPr>
              <a:defRPr sz="1100">
                <a:solidFill>
                  <a:srgbClr val="E0F2FE"/>
                </a:solidFill>
                <a:latin typeface="Segoe UI"/>
              </a:defRPr>
            </a:pPr>
            <a:r>
              <a:t>• Chronological Milestone Timeline: Visual exploration of India's historic polar achievements, wintering teams, and scientific breakthroughs.</a:t>
            </a:r>
          </a:p>
          <a:p>
            <a:pPr>
              <a:defRPr sz="1100">
                <a:solidFill>
                  <a:srgbClr val="E0F2FE"/>
                </a:solidFill>
                <a:latin typeface="Segoe UI"/>
              </a:defRPr>
            </a:pPr>
            <a:r>
              <a:t>• Multimodal Media &amp; Dataset Catalog: Instant semantic search across cryospheric photography, drone/satellite footage, and previewable CSV/NetCDF datasets.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64000" y="1212227"/>
            <a:ext cx="6528000" cy="8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099" y="5547013"/>
            <a:ext cx="5431800" cy="356289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630000" y="9137976"/>
            <a:ext cx="4690771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Workflow: Polar Research → Structured Knowledge → Unified Search → POLAR AI → Education → Outreach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608000" y="1180000"/>
            <a:ext cx="5200000" cy="40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2828000" y="1360000"/>
            <a:ext cx="1715726" cy="2616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sz="1700" b="1" dirty="0">
                <a:solidFill>
                  <a:srgbClr val="2563EB"/>
                </a:solidFill>
              </a:rPr>
              <a:t>Proposed </a:t>
            </a:r>
            <a:r>
              <a:rPr sz="1700" b="1" dirty="0">
                <a:solidFill>
                  <a:srgbClr val="2563EB"/>
                </a:solidFill>
              </a:rPr>
              <a:t>Solution:</a:t>
            </a:r>
            <a:endParaRPr sz="1700" b="1" dirty="0">
              <a:solidFill>
                <a:srgbClr val="0F172A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2828000" y="1860000"/>
            <a:ext cx="4760000" cy="6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1150">
                <a:solidFill>
                  <a:srgbClr val="FFFFFF"/>
                </a:solidFill>
                <a:latin typeface="Segoe UI"/>
              </a:defRPr>
            </a:pPr>
            <a:r>
              <a:t>POLARIS is an integrated polar knowledge and outreach intelligence platform connecting researchers, students, educators, and the public with verified polar science data, source-grounded AI, interactive station GIS, and an AI-powered human-approved outreach studio.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28000" y="2620000"/>
            <a:ext cx="4760000" cy="196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E0F2FE"/>
                </a:solidFill>
                <a:latin typeface="Segoe UI"/>
              </a:defRPr>
            </a:pPr>
            <a:r>
              <a:t>• Multi-Source Data Ingestion: Standardized ingestion of expedition reports, datasets, publications, station telemetry, and media assets using FAIR principles.</a:t>
            </a:r>
          </a:p>
          <a:p>
            <a:pPr>
              <a:defRPr sz="1150">
                <a:solidFill>
                  <a:srgbClr val="E0F2FE"/>
                </a:solidFill>
                <a:latin typeface="Segoe UI"/>
              </a:defRPr>
            </a:pPr>
            <a:r>
              <a:t>• FAIR Metadata &amp; Deep Indexing: Automated metadata extraction using DataCite 4.4 and Dublin Core schemas with PyMuPDF text parsing.</a:t>
            </a:r>
          </a:p>
          <a:p>
            <a:pPr>
              <a:defRPr sz="1150">
                <a:solidFill>
                  <a:srgbClr val="E0F2FE"/>
                </a:solidFill>
                <a:latin typeface="Segoe UI"/>
              </a:defRPr>
            </a:pPr>
            <a:r>
              <a:t>• Hybrid Vector &amp; Semantic Retrieval: High-performance pgvector embeddings + full-text search across multidisciplinary polar research domains.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608000" y="5380000"/>
            <a:ext cx="5200000" cy="40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828000" y="5560000"/>
            <a:ext cx="2605393" cy="2616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00" b="1" dirty="0">
                <a:solidFill>
                  <a:srgbClr val="7C3AED"/>
                </a:solidFill>
              </a:rPr>
              <a:t>Innovation</a:t>
            </a:r>
            <a:r>
              <a:rPr lang="en-US" sz="1700" b="1" dirty="0">
                <a:solidFill>
                  <a:srgbClr val="7C3AED"/>
                </a:solidFill>
              </a:rPr>
              <a:t> And Uniqueness</a:t>
            </a:r>
            <a:r>
              <a:rPr sz="1700" b="1" dirty="0">
                <a:solidFill>
                  <a:srgbClr val="7C3AED"/>
                </a:solidFill>
              </a:rPr>
              <a:t>: </a:t>
            </a:r>
            <a:endParaRPr sz="1700" b="1" dirty="0">
              <a:solidFill>
                <a:srgbClr val="0F172A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2828000" y="6060000"/>
            <a:ext cx="4760000" cy="25545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E0F2FE"/>
                </a:solidFill>
                <a:latin typeface="Segoe UI"/>
              </a:defRPr>
            </a:pPr>
            <a:r>
              <a:t>• Citation-Grounded RAG Assistant: Polar AI provides exact document titles, section headings, and retrieved evidence snippets with zero hallucination.</a:t>
            </a:r>
          </a:p>
          <a:p>
            <a:pPr>
              <a:defRPr sz="1150">
                <a:solidFill>
                  <a:srgbClr val="E0F2FE"/>
                </a:solidFill>
                <a:latin typeface="Segoe UI"/>
              </a:defRPr>
            </a:pPr>
            <a:r>
              <a:t>• Interactive Polar Station GIS: Real-time geospatial mapping of Maitri, Bharati, and Himadri with linked expedition history and climate telemetry.</a:t>
            </a:r>
          </a:p>
          <a:p>
            <a:pPr>
              <a:defRPr sz="1150">
                <a:solidFill>
                  <a:srgbClr val="E0F2FE"/>
                </a:solidFill>
                <a:latin typeface="Segoe UI"/>
              </a:defRPr>
            </a:pPr>
            <a:r>
              <a:t>• AI Outreach Studio &amp; Human Review: Multi-channel content generator (Web, Instagram, LinkedIn, Student) with mandatory human editor approval.</a:t>
            </a:r>
          </a:p>
          <a:p>
            <a:pPr>
              <a:defRPr sz="1150">
                <a:solidFill>
                  <a:srgbClr val="E0F2FE"/>
                </a:solidFill>
                <a:latin typeface="Segoe UI"/>
              </a:defRPr>
            </a:pPr>
            <a:r>
              <a:t>• Polar Academy &amp; Verified Quiz Engine: Generates curriculum-aligned educational stories and quizzes directly from verified peer-reviewed polar science.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13517A6C-3D15-378C-9C17-4C008BC4F2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8600" y="1202884"/>
            <a:ext cx="6409400" cy="40099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roup 2"/>
          <p:cNvGrpSpPr/>
          <p:nvPr/>
        </p:nvGrpSpPr>
        <p:grpSpPr>
          <a:xfrm>
            <a:off x="3209220" y="0"/>
            <a:ext cx="12332151" cy="879491"/>
            <a:chOff x="0" y="0"/>
            <a:chExt cx="16442868" cy="1172654"/>
          </a:xfrm>
        </p:grpSpPr>
        <p:sp>
          <p:nvSpPr>
            <p:cNvPr id="273" name="Freeform 3"/>
            <p:cNvSpPr/>
            <p:nvPr/>
          </p:nvSpPr>
          <p:spPr>
            <a:xfrm>
              <a:off x="0" y="0"/>
              <a:ext cx="16442817" cy="1172718"/>
            </a:xfrm>
            <a:custGeom>
              <a:avLst/>
              <a:gdLst/>
              <a:ahLst/>
              <a:cxnLst/>
              <a:rect l="l" t="t" r="r" b="b"/>
              <a:pathLst>
                <a:path w="16442817" h="1172718">
                  <a:moveTo>
                    <a:pt x="0" y="0"/>
                  </a:moveTo>
                  <a:lnTo>
                    <a:pt x="16442817" y="0"/>
                  </a:lnTo>
                  <a:lnTo>
                    <a:pt x="16442817" y="1172718"/>
                  </a:lnTo>
                  <a:lnTo>
                    <a:pt x="0" y="11727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3016" b="-22300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4" name="Group 4"/>
          <p:cNvGrpSpPr/>
          <p:nvPr/>
        </p:nvGrpSpPr>
        <p:grpSpPr>
          <a:xfrm>
            <a:off x="3209220" y="-14288"/>
            <a:ext cx="12332151" cy="893778"/>
            <a:chOff x="0" y="0"/>
            <a:chExt cx="16442868" cy="1191704"/>
          </a:xfrm>
        </p:grpSpPr>
        <p:sp>
          <p:nvSpPr>
            <p:cNvPr id="275" name="Freeform 5"/>
            <p:cNvSpPr/>
            <p:nvPr/>
          </p:nvSpPr>
          <p:spPr>
            <a:xfrm>
              <a:off x="0" y="0"/>
              <a:ext cx="16442868" cy="1191705"/>
            </a:xfrm>
            <a:custGeom>
              <a:avLst/>
              <a:gdLst/>
              <a:ahLst/>
              <a:cxnLst/>
              <a:rect l="l" t="t" r="r" b="b"/>
              <a:pathLst>
                <a:path w="16442868" h="1191705">
                  <a:moveTo>
                    <a:pt x="0" y="0"/>
                  </a:moveTo>
                  <a:lnTo>
                    <a:pt x="16442868" y="0"/>
                  </a:lnTo>
                  <a:lnTo>
                    <a:pt x="16442868" y="1191705"/>
                  </a:lnTo>
                  <a:lnTo>
                    <a:pt x="0" y="11917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8850" b="-21885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76" name="TextBox 6"/>
            <p:cNvSpPr txBox="1"/>
            <p:nvPr/>
          </p:nvSpPr>
          <p:spPr>
            <a:xfrm>
              <a:off x="0" y="-19050"/>
              <a:ext cx="16442868" cy="12107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000000"/>
                  </a:solidFill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277" name="Group 7"/>
          <p:cNvGrpSpPr/>
          <p:nvPr/>
        </p:nvGrpSpPr>
        <p:grpSpPr>
          <a:xfrm>
            <a:off x="16079562" y="2248"/>
            <a:ext cx="1965388" cy="879538"/>
            <a:chOff x="0" y="0"/>
            <a:chExt cx="2620518" cy="1172718"/>
          </a:xfrm>
        </p:grpSpPr>
        <p:sp>
          <p:nvSpPr>
            <p:cNvPr id="278" name="Freeform 8"/>
            <p:cNvSpPr/>
            <p:nvPr/>
          </p:nvSpPr>
          <p:spPr>
            <a:xfrm>
              <a:off x="0" y="0"/>
              <a:ext cx="2620518" cy="1172718"/>
            </a:xfrm>
            <a:custGeom>
              <a:avLst/>
              <a:gdLst/>
              <a:ahLst/>
              <a:cxnLst/>
              <a:rect l="l" t="t" r="r" b="b"/>
              <a:pathLst>
                <a:path w="2620518" h="1172718">
                  <a:moveTo>
                    <a:pt x="0" y="0"/>
                  </a:moveTo>
                  <a:lnTo>
                    <a:pt x="2620518" y="0"/>
                  </a:lnTo>
                  <a:lnTo>
                    <a:pt x="2620518" y="1172718"/>
                  </a:lnTo>
                  <a:lnTo>
                    <a:pt x="0" y="1172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779" b="-277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9" name="Freeform 9"/>
          <p:cNvSpPr/>
          <p:nvPr/>
        </p:nvSpPr>
        <p:spPr>
          <a:xfrm>
            <a:off x="2421731" y="1021556"/>
            <a:ext cx="2014538" cy="396145"/>
          </a:xfrm>
          <a:custGeom>
            <a:avLst/>
            <a:gdLst/>
            <a:ahLst/>
            <a:cxnLst/>
            <a:rect l="l" t="t" r="r" b="b"/>
            <a:pathLst>
              <a:path w="2014538" h="396145">
                <a:moveTo>
                  <a:pt x="0" y="0"/>
                </a:moveTo>
                <a:lnTo>
                  <a:pt x="2014538" y="0"/>
                </a:lnTo>
                <a:lnTo>
                  <a:pt x="2014538" y="396145"/>
                </a:lnTo>
                <a:lnTo>
                  <a:pt x="0" y="3961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80" name="Group 10"/>
          <p:cNvGrpSpPr/>
          <p:nvPr/>
        </p:nvGrpSpPr>
        <p:grpSpPr>
          <a:xfrm>
            <a:off x="2428875" y="1028700"/>
            <a:ext cx="2000250" cy="381857"/>
            <a:chOff x="0" y="0"/>
            <a:chExt cx="2667000" cy="509143"/>
          </a:xfrm>
        </p:grpSpPr>
        <p:sp>
          <p:nvSpPr>
            <p:cNvPr id="281" name="Freeform 11"/>
            <p:cNvSpPr/>
            <p:nvPr/>
          </p:nvSpPr>
          <p:spPr>
            <a:xfrm>
              <a:off x="0" y="0"/>
              <a:ext cx="2667000" cy="509143"/>
            </a:xfrm>
            <a:custGeom>
              <a:avLst/>
              <a:gdLst/>
              <a:ahLst/>
              <a:cxnLst/>
              <a:rect l="l" t="t" r="r" b="b"/>
              <a:pathLst>
                <a:path w="2667000" h="509143">
                  <a:moveTo>
                    <a:pt x="0" y="0"/>
                  </a:moveTo>
                  <a:lnTo>
                    <a:pt x="2667000" y="0"/>
                  </a:lnTo>
                  <a:lnTo>
                    <a:pt x="2667000" y="509143"/>
                  </a:lnTo>
                  <a:lnTo>
                    <a:pt x="0" y="5091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2066" b="-5206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82" name="TextBox 12"/>
            <p:cNvSpPr txBox="1"/>
            <p:nvPr/>
          </p:nvSpPr>
          <p:spPr>
            <a:xfrm>
              <a:off x="0" y="0"/>
              <a:ext cx="2667000" cy="5091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950">
                  <a:solidFill>
                    <a:srgbClr val="FFFFFF"/>
                  </a:solidFill>
                  <a:latin typeface="Segoe UI"/>
                </a:defRPr>
              </a:pPr>
              <a:r>
                <a:t>Data Sources &amp; Ingestion</a:t>
              </a:r>
            </a:p>
          </p:txBody>
        </p:sp>
      </p:grpSp>
      <p:sp>
        <p:nvSpPr>
          <p:cNvPr id="283" name="Freeform 13"/>
          <p:cNvSpPr/>
          <p:nvPr/>
        </p:nvSpPr>
        <p:spPr>
          <a:xfrm>
            <a:off x="2421731" y="1443609"/>
            <a:ext cx="2014538" cy="396145"/>
          </a:xfrm>
          <a:custGeom>
            <a:avLst/>
            <a:gdLst/>
            <a:ahLst/>
            <a:cxnLst/>
            <a:rect l="l" t="t" r="r" b="b"/>
            <a:pathLst>
              <a:path w="2014538" h="396145">
                <a:moveTo>
                  <a:pt x="0" y="0"/>
                </a:moveTo>
                <a:lnTo>
                  <a:pt x="2014538" y="0"/>
                </a:lnTo>
                <a:lnTo>
                  <a:pt x="2014538" y="396145"/>
                </a:lnTo>
                <a:lnTo>
                  <a:pt x="0" y="3961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84" name="Group 14"/>
          <p:cNvGrpSpPr/>
          <p:nvPr/>
        </p:nvGrpSpPr>
        <p:grpSpPr>
          <a:xfrm>
            <a:off x="2428875" y="1450753"/>
            <a:ext cx="2000250" cy="381857"/>
            <a:chOff x="0" y="0"/>
            <a:chExt cx="2667000" cy="509143"/>
          </a:xfrm>
        </p:grpSpPr>
        <p:sp>
          <p:nvSpPr>
            <p:cNvPr id="285" name="Freeform 15"/>
            <p:cNvSpPr/>
            <p:nvPr/>
          </p:nvSpPr>
          <p:spPr>
            <a:xfrm>
              <a:off x="0" y="0"/>
              <a:ext cx="2667000" cy="509143"/>
            </a:xfrm>
            <a:custGeom>
              <a:avLst/>
              <a:gdLst/>
              <a:ahLst/>
              <a:cxnLst/>
              <a:rect l="l" t="t" r="r" b="b"/>
              <a:pathLst>
                <a:path w="2667000" h="509143">
                  <a:moveTo>
                    <a:pt x="0" y="0"/>
                  </a:moveTo>
                  <a:lnTo>
                    <a:pt x="2667000" y="0"/>
                  </a:lnTo>
                  <a:lnTo>
                    <a:pt x="2667000" y="509143"/>
                  </a:lnTo>
                  <a:lnTo>
                    <a:pt x="0" y="5091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2066" b="-5206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86" name="TextBox 16"/>
            <p:cNvSpPr txBox="1"/>
            <p:nvPr/>
          </p:nvSpPr>
          <p:spPr>
            <a:xfrm>
              <a:off x="0" y="0"/>
              <a:ext cx="2667000" cy="5091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950">
                  <a:solidFill>
                    <a:srgbClr val="FFFFFF"/>
                  </a:solidFill>
                  <a:latin typeface="Segoe UI"/>
                </a:defRPr>
              </a:pPr>
              <a:r>
                <a:t>Document &amp; Media Parsing</a:t>
              </a:r>
            </a:p>
          </p:txBody>
        </p:sp>
      </p:grpSp>
      <p:sp>
        <p:nvSpPr>
          <p:cNvPr id="287" name="Freeform 17"/>
          <p:cNvSpPr/>
          <p:nvPr/>
        </p:nvSpPr>
        <p:spPr>
          <a:xfrm>
            <a:off x="69056" y="1897856"/>
            <a:ext cx="1042988" cy="357188"/>
          </a:xfrm>
          <a:custGeom>
            <a:avLst/>
            <a:gdLst/>
            <a:ahLst/>
            <a:cxnLst/>
            <a:rect l="l" t="t" r="r" b="b"/>
            <a:pathLst>
              <a:path w="1042988" h="357188">
                <a:moveTo>
                  <a:pt x="0" y="0"/>
                </a:moveTo>
                <a:lnTo>
                  <a:pt x="1042988" y="0"/>
                </a:lnTo>
                <a:lnTo>
                  <a:pt x="1042988" y="357188"/>
                </a:lnTo>
                <a:lnTo>
                  <a:pt x="0" y="3571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88" name="Group 18"/>
          <p:cNvGrpSpPr/>
          <p:nvPr/>
        </p:nvGrpSpPr>
        <p:grpSpPr>
          <a:xfrm>
            <a:off x="76200" y="1905000"/>
            <a:ext cx="1028700" cy="342900"/>
            <a:chOff x="0" y="0"/>
            <a:chExt cx="1371600" cy="457200"/>
          </a:xfrm>
        </p:grpSpPr>
        <p:sp>
          <p:nvSpPr>
            <p:cNvPr id="289" name="Freeform 19"/>
            <p:cNvSpPr/>
            <p:nvPr/>
          </p:nvSpPr>
          <p:spPr>
            <a:xfrm>
              <a:off x="0" y="0"/>
              <a:ext cx="1371600" cy="457200"/>
            </a:xfrm>
            <a:custGeom>
              <a:avLst/>
              <a:gdLst/>
              <a:ahLst/>
              <a:cxnLst/>
              <a:rect l="l" t="t" r="r" b="b"/>
              <a:pathLst>
                <a:path w="1371600" h="457200">
                  <a:moveTo>
                    <a:pt x="0" y="0"/>
                  </a:moveTo>
                  <a:lnTo>
                    <a:pt x="1371600" y="0"/>
                  </a:lnTo>
                  <a:lnTo>
                    <a:pt x="1371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90" name="TextBox 20"/>
            <p:cNvSpPr txBox="1"/>
            <p:nvPr/>
          </p:nvSpPr>
          <p:spPr>
            <a:xfrm>
              <a:off x="0" y="0"/>
              <a:ext cx="13716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950">
                  <a:solidFill>
                    <a:srgbClr val="FFFFFF"/>
                  </a:solidFill>
                  <a:latin typeface="Segoe UI"/>
                </a:defRPr>
              </a:pPr>
              <a:r>
                <a:t>PDF Reports</a:t>
              </a:r>
            </a:p>
          </p:txBody>
        </p:sp>
      </p:grpSp>
      <p:sp>
        <p:nvSpPr>
          <p:cNvPr id="291" name="Freeform 21"/>
          <p:cNvSpPr/>
          <p:nvPr/>
        </p:nvSpPr>
        <p:spPr>
          <a:xfrm>
            <a:off x="1231106" y="1897856"/>
            <a:ext cx="1042988" cy="357188"/>
          </a:xfrm>
          <a:custGeom>
            <a:avLst/>
            <a:gdLst/>
            <a:ahLst/>
            <a:cxnLst/>
            <a:rect l="l" t="t" r="r" b="b"/>
            <a:pathLst>
              <a:path w="1042988" h="357188">
                <a:moveTo>
                  <a:pt x="0" y="0"/>
                </a:moveTo>
                <a:lnTo>
                  <a:pt x="1042988" y="0"/>
                </a:lnTo>
                <a:lnTo>
                  <a:pt x="1042988" y="357188"/>
                </a:lnTo>
                <a:lnTo>
                  <a:pt x="0" y="3571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92" name="Group 22"/>
          <p:cNvGrpSpPr/>
          <p:nvPr/>
        </p:nvGrpSpPr>
        <p:grpSpPr>
          <a:xfrm>
            <a:off x="1238250" y="1905000"/>
            <a:ext cx="1028700" cy="342900"/>
            <a:chOff x="0" y="0"/>
            <a:chExt cx="1371600" cy="457200"/>
          </a:xfrm>
        </p:grpSpPr>
        <p:sp>
          <p:nvSpPr>
            <p:cNvPr id="293" name="Freeform 23"/>
            <p:cNvSpPr/>
            <p:nvPr/>
          </p:nvSpPr>
          <p:spPr>
            <a:xfrm>
              <a:off x="0" y="0"/>
              <a:ext cx="1371600" cy="457200"/>
            </a:xfrm>
            <a:custGeom>
              <a:avLst/>
              <a:gdLst/>
              <a:ahLst/>
              <a:cxnLst/>
              <a:rect l="l" t="t" r="r" b="b"/>
              <a:pathLst>
                <a:path w="1371600" h="457200">
                  <a:moveTo>
                    <a:pt x="0" y="0"/>
                  </a:moveTo>
                  <a:lnTo>
                    <a:pt x="1371600" y="0"/>
                  </a:lnTo>
                  <a:lnTo>
                    <a:pt x="1371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94" name="TextBox 24"/>
            <p:cNvSpPr txBox="1"/>
            <p:nvPr/>
          </p:nvSpPr>
          <p:spPr>
            <a:xfrm>
              <a:off x="0" y="0"/>
              <a:ext cx="13716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950">
                  <a:solidFill>
                    <a:srgbClr val="FFFFFF"/>
                  </a:solidFill>
                  <a:latin typeface="Segoe UI"/>
                </a:defRPr>
              </a:pPr>
              <a:r>
                <a:t>CSV/NetCDF</a:t>
              </a:r>
            </a:p>
          </p:txBody>
        </p:sp>
      </p:grpSp>
      <p:sp>
        <p:nvSpPr>
          <p:cNvPr id="295" name="Freeform 25"/>
          <p:cNvSpPr/>
          <p:nvPr/>
        </p:nvSpPr>
        <p:spPr>
          <a:xfrm>
            <a:off x="2393156" y="1897856"/>
            <a:ext cx="1042988" cy="357188"/>
          </a:xfrm>
          <a:custGeom>
            <a:avLst/>
            <a:gdLst/>
            <a:ahLst/>
            <a:cxnLst/>
            <a:rect l="l" t="t" r="r" b="b"/>
            <a:pathLst>
              <a:path w="1042988" h="357188">
                <a:moveTo>
                  <a:pt x="0" y="0"/>
                </a:moveTo>
                <a:lnTo>
                  <a:pt x="1042988" y="0"/>
                </a:lnTo>
                <a:lnTo>
                  <a:pt x="1042988" y="357188"/>
                </a:lnTo>
                <a:lnTo>
                  <a:pt x="0" y="3571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96" name="Group 26"/>
          <p:cNvGrpSpPr/>
          <p:nvPr/>
        </p:nvGrpSpPr>
        <p:grpSpPr>
          <a:xfrm>
            <a:off x="2400300" y="1905000"/>
            <a:ext cx="1028700" cy="342900"/>
            <a:chOff x="0" y="0"/>
            <a:chExt cx="1371600" cy="457200"/>
          </a:xfrm>
        </p:grpSpPr>
        <p:sp>
          <p:nvSpPr>
            <p:cNvPr id="297" name="Freeform 27"/>
            <p:cNvSpPr/>
            <p:nvPr/>
          </p:nvSpPr>
          <p:spPr>
            <a:xfrm>
              <a:off x="0" y="0"/>
              <a:ext cx="1371600" cy="457200"/>
            </a:xfrm>
            <a:custGeom>
              <a:avLst/>
              <a:gdLst/>
              <a:ahLst/>
              <a:cxnLst/>
              <a:rect l="l" t="t" r="r" b="b"/>
              <a:pathLst>
                <a:path w="1371600" h="457200">
                  <a:moveTo>
                    <a:pt x="0" y="0"/>
                  </a:moveTo>
                  <a:lnTo>
                    <a:pt x="1371600" y="0"/>
                  </a:lnTo>
                  <a:lnTo>
                    <a:pt x="1371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98" name="TextBox 28"/>
            <p:cNvSpPr txBox="1"/>
            <p:nvPr/>
          </p:nvSpPr>
          <p:spPr>
            <a:xfrm>
              <a:off x="0" y="0"/>
              <a:ext cx="13716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950">
                  <a:solidFill>
                    <a:srgbClr val="FFFFFF"/>
                  </a:solidFill>
                  <a:latin typeface="Segoe UI"/>
                </a:defRPr>
              </a:pPr>
              <a:r>
                <a:t>Photo/Video</a:t>
              </a:r>
            </a:p>
          </p:txBody>
        </p:sp>
      </p:grpSp>
      <p:sp>
        <p:nvSpPr>
          <p:cNvPr id="299" name="Freeform 29"/>
          <p:cNvSpPr/>
          <p:nvPr/>
        </p:nvSpPr>
        <p:spPr>
          <a:xfrm>
            <a:off x="3555206" y="1897856"/>
            <a:ext cx="1042988" cy="476117"/>
          </a:xfrm>
          <a:custGeom>
            <a:avLst/>
            <a:gdLst/>
            <a:ahLst/>
            <a:cxnLst/>
            <a:rect l="l" t="t" r="r" b="b"/>
            <a:pathLst>
              <a:path w="1042988" h="476117">
                <a:moveTo>
                  <a:pt x="0" y="0"/>
                </a:moveTo>
                <a:lnTo>
                  <a:pt x="1042988" y="0"/>
                </a:lnTo>
                <a:lnTo>
                  <a:pt x="1042988" y="476117"/>
                </a:lnTo>
                <a:lnTo>
                  <a:pt x="0" y="4761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00" name="Group 30"/>
          <p:cNvGrpSpPr/>
          <p:nvPr/>
        </p:nvGrpSpPr>
        <p:grpSpPr>
          <a:xfrm>
            <a:off x="3562350" y="1905000"/>
            <a:ext cx="1028700" cy="461829"/>
            <a:chOff x="0" y="0"/>
            <a:chExt cx="1371600" cy="615772"/>
          </a:xfrm>
        </p:grpSpPr>
        <p:sp>
          <p:nvSpPr>
            <p:cNvPr id="301" name="Freeform 31"/>
            <p:cNvSpPr/>
            <p:nvPr/>
          </p:nvSpPr>
          <p:spPr>
            <a:xfrm>
              <a:off x="0" y="0"/>
              <a:ext cx="1371600" cy="615775"/>
            </a:xfrm>
            <a:custGeom>
              <a:avLst/>
              <a:gdLst/>
              <a:ahLst/>
              <a:cxnLst/>
              <a:rect l="l" t="t" r="r" b="b"/>
              <a:pathLst>
                <a:path w="1371600" h="615775">
                  <a:moveTo>
                    <a:pt x="0" y="0"/>
                  </a:moveTo>
                  <a:lnTo>
                    <a:pt x="1371600" y="0"/>
                  </a:lnTo>
                  <a:lnTo>
                    <a:pt x="1371600" y="615775"/>
                  </a:lnTo>
                  <a:lnTo>
                    <a:pt x="0" y="6157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601" r="-760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02" name="TextBox 32"/>
            <p:cNvSpPr txBox="1"/>
            <p:nvPr/>
          </p:nvSpPr>
          <p:spPr>
            <a:xfrm>
              <a:off x="0" y="0"/>
              <a:ext cx="1371600" cy="615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950">
                  <a:solidFill>
                    <a:srgbClr val="FFFFFF"/>
                  </a:solidFill>
                  <a:latin typeface="Segoe UI"/>
                </a:defRPr>
              </a:pPr>
              <a:r>
                <a:t>Publications</a:t>
              </a:r>
            </a:p>
          </p:txBody>
        </p:sp>
      </p:grpSp>
      <p:sp>
        <p:nvSpPr>
          <p:cNvPr id="303" name="Freeform 33"/>
          <p:cNvSpPr/>
          <p:nvPr/>
        </p:nvSpPr>
        <p:spPr>
          <a:xfrm>
            <a:off x="4717256" y="1897856"/>
            <a:ext cx="1042988" cy="357188"/>
          </a:xfrm>
          <a:custGeom>
            <a:avLst/>
            <a:gdLst/>
            <a:ahLst/>
            <a:cxnLst/>
            <a:rect l="l" t="t" r="r" b="b"/>
            <a:pathLst>
              <a:path w="1042988" h="357188">
                <a:moveTo>
                  <a:pt x="0" y="0"/>
                </a:moveTo>
                <a:lnTo>
                  <a:pt x="1042988" y="0"/>
                </a:lnTo>
                <a:lnTo>
                  <a:pt x="1042988" y="357188"/>
                </a:lnTo>
                <a:lnTo>
                  <a:pt x="0" y="3571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04" name="Group 34"/>
          <p:cNvGrpSpPr/>
          <p:nvPr/>
        </p:nvGrpSpPr>
        <p:grpSpPr>
          <a:xfrm>
            <a:off x="4724400" y="1905000"/>
            <a:ext cx="1028700" cy="342900"/>
            <a:chOff x="0" y="0"/>
            <a:chExt cx="1371600" cy="457200"/>
          </a:xfrm>
        </p:grpSpPr>
        <p:sp>
          <p:nvSpPr>
            <p:cNvPr id="305" name="Freeform 35"/>
            <p:cNvSpPr/>
            <p:nvPr/>
          </p:nvSpPr>
          <p:spPr>
            <a:xfrm>
              <a:off x="0" y="0"/>
              <a:ext cx="1371600" cy="457200"/>
            </a:xfrm>
            <a:custGeom>
              <a:avLst/>
              <a:gdLst/>
              <a:ahLst/>
              <a:cxnLst/>
              <a:rect l="l" t="t" r="r" b="b"/>
              <a:pathLst>
                <a:path w="1371600" h="457200">
                  <a:moveTo>
                    <a:pt x="0" y="0"/>
                  </a:moveTo>
                  <a:lnTo>
                    <a:pt x="1371600" y="0"/>
                  </a:lnTo>
                  <a:lnTo>
                    <a:pt x="1371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06" name="TextBox 36"/>
            <p:cNvSpPr txBox="1"/>
            <p:nvPr/>
          </p:nvSpPr>
          <p:spPr>
            <a:xfrm>
              <a:off x="0" y="0"/>
              <a:ext cx="13716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950">
                  <a:solidFill>
                    <a:srgbClr val="FFFFFF"/>
                  </a:solidFill>
                  <a:latin typeface="Segoe UI"/>
                </a:defRPr>
              </a:pPr>
              <a:r>
                <a:t>Station Logs</a:t>
              </a:r>
            </a:p>
          </p:txBody>
        </p:sp>
      </p:grpSp>
      <p:sp>
        <p:nvSpPr>
          <p:cNvPr id="307" name="Freeform 37"/>
          <p:cNvSpPr/>
          <p:nvPr/>
        </p:nvSpPr>
        <p:spPr>
          <a:xfrm>
            <a:off x="5879306" y="1897856"/>
            <a:ext cx="1042988" cy="357188"/>
          </a:xfrm>
          <a:custGeom>
            <a:avLst/>
            <a:gdLst/>
            <a:ahLst/>
            <a:cxnLst/>
            <a:rect l="l" t="t" r="r" b="b"/>
            <a:pathLst>
              <a:path w="1042988" h="357188">
                <a:moveTo>
                  <a:pt x="0" y="0"/>
                </a:moveTo>
                <a:lnTo>
                  <a:pt x="1042988" y="0"/>
                </a:lnTo>
                <a:lnTo>
                  <a:pt x="1042988" y="357188"/>
                </a:lnTo>
                <a:lnTo>
                  <a:pt x="0" y="3571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08" name="Group 38"/>
          <p:cNvGrpSpPr/>
          <p:nvPr/>
        </p:nvGrpSpPr>
        <p:grpSpPr>
          <a:xfrm>
            <a:off x="5886450" y="1905000"/>
            <a:ext cx="1028700" cy="342900"/>
            <a:chOff x="0" y="0"/>
            <a:chExt cx="1371600" cy="457200"/>
          </a:xfrm>
        </p:grpSpPr>
        <p:sp>
          <p:nvSpPr>
            <p:cNvPr id="309" name="Freeform 39"/>
            <p:cNvSpPr/>
            <p:nvPr/>
          </p:nvSpPr>
          <p:spPr>
            <a:xfrm>
              <a:off x="0" y="0"/>
              <a:ext cx="1371600" cy="457200"/>
            </a:xfrm>
            <a:custGeom>
              <a:avLst/>
              <a:gdLst/>
              <a:ahLst/>
              <a:cxnLst/>
              <a:rect l="l" t="t" r="r" b="b"/>
              <a:pathLst>
                <a:path w="1371600" h="457200">
                  <a:moveTo>
                    <a:pt x="0" y="0"/>
                  </a:moveTo>
                  <a:lnTo>
                    <a:pt x="1371600" y="0"/>
                  </a:lnTo>
                  <a:lnTo>
                    <a:pt x="1371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10" name="TextBox 40"/>
            <p:cNvSpPr txBox="1"/>
            <p:nvPr/>
          </p:nvSpPr>
          <p:spPr>
            <a:xfrm>
              <a:off x="0" y="0"/>
              <a:ext cx="13716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950">
                  <a:solidFill>
                    <a:srgbClr val="FFFFFF"/>
                  </a:solidFill>
                  <a:latin typeface="Segoe UI"/>
                </a:defRPr>
              </a:pPr>
              <a:r>
                <a:t>External MoES</a:t>
              </a:r>
            </a:p>
          </p:txBody>
        </p:sp>
      </p:grpSp>
      <p:sp>
        <p:nvSpPr>
          <p:cNvPr id="311" name="Freeform 41"/>
          <p:cNvSpPr/>
          <p:nvPr/>
        </p:nvSpPr>
        <p:spPr>
          <a:xfrm>
            <a:off x="2421731" y="2448496"/>
            <a:ext cx="2014538" cy="396145"/>
          </a:xfrm>
          <a:custGeom>
            <a:avLst/>
            <a:gdLst/>
            <a:ahLst/>
            <a:cxnLst/>
            <a:rect l="l" t="t" r="r" b="b"/>
            <a:pathLst>
              <a:path w="2014538" h="396145">
                <a:moveTo>
                  <a:pt x="0" y="0"/>
                </a:moveTo>
                <a:lnTo>
                  <a:pt x="2014538" y="0"/>
                </a:lnTo>
                <a:lnTo>
                  <a:pt x="2014538" y="396145"/>
                </a:lnTo>
                <a:lnTo>
                  <a:pt x="0" y="3961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12" name="Group 42"/>
          <p:cNvGrpSpPr/>
          <p:nvPr/>
        </p:nvGrpSpPr>
        <p:grpSpPr>
          <a:xfrm>
            <a:off x="2428875" y="2455640"/>
            <a:ext cx="2000250" cy="381857"/>
            <a:chOff x="0" y="0"/>
            <a:chExt cx="2667000" cy="509143"/>
          </a:xfrm>
        </p:grpSpPr>
        <p:sp>
          <p:nvSpPr>
            <p:cNvPr id="313" name="Freeform 43"/>
            <p:cNvSpPr/>
            <p:nvPr/>
          </p:nvSpPr>
          <p:spPr>
            <a:xfrm>
              <a:off x="0" y="0"/>
              <a:ext cx="2667000" cy="509143"/>
            </a:xfrm>
            <a:custGeom>
              <a:avLst/>
              <a:gdLst/>
              <a:ahLst/>
              <a:cxnLst/>
              <a:rect l="l" t="t" r="r" b="b"/>
              <a:pathLst>
                <a:path w="2667000" h="509143">
                  <a:moveTo>
                    <a:pt x="0" y="0"/>
                  </a:moveTo>
                  <a:lnTo>
                    <a:pt x="2667000" y="0"/>
                  </a:lnTo>
                  <a:lnTo>
                    <a:pt x="2667000" y="509143"/>
                  </a:lnTo>
                  <a:lnTo>
                    <a:pt x="0" y="5091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2066" b="-5206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14" name="TextBox 44"/>
            <p:cNvSpPr txBox="1"/>
            <p:nvPr/>
          </p:nvSpPr>
          <p:spPr>
            <a:xfrm>
              <a:off x="0" y="0"/>
              <a:ext cx="2667000" cy="5091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950">
                  <a:solidFill>
                    <a:srgbClr val="FFFFFF"/>
                  </a:solidFill>
                  <a:latin typeface="Segoe UI"/>
                </a:defRPr>
              </a:pPr>
              <a:r>
                <a:t>Automated Metadata &amp; OCR</a:t>
              </a:r>
            </a:p>
          </p:txBody>
        </p:sp>
      </p:grpSp>
      <p:sp>
        <p:nvSpPr>
          <p:cNvPr id="315" name="Freeform 45"/>
          <p:cNvSpPr/>
          <p:nvPr/>
        </p:nvSpPr>
        <p:spPr>
          <a:xfrm>
            <a:off x="2421731" y="3001185"/>
            <a:ext cx="2014538" cy="476117"/>
          </a:xfrm>
          <a:custGeom>
            <a:avLst/>
            <a:gdLst/>
            <a:ahLst/>
            <a:cxnLst/>
            <a:rect l="l" t="t" r="r" b="b"/>
            <a:pathLst>
              <a:path w="2014538" h="476117">
                <a:moveTo>
                  <a:pt x="0" y="0"/>
                </a:moveTo>
                <a:lnTo>
                  <a:pt x="2014538" y="0"/>
                </a:lnTo>
                <a:lnTo>
                  <a:pt x="2014538" y="476116"/>
                </a:lnTo>
                <a:lnTo>
                  <a:pt x="0" y="4761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16" name="Group 46"/>
          <p:cNvGrpSpPr/>
          <p:nvPr/>
        </p:nvGrpSpPr>
        <p:grpSpPr>
          <a:xfrm>
            <a:off x="2428875" y="3008328"/>
            <a:ext cx="2000250" cy="461831"/>
            <a:chOff x="0" y="0"/>
            <a:chExt cx="2667000" cy="615774"/>
          </a:xfrm>
        </p:grpSpPr>
        <p:sp>
          <p:nvSpPr>
            <p:cNvPr id="317" name="Freeform 47"/>
            <p:cNvSpPr/>
            <p:nvPr/>
          </p:nvSpPr>
          <p:spPr>
            <a:xfrm>
              <a:off x="0" y="0"/>
              <a:ext cx="2667000" cy="615774"/>
            </a:xfrm>
            <a:custGeom>
              <a:avLst/>
              <a:gdLst/>
              <a:ahLst/>
              <a:cxnLst/>
              <a:rect l="l" t="t" r="r" b="b"/>
              <a:pathLst>
                <a:path w="2667000" h="615775">
                  <a:moveTo>
                    <a:pt x="0" y="0"/>
                  </a:moveTo>
                  <a:lnTo>
                    <a:pt x="2667000" y="0"/>
                  </a:lnTo>
                  <a:lnTo>
                    <a:pt x="2667000" y="615775"/>
                  </a:lnTo>
                  <a:lnTo>
                    <a:pt x="0" y="6157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4392" b="-3439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18" name="TextBox 48"/>
            <p:cNvSpPr txBox="1"/>
            <p:nvPr/>
          </p:nvSpPr>
          <p:spPr>
            <a:xfrm>
              <a:off x="0" y="0"/>
              <a:ext cx="2667000" cy="615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950">
                  <a:solidFill>
                    <a:srgbClr val="FFFFFF"/>
                  </a:solidFill>
                  <a:latin typeface="Segoe UI"/>
                </a:defRPr>
              </a:pPr>
              <a:r>
                <a:t>FAIR DataCite &amp; Dublin Core</a:t>
              </a:r>
            </a:p>
          </p:txBody>
        </p:sp>
      </p:grpSp>
      <p:sp>
        <p:nvSpPr>
          <p:cNvPr id="319" name="Freeform 49"/>
          <p:cNvSpPr/>
          <p:nvPr/>
        </p:nvSpPr>
        <p:spPr>
          <a:xfrm>
            <a:off x="40481" y="3805095"/>
            <a:ext cx="2014538" cy="496634"/>
          </a:xfrm>
          <a:custGeom>
            <a:avLst/>
            <a:gdLst/>
            <a:ahLst/>
            <a:cxnLst/>
            <a:rect l="l" t="t" r="r" b="b"/>
            <a:pathLst>
              <a:path w="2014538" h="496634">
                <a:moveTo>
                  <a:pt x="0" y="0"/>
                </a:moveTo>
                <a:lnTo>
                  <a:pt x="2014538" y="0"/>
                </a:lnTo>
                <a:lnTo>
                  <a:pt x="2014538" y="496633"/>
                </a:lnTo>
                <a:lnTo>
                  <a:pt x="0" y="4966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20" name="Group 50"/>
          <p:cNvGrpSpPr/>
          <p:nvPr/>
        </p:nvGrpSpPr>
        <p:grpSpPr>
          <a:xfrm>
            <a:off x="47625" y="3812238"/>
            <a:ext cx="2000250" cy="482346"/>
            <a:chOff x="0" y="0"/>
            <a:chExt cx="2667000" cy="643128"/>
          </a:xfrm>
        </p:grpSpPr>
        <p:sp>
          <p:nvSpPr>
            <p:cNvPr id="321" name="Freeform 51"/>
            <p:cNvSpPr/>
            <p:nvPr/>
          </p:nvSpPr>
          <p:spPr>
            <a:xfrm>
              <a:off x="0" y="0"/>
              <a:ext cx="2667000" cy="643128"/>
            </a:xfrm>
            <a:custGeom>
              <a:avLst/>
              <a:gdLst/>
              <a:ahLst/>
              <a:cxnLst/>
              <a:rect l="l" t="t" r="r" b="b"/>
              <a:pathLst>
                <a:path w="2667000" h="643128">
                  <a:moveTo>
                    <a:pt x="0" y="0"/>
                  </a:moveTo>
                  <a:lnTo>
                    <a:pt x="2667000" y="0"/>
                  </a:lnTo>
                  <a:lnTo>
                    <a:pt x="2667000" y="643128"/>
                  </a:lnTo>
                  <a:lnTo>
                    <a:pt x="0" y="643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802" b="-3080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22" name="TextBox 52"/>
            <p:cNvSpPr txBox="1"/>
            <p:nvPr/>
          </p:nvSpPr>
          <p:spPr>
            <a:xfrm>
              <a:off x="0" y="0"/>
              <a:ext cx="2667000" cy="6431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950">
                  <a:solidFill>
                    <a:srgbClr val="FFFFFF"/>
                  </a:solidFill>
                  <a:latin typeface="Segoe UI"/>
                </a:defRPr>
              </a:pPr>
              <a:r>
                <a:t>Knowledge Repository Lake</a:t>
              </a:r>
            </a:p>
          </p:txBody>
        </p:sp>
      </p:grpSp>
      <p:sp>
        <p:nvSpPr>
          <p:cNvPr id="323" name="Freeform 53"/>
          <p:cNvSpPr/>
          <p:nvPr/>
        </p:nvSpPr>
        <p:spPr>
          <a:xfrm>
            <a:off x="2421731" y="3805095"/>
            <a:ext cx="2014538" cy="496634"/>
          </a:xfrm>
          <a:custGeom>
            <a:avLst/>
            <a:gdLst/>
            <a:ahLst/>
            <a:cxnLst/>
            <a:rect l="l" t="t" r="r" b="b"/>
            <a:pathLst>
              <a:path w="2014538" h="496634">
                <a:moveTo>
                  <a:pt x="0" y="0"/>
                </a:moveTo>
                <a:lnTo>
                  <a:pt x="2014538" y="0"/>
                </a:lnTo>
                <a:lnTo>
                  <a:pt x="2014538" y="496633"/>
                </a:lnTo>
                <a:lnTo>
                  <a:pt x="0" y="4966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24" name="Group 54"/>
          <p:cNvGrpSpPr/>
          <p:nvPr/>
        </p:nvGrpSpPr>
        <p:grpSpPr>
          <a:xfrm>
            <a:off x="2428875" y="3812238"/>
            <a:ext cx="2000250" cy="482346"/>
            <a:chOff x="0" y="0"/>
            <a:chExt cx="2667000" cy="643128"/>
          </a:xfrm>
        </p:grpSpPr>
        <p:sp>
          <p:nvSpPr>
            <p:cNvPr id="325" name="Freeform 55"/>
            <p:cNvSpPr/>
            <p:nvPr/>
          </p:nvSpPr>
          <p:spPr>
            <a:xfrm>
              <a:off x="0" y="0"/>
              <a:ext cx="2667000" cy="643128"/>
            </a:xfrm>
            <a:custGeom>
              <a:avLst/>
              <a:gdLst/>
              <a:ahLst/>
              <a:cxnLst/>
              <a:rect l="l" t="t" r="r" b="b"/>
              <a:pathLst>
                <a:path w="2667000" h="643128">
                  <a:moveTo>
                    <a:pt x="0" y="0"/>
                  </a:moveTo>
                  <a:lnTo>
                    <a:pt x="2667000" y="0"/>
                  </a:lnTo>
                  <a:lnTo>
                    <a:pt x="2667000" y="643128"/>
                  </a:lnTo>
                  <a:lnTo>
                    <a:pt x="0" y="643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802" b="-3080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26" name="TextBox 56"/>
            <p:cNvSpPr txBox="1"/>
            <p:nvPr/>
          </p:nvSpPr>
          <p:spPr>
            <a:xfrm>
              <a:off x="0" y="0"/>
              <a:ext cx="2667000" cy="6431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950">
                  <a:solidFill>
                    <a:srgbClr val="FFFFFF"/>
                  </a:solidFill>
                  <a:latin typeface="Segoe UI"/>
                </a:defRPr>
              </a:pPr>
              <a:r>
                <a:t>Sentence-BERT Embeddings</a:t>
              </a:r>
            </a:p>
          </p:txBody>
        </p:sp>
      </p:grpSp>
      <p:sp>
        <p:nvSpPr>
          <p:cNvPr id="327" name="Freeform 57"/>
          <p:cNvSpPr/>
          <p:nvPr/>
        </p:nvSpPr>
        <p:spPr>
          <a:xfrm>
            <a:off x="4802981" y="3805095"/>
            <a:ext cx="2014538" cy="496634"/>
          </a:xfrm>
          <a:custGeom>
            <a:avLst/>
            <a:gdLst/>
            <a:ahLst/>
            <a:cxnLst/>
            <a:rect l="l" t="t" r="r" b="b"/>
            <a:pathLst>
              <a:path w="2014538" h="496634">
                <a:moveTo>
                  <a:pt x="0" y="0"/>
                </a:moveTo>
                <a:lnTo>
                  <a:pt x="2014538" y="0"/>
                </a:lnTo>
                <a:lnTo>
                  <a:pt x="2014538" y="496633"/>
                </a:lnTo>
                <a:lnTo>
                  <a:pt x="0" y="4966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28" name="Group 58"/>
          <p:cNvGrpSpPr/>
          <p:nvPr/>
        </p:nvGrpSpPr>
        <p:grpSpPr>
          <a:xfrm>
            <a:off x="4810125" y="3812238"/>
            <a:ext cx="2000250" cy="482346"/>
            <a:chOff x="0" y="0"/>
            <a:chExt cx="2667000" cy="643128"/>
          </a:xfrm>
        </p:grpSpPr>
        <p:sp>
          <p:nvSpPr>
            <p:cNvPr id="329" name="Freeform 59"/>
            <p:cNvSpPr/>
            <p:nvPr/>
          </p:nvSpPr>
          <p:spPr>
            <a:xfrm>
              <a:off x="0" y="0"/>
              <a:ext cx="2667000" cy="643128"/>
            </a:xfrm>
            <a:custGeom>
              <a:avLst/>
              <a:gdLst/>
              <a:ahLst/>
              <a:cxnLst/>
              <a:rect l="l" t="t" r="r" b="b"/>
              <a:pathLst>
                <a:path w="2667000" h="643128">
                  <a:moveTo>
                    <a:pt x="0" y="0"/>
                  </a:moveTo>
                  <a:lnTo>
                    <a:pt x="2667000" y="0"/>
                  </a:lnTo>
                  <a:lnTo>
                    <a:pt x="2667000" y="643128"/>
                  </a:lnTo>
                  <a:lnTo>
                    <a:pt x="0" y="643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802" b="-3080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30" name="TextBox 60"/>
            <p:cNvSpPr txBox="1"/>
            <p:nvPr/>
          </p:nvSpPr>
          <p:spPr>
            <a:xfrm>
              <a:off x="0" y="0"/>
              <a:ext cx="2667000" cy="6431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950">
                  <a:solidFill>
                    <a:srgbClr val="FFFFFF"/>
                  </a:solidFill>
                  <a:latin typeface="Segoe UI"/>
                </a:defRPr>
              </a:pPr>
              <a:r>
                <a:t>Knowledge Repository Lake</a:t>
              </a:r>
            </a:p>
          </p:txBody>
        </p:sp>
      </p:grpSp>
      <p:sp>
        <p:nvSpPr>
          <p:cNvPr id="331" name="Freeform 61"/>
          <p:cNvSpPr/>
          <p:nvPr/>
        </p:nvSpPr>
        <p:spPr>
          <a:xfrm>
            <a:off x="2421731" y="4659249"/>
            <a:ext cx="2014538" cy="456438"/>
          </a:xfrm>
          <a:custGeom>
            <a:avLst/>
            <a:gdLst/>
            <a:ahLst/>
            <a:cxnLst/>
            <a:rect l="l" t="t" r="r" b="b"/>
            <a:pathLst>
              <a:path w="2014538" h="456438">
                <a:moveTo>
                  <a:pt x="0" y="0"/>
                </a:moveTo>
                <a:lnTo>
                  <a:pt x="2014538" y="0"/>
                </a:lnTo>
                <a:lnTo>
                  <a:pt x="2014538" y="456438"/>
                </a:lnTo>
                <a:lnTo>
                  <a:pt x="0" y="4564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32" name="Group 62"/>
          <p:cNvGrpSpPr/>
          <p:nvPr/>
        </p:nvGrpSpPr>
        <p:grpSpPr>
          <a:xfrm>
            <a:off x="2428875" y="4666393"/>
            <a:ext cx="2000250" cy="442150"/>
            <a:chOff x="0" y="0"/>
            <a:chExt cx="2667000" cy="589534"/>
          </a:xfrm>
        </p:grpSpPr>
        <p:sp>
          <p:nvSpPr>
            <p:cNvPr id="333" name="Freeform 63"/>
            <p:cNvSpPr/>
            <p:nvPr/>
          </p:nvSpPr>
          <p:spPr>
            <a:xfrm>
              <a:off x="0" y="0"/>
              <a:ext cx="2667000" cy="589535"/>
            </a:xfrm>
            <a:custGeom>
              <a:avLst/>
              <a:gdLst/>
              <a:ahLst/>
              <a:cxnLst/>
              <a:rect l="l" t="t" r="r" b="b"/>
              <a:pathLst>
                <a:path w="2667000" h="589535">
                  <a:moveTo>
                    <a:pt x="0" y="0"/>
                  </a:moveTo>
                  <a:lnTo>
                    <a:pt x="2667000" y="0"/>
                  </a:lnTo>
                  <a:lnTo>
                    <a:pt x="2667000" y="589535"/>
                  </a:lnTo>
                  <a:lnTo>
                    <a:pt x="0" y="5895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148" b="-3814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34" name="TextBox 64"/>
            <p:cNvSpPr txBox="1"/>
            <p:nvPr/>
          </p:nvSpPr>
          <p:spPr>
            <a:xfrm>
              <a:off x="0" y="0"/>
              <a:ext cx="2667000" cy="5895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950">
                  <a:solidFill>
                    <a:srgbClr val="FFFFFF"/>
                  </a:solidFill>
                  <a:latin typeface="Segoe UI"/>
                </a:defRPr>
              </a:pPr>
              <a:r>
                <a:t>PostgreSQL + pgvector Engine</a:t>
              </a:r>
            </a:p>
          </p:txBody>
        </p:sp>
      </p:grpSp>
      <p:sp>
        <p:nvSpPr>
          <p:cNvPr id="335" name="Freeform 65"/>
          <p:cNvSpPr/>
          <p:nvPr/>
        </p:nvSpPr>
        <p:spPr>
          <a:xfrm>
            <a:off x="1993106" y="5250656"/>
            <a:ext cx="2871788" cy="471488"/>
          </a:xfrm>
          <a:custGeom>
            <a:avLst/>
            <a:gdLst/>
            <a:ahLst/>
            <a:cxnLst/>
            <a:rect l="l" t="t" r="r" b="b"/>
            <a:pathLst>
              <a:path w="2871788" h="471488">
                <a:moveTo>
                  <a:pt x="0" y="0"/>
                </a:moveTo>
                <a:lnTo>
                  <a:pt x="2871788" y="0"/>
                </a:lnTo>
                <a:lnTo>
                  <a:pt x="2871788" y="471488"/>
                </a:lnTo>
                <a:lnTo>
                  <a:pt x="0" y="4714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36" name="Group 66"/>
          <p:cNvGrpSpPr/>
          <p:nvPr/>
        </p:nvGrpSpPr>
        <p:grpSpPr>
          <a:xfrm>
            <a:off x="2000250" y="5257800"/>
            <a:ext cx="2857500" cy="457200"/>
            <a:chOff x="0" y="0"/>
            <a:chExt cx="3810000" cy="609600"/>
          </a:xfrm>
        </p:grpSpPr>
        <p:sp>
          <p:nvSpPr>
            <p:cNvPr id="337" name="Freeform 67"/>
            <p:cNvSpPr/>
            <p:nvPr/>
          </p:nvSpPr>
          <p:spPr>
            <a:xfrm>
              <a:off x="0" y="0"/>
              <a:ext cx="3810000" cy="609600"/>
            </a:xfrm>
            <a:custGeom>
              <a:avLst/>
              <a:gdLst/>
              <a:ahLst/>
              <a:cxnLst/>
              <a:rect l="l" t="t" r="r" b="b"/>
              <a:pathLst>
                <a:path w="3810000" h="609600">
                  <a:moveTo>
                    <a:pt x="0" y="0"/>
                  </a:moveTo>
                  <a:lnTo>
                    <a:pt x="3810000" y="0"/>
                  </a:lnTo>
                  <a:lnTo>
                    <a:pt x="3810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781" b="-7178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38" name="TextBox 68"/>
            <p:cNvSpPr txBox="1"/>
            <p:nvPr/>
          </p:nvSpPr>
          <p:spPr>
            <a:xfrm>
              <a:off x="0" y="0"/>
              <a:ext cx="3810000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950">
                  <a:solidFill>
                    <a:srgbClr val="FFFFFF"/>
                  </a:solidFill>
                  <a:latin typeface="Segoe UI"/>
                </a:defRPr>
              </a:pPr>
              <a:r>
                <a:t>Hybrid Vector &amp; Keyword Search</a:t>
              </a:r>
            </a:p>
          </p:txBody>
        </p:sp>
      </p:grpSp>
      <p:sp>
        <p:nvSpPr>
          <p:cNvPr id="339" name="Freeform 69"/>
          <p:cNvSpPr/>
          <p:nvPr/>
        </p:nvSpPr>
        <p:spPr>
          <a:xfrm>
            <a:off x="1993106" y="5860256"/>
            <a:ext cx="2871788" cy="547688"/>
          </a:xfrm>
          <a:custGeom>
            <a:avLst/>
            <a:gdLst/>
            <a:ahLst/>
            <a:cxnLst/>
            <a:rect l="l" t="t" r="r" b="b"/>
            <a:pathLst>
              <a:path w="2871788" h="547688">
                <a:moveTo>
                  <a:pt x="0" y="0"/>
                </a:moveTo>
                <a:lnTo>
                  <a:pt x="2871788" y="0"/>
                </a:lnTo>
                <a:lnTo>
                  <a:pt x="2871788" y="547688"/>
                </a:lnTo>
                <a:lnTo>
                  <a:pt x="0" y="547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40" name="Group 70"/>
          <p:cNvGrpSpPr/>
          <p:nvPr/>
        </p:nvGrpSpPr>
        <p:grpSpPr>
          <a:xfrm>
            <a:off x="2000250" y="5867400"/>
            <a:ext cx="2857500" cy="533400"/>
            <a:chOff x="0" y="0"/>
            <a:chExt cx="3810000" cy="711200"/>
          </a:xfrm>
        </p:grpSpPr>
        <p:sp>
          <p:nvSpPr>
            <p:cNvPr id="341" name="Freeform 71"/>
            <p:cNvSpPr/>
            <p:nvPr/>
          </p:nvSpPr>
          <p:spPr>
            <a:xfrm>
              <a:off x="0" y="0"/>
              <a:ext cx="3810000" cy="711200"/>
            </a:xfrm>
            <a:custGeom>
              <a:avLst/>
              <a:gdLst/>
              <a:ahLst/>
              <a:cxnLst/>
              <a:rect l="l" t="t" r="r" b="b"/>
              <a:pathLst>
                <a:path w="3810000" h="711200">
                  <a:moveTo>
                    <a:pt x="0" y="0"/>
                  </a:moveTo>
                  <a:lnTo>
                    <a:pt x="3810000" y="0"/>
                  </a:lnTo>
                  <a:lnTo>
                    <a:pt x="3810000" y="711200"/>
                  </a:lnTo>
                  <a:lnTo>
                    <a:pt x="0" y="711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4384" b="-5438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42" name="TextBox 72"/>
            <p:cNvSpPr txBox="1"/>
            <p:nvPr/>
          </p:nvSpPr>
          <p:spPr>
            <a:xfrm>
              <a:off x="0" y="0"/>
              <a:ext cx="3810000" cy="711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6"/>
                </a:lnSpc>
              </a:pPr>
              <a:r>
                <a:rPr lang="en-US" sz="1050" b="1">
                  <a:solidFill>
                    <a:srgbClr val="1F2933"/>
                  </a:solidFill>
                  <a:ea typeface="Times New Roman Bold"/>
                  <a:cs typeface="Times New Roman Bold"/>
                  <a:sym typeface="Times New Roman Bold"/>
                </a:rPr>
                <a:t>Community &amp; Anomaly Detection +</a:t>
              </a:r>
            </a:p>
            <a:p>
              <a:pPr algn="ctr">
                <a:lnSpc>
                  <a:spcPts val="1176"/>
                </a:lnSpc>
              </a:pPr>
              <a:r>
                <a:rPr lang="en-US" sz="1050" b="1">
                  <a:solidFill>
                    <a:srgbClr val="1F2933"/>
                  </a:solidFill>
                  <a:ea typeface="Times New Roman Bold"/>
                  <a:cs typeface="Times New Roman Bold"/>
                  <a:sym typeface="Times New Roman Bold"/>
                </a:rPr>
                <a:t>Multi-Hop Discovery</a:t>
              </a:r>
            </a:p>
          </p:txBody>
        </p:sp>
      </p:grpSp>
      <p:sp>
        <p:nvSpPr>
          <p:cNvPr id="343" name="Freeform 73"/>
          <p:cNvSpPr/>
          <p:nvPr/>
        </p:nvSpPr>
        <p:spPr>
          <a:xfrm>
            <a:off x="1993106" y="6546056"/>
            <a:ext cx="2871788" cy="471488"/>
          </a:xfrm>
          <a:custGeom>
            <a:avLst/>
            <a:gdLst/>
            <a:ahLst/>
            <a:cxnLst/>
            <a:rect l="l" t="t" r="r" b="b"/>
            <a:pathLst>
              <a:path w="2871788" h="471488">
                <a:moveTo>
                  <a:pt x="0" y="0"/>
                </a:moveTo>
                <a:lnTo>
                  <a:pt x="2871788" y="0"/>
                </a:lnTo>
                <a:lnTo>
                  <a:pt x="2871788" y="471488"/>
                </a:lnTo>
                <a:lnTo>
                  <a:pt x="0" y="4714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44" name="Group 74"/>
          <p:cNvGrpSpPr/>
          <p:nvPr/>
        </p:nvGrpSpPr>
        <p:grpSpPr>
          <a:xfrm>
            <a:off x="2000250" y="6553200"/>
            <a:ext cx="2857500" cy="457200"/>
            <a:chOff x="0" y="0"/>
            <a:chExt cx="3810000" cy="609600"/>
          </a:xfrm>
        </p:grpSpPr>
        <p:sp>
          <p:nvSpPr>
            <p:cNvPr id="345" name="Freeform 75"/>
            <p:cNvSpPr/>
            <p:nvPr/>
          </p:nvSpPr>
          <p:spPr>
            <a:xfrm>
              <a:off x="0" y="0"/>
              <a:ext cx="3810000" cy="609600"/>
            </a:xfrm>
            <a:custGeom>
              <a:avLst/>
              <a:gdLst/>
              <a:ahLst/>
              <a:cxnLst/>
              <a:rect l="l" t="t" r="r" b="b"/>
              <a:pathLst>
                <a:path w="3810000" h="609600">
                  <a:moveTo>
                    <a:pt x="0" y="0"/>
                  </a:moveTo>
                  <a:lnTo>
                    <a:pt x="3810000" y="0"/>
                  </a:lnTo>
                  <a:lnTo>
                    <a:pt x="3810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781" b="-7178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46" name="TextBox 76"/>
            <p:cNvSpPr txBox="1"/>
            <p:nvPr/>
          </p:nvSpPr>
          <p:spPr>
            <a:xfrm>
              <a:off x="0" y="0"/>
              <a:ext cx="3810000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950">
                  <a:solidFill>
                    <a:srgbClr val="FFFFFF"/>
                  </a:solidFill>
                  <a:latin typeface="Segoe UI"/>
                </a:defRPr>
              </a:pPr>
              <a:r>
                <a:t>Evidence Retrieval &amp; Reranking</a:t>
              </a:r>
            </a:p>
          </p:txBody>
        </p:sp>
      </p:grpSp>
      <p:sp>
        <p:nvSpPr>
          <p:cNvPr id="347" name="Freeform 77"/>
          <p:cNvSpPr/>
          <p:nvPr/>
        </p:nvSpPr>
        <p:spPr>
          <a:xfrm>
            <a:off x="1993106" y="7155656"/>
            <a:ext cx="2871788" cy="481012"/>
          </a:xfrm>
          <a:custGeom>
            <a:avLst/>
            <a:gdLst/>
            <a:ahLst/>
            <a:cxnLst/>
            <a:rect l="l" t="t" r="r" b="b"/>
            <a:pathLst>
              <a:path w="2871788" h="481012">
                <a:moveTo>
                  <a:pt x="0" y="0"/>
                </a:moveTo>
                <a:lnTo>
                  <a:pt x="2871788" y="0"/>
                </a:lnTo>
                <a:lnTo>
                  <a:pt x="2871788" y="481013"/>
                </a:lnTo>
                <a:lnTo>
                  <a:pt x="0" y="4810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48" name="Group 78"/>
          <p:cNvGrpSpPr/>
          <p:nvPr/>
        </p:nvGrpSpPr>
        <p:grpSpPr>
          <a:xfrm>
            <a:off x="2000250" y="7162800"/>
            <a:ext cx="2857500" cy="466725"/>
            <a:chOff x="0" y="0"/>
            <a:chExt cx="3810000" cy="622300"/>
          </a:xfrm>
        </p:grpSpPr>
        <p:sp>
          <p:nvSpPr>
            <p:cNvPr id="349" name="Freeform 79"/>
            <p:cNvSpPr/>
            <p:nvPr/>
          </p:nvSpPr>
          <p:spPr>
            <a:xfrm>
              <a:off x="0" y="0"/>
              <a:ext cx="3810000" cy="622300"/>
            </a:xfrm>
            <a:custGeom>
              <a:avLst/>
              <a:gdLst/>
              <a:ahLst/>
              <a:cxnLst/>
              <a:rect l="l" t="t" r="r" b="b"/>
              <a:pathLst>
                <a:path w="3810000" h="622300">
                  <a:moveTo>
                    <a:pt x="0" y="0"/>
                  </a:moveTo>
                  <a:lnTo>
                    <a:pt x="3810000" y="0"/>
                  </a:lnTo>
                  <a:lnTo>
                    <a:pt x="3810000" y="622300"/>
                  </a:lnTo>
                  <a:lnTo>
                    <a:pt x="0" y="622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9296" b="-6929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50" name="TextBox 80"/>
            <p:cNvSpPr txBox="1"/>
            <p:nvPr/>
          </p:nvSpPr>
          <p:spPr>
            <a:xfrm>
              <a:off x="0" y="0"/>
              <a:ext cx="3810000" cy="622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6"/>
                </a:lnSpc>
              </a:pPr>
              <a:r>
                <a:rPr lang="en-US" sz="1050" b="1">
                  <a:solidFill>
                    <a:srgbClr val="1F2933"/>
                  </a:solidFill>
                  <a:ea typeface="Times New Roman Bold"/>
                  <a:cs typeface="Times New Roman Bold"/>
                  <a:sym typeface="Times New Roman Bold"/>
                </a:rPr>
                <a:t>Investigator Findings</a:t>
              </a:r>
            </a:p>
            <a:p>
              <a:pPr algn="ctr">
                <a:lnSpc>
                  <a:spcPts val="1176"/>
                </a:lnSpc>
              </a:pPr>
              <a:r>
                <a:rPr lang="en-US" sz="1050" b="1">
                  <a:solidFill>
                    <a:srgbClr val="1F2933"/>
                  </a:solidFill>
                  <a:ea typeface="Times New Roman Bold"/>
                  <a:cs typeface="Times New Roman Bold"/>
                  <a:sym typeface="Times New Roman Bold"/>
                </a:rPr>
                <a:t>(Leads, Evidence)</a:t>
              </a:r>
            </a:p>
          </p:txBody>
        </p:sp>
      </p:grpSp>
      <p:sp>
        <p:nvSpPr>
          <p:cNvPr id="351" name="Freeform 81"/>
          <p:cNvSpPr/>
          <p:nvPr/>
        </p:nvSpPr>
        <p:spPr>
          <a:xfrm>
            <a:off x="1993106" y="7774781"/>
            <a:ext cx="2871788" cy="414338"/>
          </a:xfrm>
          <a:custGeom>
            <a:avLst/>
            <a:gdLst/>
            <a:ahLst/>
            <a:cxnLst/>
            <a:rect l="l" t="t" r="r" b="b"/>
            <a:pathLst>
              <a:path w="2871788" h="414338">
                <a:moveTo>
                  <a:pt x="0" y="0"/>
                </a:moveTo>
                <a:lnTo>
                  <a:pt x="2871788" y="0"/>
                </a:lnTo>
                <a:lnTo>
                  <a:pt x="2871788" y="414338"/>
                </a:lnTo>
                <a:lnTo>
                  <a:pt x="0" y="4143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2" name="Group 82"/>
          <p:cNvGrpSpPr/>
          <p:nvPr/>
        </p:nvGrpSpPr>
        <p:grpSpPr>
          <a:xfrm>
            <a:off x="2000250" y="7781925"/>
            <a:ext cx="2857500" cy="400050"/>
            <a:chOff x="0" y="0"/>
            <a:chExt cx="3810000" cy="533400"/>
          </a:xfrm>
        </p:grpSpPr>
        <p:sp>
          <p:nvSpPr>
            <p:cNvPr id="353" name="Freeform 83"/>
            <p:cNvSpPr/>
            <p:nvPr/>
          </p:nvSpPr>
          <p:spPr>
            <a:xfrm>
              <a:off x="0" y="0"/>
              <a:ext cx="3810000" cy="533400"/>
            </a:xfrm>
            <a:custGeom>
              <a:avLst/>
              <a:gdLst/>
              <a:ahLst/>
              <a:cxnLst/>
              <a:rect l="l" t="t" r="r" b="b"/>
              <a:pathLst>
                <a:path w="3810000" h="533400">
                  <a:moveTo>
                    <a:pt x="0" y="0"/>
                  </a:moveTo>
                  <a:lnTo>
                    <a:pt x="3810000" y="0"/>
                  </a:lnTo>
                  <a:lnTo>
                    <a:pt x="38100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9178" b="-8917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54" name="TextBox 84"/>
            <p:cNvSpPr txBox="1"/>
            <p:nvPr/>
          </p:nvSpPr>
          <p:spPr>
            <a:xfrm>
              <a:off x="0" y="0"/>
              <a:ext cx="3810000" cy="533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950">
                  <a:solidFill>
                    <a:srgbClr val="FFFFFF"/>
                  </a:solidFill>
                  <a:latin typeface="Segoe UI"/>
                </a:defRPr>
              </a:pPr>
              <a:r>
                <a:t>Outreach Studio (Multi-Channel AI)</a:t>
              </a:r>
            </a:p>
          </p:txBody>
        </p:sp>
      </p:grpSp>
      <p:sp>
        <p:nvSpPr>
          <p:cNvPr id="355" name="Freeform 85"/>
          <p:cNvSpPr/>
          <p:nvPr/>
        </p:nvSpPr>
        <p:spPr>
          <a:xfrm>
            <a:off x="1993106" y="8327231"/>
            <a:ext cx="2871788" cy="414338"/>
          </a:xfrm>
          <a:custGeom>
            <a:avLst/>
            <a:gdLst/>
            <a:ahLst/>
            <a:cxnLst/>
            <a:rect l="l" t="t" r="r" b="b"/>
            <a:pathLst>
              <a:path w="2871788" h="414338">
                <a:moveTo>
                  <a:pt x="0" y="0"/>
                </a:moveTo>
                <a:lnTo>
                  <a:pt x="2871788" y="0"/>
                </a:lnTo>
                <a:lnTo>
                  <a:pt x="2871788" y="414338"/>
                </a:lnTo>
                <a:lnTo>
                  <a:pt x="0" y="4143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6" name="Group 86"/>
          <p:cNvGrpSpPr/>
          <p:nvPr/>
        </p:nvGrpSpPr>
        <p:grpSpPr>
          <a:xfrm>
            <a:off x="2000250" y="8334375"/>
            <a:ext cx="2857500" cy="400050"/>
            <a:chOff x="0" y="0"/>
            <a:chExt cx="3810000" cy="533400"/>
          </a:xfrm>
        </p:grpSpPr>
        <p:sp>
          <p:nvSpPr>
            <p:cNvPr id="357" name="Freeform 87"/>
            <p:cNvSpPr/>
            <p:nvPr/>
          </p:nvSpPr>
          <p:spPr>
            <a:xfrm>
              <a:off x="0" y="0"/>
              <a:ext cx="3810000" cy="533400"/>
            </a:xfrm>
            <a:custGeom>
              <a:avLst/>
              <a:gdLst/>
              <a:ahLst/>
              <a:cxnLst/>
              <a:rect l="l" t="t" r="r" b="b"/>
              <a:pathLst>
                <a:path w="3810000" h="533400">
                  <a:moveTo>
                    <a:pt x="0" y="0"/>
                  </a:moveTo>
                  <a:lnTo>
                    <a:pt x="3810000" y="0"/>
                  </a:lnTo>
                  <a:lnTo>
                    <a:pt x="38100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9178" b="-8917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58" name="TextBox 88"/>
            <p:cNvSpPr txBox="1"/>
            <p:nvPr/>
          </p:nvSpPr>
          <p:spPr>
            <a:xfrm>
              <a:off x="0" y="0"/>
              <a:ext cx="3810000" cy="533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950">
                  <a:solidFill>
                    <a:srgbClr val="FFFFFF"/>
                  </a:solidFill>
                  <a:latin typeface="Segoe UI"/>
                </a:defRPr>
              </a:pPr>
              <a:r>
                <a:t>Human-in-the-Loop Editorial Review</a:t>
              </a:r>
            </a:p>
          </p:txBody>
        </p:sp>
      </p:grpSp>
      <p:sp>
        <p:nvSpPr>
          <p:cNvPr id="359" name="Freeform 89"/>
          <p:cNvSpPr/>
          <p:nvPr/>
        </p:nvSpPr>
        <p:spPr>
          <a:xfrm>
            <a:off x="1993106" y="8879681"/>
            <a:ext cx="2871788" cy="700088"/>
          </a:xfrm>
          <a:custGeom>
            <a:avLst/>
            <a:gdLst/>
            <a:ahLst/>
            <a:cxnLst/>
            <a:rect l="l" t="t" r="r" b="b"/>
            <a:pathLst>
              <a:path w="2871788" h="700088">
                <a:moveTo>
                  <a:pt x="0" y="0"/>
                </a:moveTo>
                <a:lnTo>
                  <a:pt x="2871788" y="0"/>
                </a:lnTo>
                <a:lnTo>
                  <a:pt x="2871788" y="700088"/>
                </a:lnTo>
                <a:lnTo>
                  <a:pt x="0" y="7000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60" name="Group 90"/>
          <p:cNvGrpSpPr/>
          <p:nvPr/>
        </p:nvGrpSpPr>
        <p:grpSpPr>
          <a:xfrm>
            <a:off x="2000250" y="8886825"/>
            <a:ext cx="2857500" cy="685800"/>
            <a:chOff x="0" y="0"/>
            <a:chExt cx="3810000" cy="914400"/>
          </a:xfrm>
        </p:grpSpPr>
        <p:sp>
          <p:nvSpPr>
            <p:cNvPr id="361" name="Freeform 91"/>
            <p:cNvSpPr/>
            <p:nvPr/>
          </p:nvSpPr>
          <p:spPr>
            <a:xfrm>
              <a:off x="0" y="0"/>
              <a:ext cx="3810000" cy="914400"/>
            </a:xfrm>
            <a:custGeom>
              <a:avLst/>
              <a:gdLst/>
              <a:ahLst/>
              <a:cxnLst/>
              <a:rect l="l" t="t" r="r" b="b"/>
              <a:pathLst>
                <a:path w="3810000" h="914400">
                  <a:moveTo>
                    <a:pt x="0" y="0"/>
                  </a:moveTo>
                  <a:lnTo>
                    <a:pt x="3810000" y="0"/>
                  </a:lnTo>
                  <a:lnTo>
                    <a:pt x="3810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1187" b="-3118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62" name="TextBox 92"/>
            <p:cNvSpPr txBox="1"/>
            <p:nvPr/>
          </p:nvSpPr>
          <p:spPr>
            <a:xfrm>
              <a:off x="0" y="0"/>
              <a:ext cx="38100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6"/>
                </a:lnSpc>
              </a:pPr>
              <a:r>
                <a:rPr lang="en-US" sz="1050" b="1">
                  <a:solidFill>
                    <a:srgbClr val="1F2933"/>
                  </a:solidFill>
                  <a:ea typeface="Times New Roman Bold"/>
                  <a:cs typeface="Times New Roman Bold"/>
                  <a:sym typeface="Times New Roman Bold"/>
                </a:rPr>
                <a:t>Evidence Integrity Check</a:t>
              </a:r>
            </a:p>
            <a:p>
              <a:pPr algn="ctr">
                <a:lnSpc>
                  <a:spcPts val="1176"/>
                </a:lnSpc>
              </a:pPr>
              <a:r>
                <a:rPr lang="en-US" sz="1050" b="1">
                  <a:solidFill>
                    <a:srgbClr val="1F2933"/>
                  </a:solidFill>
                  <a:ea typeface="Times New Roman Bold"/>
                  <a:cs typeface="Times New Roman Bold"/>
                  <a:sym typeface="Times New Roman Bold"/>
                </a:rPr>
                <a:t>— Tampered?</a:t>
              </a:r>
            </a:p>
          </p:txBody>
        </p:sp>
      </p:grpSp>
      <p:sp>
        <p:nvSpPr>
          <p:cNvPr id="363" name="Freeform 93"/>
          <p:cNvSpPr/>
          <p:nvPr/>
        </p:nvSpPr>
        <p:spPr>
          <a:xfrm>
            <a:off x="754856" y="9803606"/>
            <a:ext cx="1633538" cy="436340"/>
          </a:xfrm>
          <a:custGeom>
            <a:avLst/>
            <a:gdLst/>
            <a:ahLst/>
            <a:cxnLst/>
            <a:rect l="l" t="t" r="r" b="b"/>
            <a:pathLst>
              <a:path w="1633538" h="436340">
                <a:moveTo>
                  <a:pt x="0" y="0"/>
                </a:moveTo>
                <a:lnTo>
                  <a:pt x="1633538" y="0"/>
                </a:lnTo>
                <a:lnTo>
                  <a:pt x="1633538" y="436340"/>
                </a:lnTo>
                <a:lnTo>
                  <a:pt x="0" y="436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64" name="Group 94"/>
          <p:cNvGrpSpPr/>
          <p:nvPr/>
        </p:nvGrpSpPr>
        <p:grpSpPr>
          <a:xfrm>
            <a:off x="762000" y="9810750"/>
            <a:ext cx="1619250" cy="422053"/>
            <a:chOff x="0" y="0"/>
            <a:chExt cx="2159000" cy="562737"/>
          </a:xfrm>
        </p:grpSpPr>
        <p:sp>
          <p:nvSpPr>
            <p:cNvPr id="365" name="Freeform 95"/>
            <p:cNvSpPr/>
            <p:nvPr/>
          </p:nvSpPr>
          <p:spPr>
            <a:xfrm>
              <a:off x="0" y="0"/>
              <a:ext cx="2159000" cy="562737"/>
            </a:xfrm>
            <a:custGeom>
              <a:avLst/>
              <a:gdLst/>
              <a:ahLst/>
              <a:cxnLst/>
              <a:rect l="l" t="t" r="r" b="b"/>
              <a:pathLst>
                <a:path w="2159000" h="562737">
                  <a:moveTo>
                    <a:pt x="0" y="0"/>
                  </a:moveTo>
                  <a:lnTo>
                    <a:pt x="2159000" y="0"/>
                  </a:lnTo>
                  <a:lnTo>
                    <a:pt x="2159000" y="562737"/>
                  </a:lnTo>
                  <a:lnTo>
                    <a:pt x="0" y="56273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756" b="-247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66" name="TextBox 96"/>
            <p:cNvSpPr txBox="1"/>
            <p:nvPr/>
          </p:nvSpPr>
          <p:spPr>
            <a:xfrm>
              <a:off x="0" y="0"/>
              <a:ext cx="2159000" cy="562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950">
                  <a:solidFill>
                    <a:srgbClr val="FFFFFF"/>
                  </a:solidFill>
                  <a:latin typeface="Segoe UI"/>
                </a:defRPr>
              </a:pPr>
              <a:r>
                <a:t>Revision Needed</a:t>
              </a:r>
            </a:p>
          </p:txBody>
        </p:sp>
      </p:grpSp>
      <p:sp>
        <p:nvSpPr>
          <p:cNvPr id="367" name="Freeform 97"/>
          <p:cNvSpPr/>
          <p:nvPr/>
        </p:nvSpPr>
        <p:spPr>
          <a:xfrm>
            <a:off x="4469606" y="9803606"/>
            <a:ext cx="1681162" cy="436340"/>
          </a:xfrm>
          <a:custGeom>
            <a:avLst/>
            <a:gdLst/>
            <a:ahLst/>
            <a:cxnLst/>
            <a:rect l="l" t="t" r="r" b="b"/>
            <a:pathLst>
              <a:path w="1681162" h="436340">
                <a:moveTo>
                  <a:pt x="0" y="0"/>
                </a:moveTo>
                <a:lnTo>
                  <a:pt x="1681163" y="0"/>
                </a:lnTo>
                <a:lnTo>
                  <a:pt x="1681163" y="436340"/>
                </a:lnTo>
                <a:lnTo>
                  <a:pt x="0" y="436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68" name="Group 98"/>
          <p:cNvGrpSpPr/>
          <p:nvPr/>
        </p:nvGrpSpPr>
        <p:grpSpPr>
          <a:xfrm>
            <a:off x="4476750" y="9810750"/>
            <a:ext cx="1666875" cy="422053"/>
            <a:chOff x="0" y="0"/>
            <a:chExt cx="2222500" cy="562737"/>
          </a:xfrm>
        </p:grpSpPr>
        <p:sp>
          <p:nvSpPr>
            <p:cNvPr id="369" name="Freeform 99"/>
            <p:cNvSpPr/>
            <p:nvPr/>
          </p:nvSpPr>
          <p:spPr>
            <a:xfrm>
              <a:off x="0" y="0"/>
              <a:ext cx="2222500" cy="562737"/>
            </a:xfrm>
            <a:custGeom>
              <a:avLst/>
              <a:gdLst/>
              <a:ahLst/>
              <a:cxnLst/>
              <a:rect l="l" t="t" r="r" b="b"/>
              <a:pathLst>
                <a:path w="2222500" h="562737">
                  <a:moveTo>
                    <a:pt x="0" y="0"/>
                  </a:moveTo>
                  <a:lnTo>
                    <a:pt x="2222500" y="0"/>
                  </a:lnTo>
                  <a:lnTo>
                    <a:pt x="2222500" y="562737"/>
                  </a:lnTo>
                  <a:lnTo>
                    <a:pt x="0" y="56273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955" b="-269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70" name="TextBox 100"/>
            <p:cNvSpPr txBox="1"/>
            <p:nvPr/>
          </p:nvSpPr>
          <p:spPr>
            <a:xfrm>
              <a:off x="0" y="0"/>
              <a:ext cx="2222500" cy="562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950">
                  <a:solidFill>
                    <a:srgbClr val="FFFFFF"/>
                  </a:solidFill>
                  <a:latin typeface="Segoe UI"/>
                </a:defRPr>
              </a:pPr>
              <a:r>
                <a:t>Published to MoES / Web / Social</a:t>
              </a:r>
            </a:p>
          </p:txBody>
        </p:sp>
      </p:grpSp>
      <p:sp>
        <p:nvSpPr>
          <p:cNvPr id="371" name="TextBox 101"/>
          <p:cNvSpPr txBox="1"/>
          <p:nvPr/>
        </p:nvSpPr>
        <p:spPr>
          <a:xfrm>
            <a:off x="14097000" y="990600"/>
            <a:ext cx="2537098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>
                <a:solidFill>
                  <a:srgbClr val="000000"/>
                </a:solidFill>
                <a:ea typeface="Times New Roman Bold"/>
                <a:cs typeface="Times New Roman Bold"/>
                <a:sym typeface="Times New Roman Bold"/>
              </a:rPr>
              <a:t>Sample Investigation Outputs</a:t>
            </a:r>
          </a:p>
        </p:txBody>
      </p:sp>
      <p:sp>
        <p:nvSpPr>
          <p:cNvPr id="372" name="TextBox 102"/>
          <p:cNvSpPr txBox="1"/>
          <p:nvPr/>
        </p:nvSpPr>
        <p:spPr>
          <a:xfrm>
            <a:off x="1685925" y="9477375"/>
            <a:ext cx="381000" cy="18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18324B"/>
                </a:solidFill>
                <a:ea typeface="Calibri (MS)"/>
                <a:cs typeface="Calibri (MS)"/>
                <a:sym typeface="Calibri (MS)"/>
              </a:rPr>
              <a:t>YES</a:t>
            </a:r>
          </a:p>
        </p:txBody>
      </p:sp>
      <p:sp>
        <p:nvSpPr>
          <p:cNvPr id="373" name="TextBox 103"/>
          <p:cNvSpPr txBox="1"/>
          <p:nvPr/>
        </p:nvSpPr>
        <p:spPr>
          <a:xfrm>
            <a:off x="4953000" y="9477375"/>
            <a:ext cx="381000" cy="18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18324B"/>
                </a:solidFill>
                <a:ea typeface="Calibri (MS)"/>
                <a:cs typeface="Calibri (MS)"/>
                <a:sym typeface="Calibri (MS)"/>
              </a:rPr>
              <a:t>NO</a:t>
            </a:r>
          </a:p>
        </p:txBody>
      </p:sp>
      <p:sp>
        <p:nvSpPr>
          <p:cNvPr id="374" name="TextBox 104"/>
          <p:cNvSpPr txBox="1"/>
          <p:nvPr/>
        </p:nvSpPr>
        <p:spPr>
          <a:xfrm>
            <a:off x="5143500" y="7124700"/>
            <a:ext cx="1238250" cy="18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18324B"/>
                </a:solidFill>
                <a:ea typeface="Calibri (MS)"/>
                <a:cs typeface="Calibri (MS)"/>
                <a:sym typeface="Calibri (MS)"/>
              </a:rPr>
              <a:t>Verification feedback</a:t>
            </a:r>
          </a:p>
        </p:txBody>
      </p:sp>
      <p:sp>
        <p:nvSpPr>
          <p:cNvPr id="375" name="AutoShape 105"/>
          <p:cNvSpPr/>
          <p:nvPr/>
        </p:nvSpPr>
        <p:spPr>
          <a:xfrm>
            <a:off x="9144000" y="962025"/>
            <a:ext cx="0" cy="8496300"/>
          </a:xfrm>
          <a:prstGeom prst="line">
            <a:avLst/>
          </a:prstGeom>
          <a:ln w="9525" cap="flat">
            <a:solidFill>
              <a:srgbClr val="D6E0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76" name="AutoShape 106"/>
          <p:cNvSpPr/>
          <p:nvPr/>
        </p:nvSpPr>
        <p:spPr>
          <a:xfrm>
            <a:off x="590550" y="2247900"/>
            <a:ext cx="0" cy="13335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77" name="AutoShape 107"/>
          <p:cNvSpPr/>
          <p:nvPr/>
        </p:nvSpPr>
        <p:spPr>
          <a:xfrm>
            <a:off x="1752600" y="2247900"/>
            <a:ext cx="0" cy="13335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78" name="AutoShape 108"/>
          <p:cNvSpPr/>
          <p:nvPr/>
        </p:nvSpPr>
        <p:spPr>
          <a:xfrm>
            <a:off x="2914650" y="2247900"/>
            <a:ext cx="0" cy="13335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79" name="AutoShape 109"/>
          <p:cNvSpPr/>
          <p:nvPr/>
        </p:nvSpPr>
        <p:spPr>
          <a:xfrm>
            <a:off x="4076700" y="2366962"/>
            <a:ext cx="0" cy="14288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80" name="AutoShape 110"/>
          <p:cNvSpPr/>
          <p:nvPr/>
        </p:nvSpPr>
        <p:spPr>
          <a:xfrm>
            <a:off x="5238750" y="2247900"/>
            <a:ext cx="0" cy="13335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81" name="AutoShape 111"/>
          <p:cNvSpPr/>
          <p:nvPr/>
        </p:nvSpPr>
        <p:spPr>
          <a:xfrm>
            <a:off x="6400800" y="2247900"/>
            <a:ext cx="0" cy="13335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82" name="AutoShape 112"/>
          <p:cNvSpPr/>
          <p:nvPr/>
        </p:nvSpPr>
        <p:spPr>
          <a:xfrm>
            <a:off x="590550" y="2381250"/>
            <a:ext cx="5810250" cy="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83" name="AutoShape 113"/>
          <p:cNvSpPr/>
          <p:nvPr/>
        </p:nvSpPr>
        <p:spPr>
          <a:xfrm>
            <a:off x="3429000" y="2381250"/>
            <a:ext cx="0" cy="74295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384" name="AutoShape 114"/>
          <p:cNvSpPr/>
          <p:nvPr/>
        </p:nvSpPr>
        <p:spPr>
          <a:xfrm>
            <a:off x="3429000" y="2837498"/>
            <a:ext cx="0" cy="170498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385" name="AutoShape 115"/>
          <p:cNvSpPr/>
          <p:nvPr/>
        </p:nvSpPr>
        <p:spPr>
          <a:xfrm>
            <a:off x="3429000" y="3469958"/>
            <a:ext cx="0" cy="149542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86" name="AutoShape 116"/>
          <p:cNvSpPr/>
          <p:nvPr/>
        </p:nvSpPr>
        <p:spPr>
          <a:xfrm>
            <a:off x="1047750" y="3619500"/>
            <a:ext cx="4762500" cy="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87" name="AutoShape 117"/>
          <p:cNvSpPr/>
          <p:nvPr/>
        </p:nvSpPr>
        <p:spPr>
          <a:xfrm>
            <a:off x="1047750" y="3619500"/>
            <a:ext cx="0" cy="192405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388" name="AutoShape 118"/>
          <p:cNvSpPr/>
          <p:nvPr/>
        </p:nvSpPr>
        <p:spPr>
          <a:xfrm>
            <a:off x="3429000" y="3619500"/>
            <a:ext cx="0" cy="192405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389" name="AutoShape 119"/>
          <p:cNvSpPr/>
          <p:nvPr/>
        </p:nvSpPr>
        <p:spPr>
          <a:xfrm>
            <a:off x="5810250" y="3619500"/>
            <a:ext cx="0" cy="192405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390" name="AutoShape 120"/>
          <p:cNvSpPr/>
          <p:nvPr/>
        </p:nvSpPr>
        <p:spPr>
          <a:xfrm>
            <a:off x="1047750" y="4293870"/>
            <a:ext cx="0" cy="18288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91" name="AutoShape 121"/>
          <p:cNvSpPr/>
          <p:nvPr/>
        </p:nvSpPr>
        <p:spPr>
          <a:xfrm>
            <a:off x="3429000" y="4293870"/>
            <a:ext cx="0" cy="18288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92" name="AutoShape 122"/>
          <p:cNvSpPr/>
          <p:nvPr/>
        </p:nvSpPr>
        <p:spPr>
          <a:xfrm>
            <a:off x="5810250" y="4293870"/>
            <a:ext cx="0" cy="18288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93" name="AutoShape 123"/>
          <p:cNvSpPr/>
          <p:nvPr/>
        </p:nvSpPr>
        <p:spPr>
          <a:xfrm>
            <a:off x="1047750" y="4476750"/>
            <a:ext cx="4762500" cy="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94" name="AutoShape 124"/>
          <p:cNvSpPr/>
          <p:nvPr/>
        </p:nvSpPr>
        <p:spPr>
          <a:xfrm>
            <a:off x="3429000" y="4476750"/>
            <a:ext cx="0" cy="189547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395" name="AutoShape 125"/>
          <p:cNvSpPr/>
          <p:nvPr/>
        </p:nvSpPr>
        <p:spPr>
          <a:xfrm>
            <a:off x="3429000" y="5108258"/>
            <a:ext cx="0" cy="149543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396" name="AutoShape 126"/>
          <p:cNvSpPr/>
          <p:nvPr/>
        </p:nvSpPr>
        <p:spPr>
          <a:xfrm>
            <a:off x="3429000" y="5715000"/>
            <a:ext cx="0" cy="15240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397" name="AutoShape 127"/>
          <p:cNvSpPr/>
          <p:nvPr/>
        </p:nvSpPr>
        <p:spPr>
          <a:xfrm>
            <a:off x="3429000" y="6400800"/>
            <a:ext cx="0" cy="15240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398" name="AutoShape 128"/>
          <p:cNvSpPr/>
          <p:nvPr/>
        </p:nvSpPr>
        <p:spPr>
          <a:xfrm>
            <a:off x="3429000" y="7010400"/>
            <a:ext cx="0" cy="15240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399" name="AutoShape 129"/>
          <p:cNvSpPr/>
          <p:nvPr/>
        </p:nvSpPr>
        <p:spPr>
          <a:xfrm>
            <a:off x="3429000" y="7629525"/>
            <a:ext cx="0" cy="15240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400" name="AutoShape 130"/>
          <p:cNvSpPr/>
          <p:nvPr/>
        </p:nvSpPr>
        <p:spPr>
          <a:xfrm>
            <a:off x="3429000" y="8181975"/>
            <a:ext cx="0" cy="15240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401" name="AutoShape 131"/>
          <p:cNvSpPr/>
          <p:nvPr/>
        </p:nvSpPr>
        <p:spPr>
          <a:xfrm>
            <a:off x="3429000" y="8734425"/>
            <a:ext cx="0" cy="15240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402" name="AutoShape 132"/>
          <p:cNvSpPr/>
          <p:nvPr/>
        </p:nvSpPr>
        <p:spPr>
          <a:xfrm>
            <a:off x="3429000" y="9572625"/>
            <a:ext cx="0" cy="123825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03" name="AutoShape 133"/>
          <p:cNvSpPr/>
          <p:nvPr/>
        </p:nvSpPr>
        <p:spPr>
          <a:xfrm>
            <a:off x="1571625" y="9696450"/>
            <a:ext cx="3733800" cy="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04" name="AutoShape 134"/>
          <p:cNvSpPr/>
          <p:nvPr/>
        </p:nvSpPr>
        <p:spPr>
          <a:xfrm>
            <a:off x="1571625" y="9696450"/>
            <a:ext cx="0" cy="11430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405" name="AutoShape 135"/>
          <p:cNvSpPr/>
          <p:nvPr/>
        </p:nvSpPr>
        <p:spPr>
          <a:xfrm>
            <a:off x="5305425" y="9696450"/>
            <a:ext cx="0" cy="11430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406" name="Group 136"/>
          <p:cNvGrpSpPr/>
          <p:nvPr/>
        </p:nvGrpSpPr>
        <p:grpSpPr>
          <a:xfrm>
            <a:off x="7429500" y="962025"/>
            <a:ext cx="4762500" cy="8267700"/>
            <a:chOff x="0" y="0"/>
            <a:chExt cx="6350000" cy="11023600"/>
          </a:xfrm>
        </p:grpSpPr>
        <p:sp>
          <p:nvSpPr>
            <p:cNvPr id="407" name="Freeform 137"/>
            <p:cNvSpPr/>
            <p:nvPr/>
          </p:nvSpPr>
          <p:spPr>
            <a:xfrm>
              <a:off x="0" y="0"/>
              <a:ext cx="6350000" cy="11023600"/>
            </a:xfrm>
            <a:custGeom>
              <a:avLst/>
              <a:gdLst/>
              <a:ahLst/>
              <a:cxnLst/>
              <a:rect l="l" t="t" r="r" b="b"/>
              <a:pathLst>
                <a:path w="6350000" h="11023600">
                  <a:moveTo>
                    <a:pt x="0" y="0"/>
                  </a:moveTo>
                  <a:lnTo>
                    <a:pt x="6350000" y="0"/>
                  </a:lnTo>
                  <a:lnTo>
                    <a:pt x="6350000" y="11023600"/>
                  </a:lnTo>
                  <a:lnTo>
                    <a:pt x="0" y="110236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8" name="TextBox 138"/>
            <p:cNvSpPr txBox="1"/>
            <p:nvPr/>
          </p:nvSpPr>
          <p:spPr>
            <a:xfrm>
              <a:off x="0" y="-38100"/>
              <a:ext cx="6350000" cy="11061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09" name="Group 139"/>
          <p:cNvGrpSpPr/>
          <p:nvPr/>
        </p:nvGrpSpPr>
        <p:grpSpPr>
          <a:xfrm>
            <a:off x="7429500" y="962025"/>
            <a:ext cx="1714500" cy="381000"/>
            <a:chOff x="0" y="0"/>
            <a:chExt cx="2286000" cy="508000"/>
          </a:xfrm>
        </p:grpSpPr>
        <p:sp>
          <p:nvSpPr>
            <p:cNvPr id="410" name="Freeform 140"/>
            <p:cNvSpPr/>
            <p:nvPr/>
          </p:nvSpPr>
          <p:spPr>
            <a:xfrm>
              <a:off x="0" y="0"/>
              <a:ext cx="2286000" cy="508000"/>
            </a:xfrm>
            <a:custGeom>
              <a:avLst/>
              <a:gdLst/>
              <a:ahLst/>
              <a:cxnLst/>
              <a:rect l="l" t="t" r="r" b="b"/>
              <a:pathLst>
                <a:path w="2286000" h="508000">
                  <a:moveTo>
                    <a:pt x="0" y="0"/>
                  </a:moveTo>
                  <a:lnTo>
                    <a:pt x="2286000" y="0"/>
                  </a:lnTo>
                  <a:lnTo>
                    <a:pt x="2286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EAF2F8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1" name="TextBox 141"/>
            <p:cNvSpPr txBox="1"/>
            <p:nvPr/>
          </p:nvSpPr>
          <p:spPr>
            <a:xfrm>
              <a:off x="0" y="-38100"/>
              <a:ext cx="2286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12" name="TextBox 142"/>
          <p:cNvSpPr txBox="1"/>
          <p:nvPr/>
        </p:nvSpPr>
        <p:spPr>
          <a:xfrm>
            <a:off x="7486650" y="1000125"/>
            <a:ext cx="1600200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>
                <a:solidFill>
                  <a:srgbClr val="2962A7"/>
                </a:solidFill>
                <a:ea typeface="Times New Roman Bold"/>
                <a:cs typeface="Times New Roman Bold"/>
                <a:sym typeface="Times New Roman Bold"/>
              </a:rPr>
              <a:t>Technology Stack</a:t>
            </a:r>
          </a:p>
        </p:txBody>
      </p:sp>
      <p:grpSp>
        <p:nvGrpSpPr>
          <p:cNvPr id="413" name="Group 143"/>
          <p:cNvGrpSpPr/>
          <p:nvPr/>
        </p:nvGrpSpPr>
        <p:grpSpPr>
          <a:xfrm>
            <a:off x="9144000" y="962025"/>
            <a:ext cx="3048000" cy="381000"/>
            <a:chOff x="0" y="0"/>
            <a:chExt cx="4064000" cy="508000"/>
          </a:xfrm>
        </p:grpSpPr>
        <p:sp>
          <p:nvSpPr>
            <p:cNvPr id="414" name="Freeform 144"/>
            <p:cNvSpPr/>
            <p:nvPr/>
          </p:nvSpPr>
          <p:spPr>
            <a:xfrm>
              <a:off x="0" y="0"/>
              <a:ext cx="4064000" cy="508000"/>
            </a:xfrm>
            <a:custGeom>
              <a:avLst/>
              <a:gdLst/>
              <a:ahLst/>
              <a:cxnLst/>
              <a:rect l="l" t="t" r="r" b="b"/>
              <a:pathLst>
                <a:path w="4064000" h="508000">
                  <a:moveTo>
                    <a:pt x="0" y="0"/>
                  </a:moveTo>
                  <a:lnTo>
                    <a:pt x="4064000" y="0"/>
                  </a:lnTo>
                  <a:lnTo>
                    <a:pt x="4064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EAF2F8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5" name="TextBox 145"/>
            <p:cNvSpPr txBox="1"/>
            <p:nvPr/>
          </p:nvSpPr>
          <p:spPr>
            <a:xfrm>
              <a:off x="0" y="-38100"/>
              <a:ext cx="4064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16" name="TextBox 146"/>
          <p:cNvSpPr txBox="1"/>
          <p:nvPr/>
        </p:nvSpPr>
        <p:spPr>
          <a:xfrm>
            <a:off x="9201150" y="1000125"/>
            <a:ext cx="2933700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>
                <a:solidFill>
                  <a:srgbClr val="2962A7"/>
                </a:solidFill>
                <a:ea typeface="Times New Roman Bold"/>
                <a:cs typeface="Times New Roman Bold"/>
                <a:sym typeface="Times New Roman Bold"/>
              </a:rPr>
              <a:t>Why this choice &amp; Role</a:t>
            </a:r>
          </a:p>
        </p:txBody>
      </p:sp>
      <p:grpSp>
        <p:nvGrpSpPr>
          <p:cNvPr id="417" name="Group 147"/>
          <p:cNvGrpSpPr/>
          <p:nvPr/>
        </p:nvGrpSpPr>
        <p:grpSpPr>
          <a:xfrm>
            <a:off x="7429500" y="1343025"/>
            <a:ext cx="4762500" cy="247650"/>
            <a:chOff x="0" y="0"/>
            <a:chExt cx="6350000" cy="330200"/>
          </a:xfrm>
        </p:grpSpPr>
        <p:sp>
          <p:nvSpPr>
            <p:cNvPr id="418" name="Freeform 148"/>
            <p:cNvSpPr/>
            <p:nvPr/>
          </p:nvSpPr>
          <p:spPr>
            <a:xfrm>
              <a:off x="0" y="0"/>
              <a:ext cx="6350000" cy="330200"/>
            </a:xfrm>
            <a:custGeom>
              <a:avLst/>
              <a:gdLst/>
              <a:ahLst/>
              <a:cxnLst/>
              <a:rect l="l" t="t" r="r" b="b"/>
              <a:pathLst>
                <a:path w="6350000" h="330200">
                  <a:moveTo>
                    <a:pt x="0" y="0"/>
                  </a:moveTo>
                  <a:lnTo>
                    <a:pt x="6350000" y="0"/>
                  </a:lnTo>
                  <a:lnTo>
                    <a:pt x="6350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DF4FA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9" name="TextBox 149"/>
            <p:cNvSpPr txBox="1"/>
            <p:nvPr/>
          </p:nvSpPr>
          <p:spPr>
            <a:xfrm>
              <a:off x="0" y="-38100"/>
              <a:ext cx="63500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20" name="TextBox 150"/>
          <p:cNvSpPr txBox="1"/>
          <p:nvPr/>
        </p:nvSpPr>
        <p:spPr>
          <a:xfrm>
            <a:off x="7486650" y="1343025"/>
            <a:ext cx="4648200" cy="184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00" b="1" dirty="0">
                <a:solidFill>
                  <a:srgbClr val="18324B"/>
                </a:solidFill>
                <a:ea typeface="Times New Roman Bold"/>
                <a:cs typeface="Times New Roman Bold"/>
                <a:sym typeface="Times New Roman Bold"/>
              </a:rPr>
              <a:t>Frontend</a:t>
            </a:r>
          </a:p>
        </p:txBody>
      </p:sp>
      <p:grpSp>
        <p:nvGrpSpPr>
          <p:cNvPr id="421" name="Group 151"/>
          <p:cNvGrpSpPr/>
          <p:nvPr/>
        </p:nvGrpSpPr>
        <p:grpSpPr>
          <a:xfrm>
            <a:off x="7429500" y="1590675"/>
            <a:ext cx="4762500" cy="304800"/>
            <a:chOff x="0" y="0"/>
            <a:chExt cx="6350000" cy="406400"/>
          </a:xfrm>
        </p:grpSpPr>
        <p:sp>
          <p:nvSpPr>
            <p:cNvPr id="422" name="Freeform 152"/>
            <p:cNvSpPr/>
            <p:nvPr/>
          </p:nvSpPr>
          <p:spPr>
            <a:xfrm>
              <a:off x="0" y="0"/>
              <a:ext cx="6350000" cy="406400"/>
            </a:xfrm>
            <a:custGeom>
              <a:avLst/>
              <a:gdLst/>
              <a:ahLst/>
              <a:cxnLst/>
              <a:rect l="l" t="t" r="r" b="b"/>
              <a:pathLst>
                <a:path w="6350000" h="406400">
                  <a:moveTo>
                    <a:pt x="0" y="0"/>
                  </a:moveTo>
                  <a:lnTo>
                    <a:pt x="6350000" y="0"/>
                  </a:lnTo>
                  <a:lnTo>
                    <a:pt x="6350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3" name="TextBox 153"/>
            <p:cNvSpPr txBox="1"/>
            <p:nvPr/>
          </p:nvSpPr>
          <p:spPr>
            <a:xfrm>
              <a:off x="0" y="-38100"/>
              <a:ext cx="6350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24" name="TextBox 154"/>
          <p:cNvSpPr txBox="1"/>
          <p:nvPr/>
        </p:nvSpPr>
        <p:spPr>
          <a:xfrm>
            <a:off x="7486650" y="162877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Next.js + TypeScript</a:t>
            </a:r>
          </a:p>
        </p:txBody>
      </p:sp>
      <p:sp>
        <p:nvSpPr>
          <p:cNvPr id="425" name="TextBox 155"/>
          <p:cNvSpPr txBox="1"/>
          <p:nvPr/>
        </p:nvSpPr>
        <p:spPr>
          <a:xfrm>
            <a:off x="9201150" y="1628775"/>
            <a:ext cx="29337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t>Modern, type-safe, server-rendered scientific web portal</a:t>
            </a:r>
          </a:p>
        </p:txBody>
      </p:sp>
      <p:grpSp>
        <p:nvGrpSpPr>
          <p:cNvPr id="426" name="Group 156"/>
          <p:cNvGrpSpPr/>
          <p:nvPr/>
        </p:nvGrpSpPr>
        <p:grpSpPr>
          <a:xfrm>
            <a:off x="7429500" y="1895475"/>
            <a:ext cx="4762500" cy="381000"/>
            <a:chOff x="0" y="0"/>
            <a:chExt cx="6350000" cy="508000"/>
          </a:xfrm>
        </p:grpSpPr>
        <p:sp>
          <p:nvSpPr>
            <p:cNvPr id="427" name="Freeform 157"/>
            <p:cNvSpPr/>
            <p:nvPr/>
          </p:nvSpPr>
          <p:spPr>
            <a:xfrm>
              <a:off x="0" y="0"/>
              <a:ext cx="6350000" cy="508000"/>
            </a:xfrm>
            <a:custGeom>
              <a:avLst/>
              <a:gdLst/>
              <a:ahLst/>
              <a:cxnLst/>
              <a:rect l="l" t="t" r="r" b="b"/>
              <a:pathLst>
                <a:path w="6350000" h="508000">
                  <a:moveTo>
                    <a:pt x="0" y="0"/>
                  </a:moveTo>
                  <a:lnTo>
                    <a:pt x="6350000" y="0"/>
                  </a:lnTo>
                  <a:lnTo>
                    <a:pt x="6350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7FAFC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8" name="TextBox 158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29" name="TextBox 159"/>
          <p:cNvSpPr txBox="1"/>
          <p:nvPr/>
        </p:nvSpPr>
        <p:spPr>
          <a:xfrm>
            <a:off x="7486650" y="193357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Tailwind CSS + shadcn/ui</a:t>
            </a:r>
          </a:p>
        </p:txBody>
      </p:sp>
      <p:sp>
        <p:nvSpPr>
          <p:cNvPr id="430" name="TextBox 160"/>
          <p:cNvSpPr txBox="1"/>
          <p:nvPr/>
        </p:nvSpPr>
        <p:spPr>
          <a:xfrm>
            <a:off x="9201150" y="1933575"/>
            <a:ext cx="2933700" cy="28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t>Accessible, responsive polar theme: deep navy, ice blue, cyan</a:t>
            </a:r>
          </a:p>
        </p:txBody>
      </p:sp>
      <p:grpSp>
        <p:nvGrpSpPr>
          <p:cNvPr id="431" name="Group 161"/>
          <p:cNvGrpSpPr/>
          <p:nvPr/>
        </p:nvGrpSpPr>
        <p:grpSpPr>
          <a:xfrm>
            <a:off x="7429500" y="2276475"/>
            <a:ext cx="4762500" cy="381000"/>
            <a:chOff x="0" y="0"/>
            <a:chExt cx="6350000" cy="508000"/>
          </a:xfrm>
        </p:grpSpPr>
        <p:sp>
          <p:nvSpPr>
            <p:cNvPr id="432" name="Freeform 162"/>
            <p:cNvSpPr/>
            <p:nvPr/>
          </p:nvSpPr>
          <p:spPr>
            <a:xfrm>
              <a:off x="0" y="0"/>
              <a:ext cx="6350000" cy="508000"/>
            </a:xfrm>
            <a:custGeom>
              <a:avLst/>
              <a:gdLst/>
              <a:ahLst/>
              <a:cxnLst/>
              <a:rect l="l" t="t" r="r" b="b"/>
              <a:pathLst>
                <a:path w="6350000" h="508000">
                  <a:moveTo>
                    <a:pt x="0" y="0"/>
                  </a:moveTo>
                  <a:lnTo>
                    <a:pt x="6350000" y="0"/>
                  </a:lnTo>
                  <a:lnTo>
                    <a:pt x="6350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3" name="TextBox 163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34" name="TextBox 164"/>
          <p:cNvSpPr txBox="1"/>
          <p:nvPr/>
        </p:nvSpPr>
        <p:spPr>
          <a:xfrm>
            <a:off x="7486650" y="231457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Leaflet + OpenStreetMap</a:t>
            </a:r>
          </a:p>
        </p:txBody>
      </p:sp>
      <p:sp>
        <p:nvSpPr>
          <p:cNvPr id="435" name="TextBox 165"/>
          <p:cNvSpPr txBox="1"/>
          <p:nvPr/>
        </p:nvSpPr>
        <p:spPr>
          <a:xfrm>
            <a:off x="9201150" y="2314575"/>
            <a:ext cx="2933700" cy="28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t>Interactive polar GIS station explorer &amp; geospatial tracking</a:t>
            </a:r>
          </a:p>
        </p:txBody>
      </p:sp>
      <p:grpSp>
        <p:nvGrpSpPr>
          <p:cNvPr id="436" name="Group 166"/>
          <p:cNvGrpSpPr/>
          <p:nvPr/>
        </p:nvGrpSpPr>
        <p:grpSpPr>
          <a:xfrm>
            <a:off x="7429500" y="2657475"/>
            <a:ext cx="4762500" cy="247650"/>
            <a:chOff x="0" y="0"/>
            <a:chExt cx="6350000" cy="330200"/>
          </a:xfrm>
        </p:grpSpPr>
        <p:sp>
          <p:nvSpPr>
            <p:cNvPr id="437" name="Freeform 167"/>
            <p:cNvSpPr/>
            <p:nvPr/>
          </p:nvSpPr>
          <p:spPr>
            <a:xfrm>
              <a:off x="0" y="0"/>
              <a:ext cx="6350000" cy="330200"/>
            </a:xfrm>
            <a:custGeom>
              <a:avLst/>
              <a:gdLst/>
              <a:ahLst/>
              <a:cxnLst/>
              <a:rect l="l" t="t" r="r" b="b"/>
              <a:pathLst>
                <a:path w="6350000" h="330200">
                  <a:moveTo>
                    <a:pt x="0" y="0"/>
                  </a:moveTo>
                  <a:lnTo>
                    <a:pt x="6350000" y="0"/>
                  </a:lnTo>
                  <a:lnTo>
                    <a:pt x="6350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DF4FA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8" name="TextBox 168"/>
            <p:cNvSpPr txBox="1"/>
            <p:nvPr/>
          </p:nvSpPr>
          <p:spPr>
            <a:xfrm>
              <a:off x="0" y="-38100"/>
              <a:ext cx="63500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39" name="TextBox 169"/>
          <p:cNvSpPr txBox="1"/>
          <p:nvPr/>
        </p:nvSpPr>
        <p:spPr>
          <a:xfrm>
            <a:off x="7486650" y="2657475"/>
            <a:ext cx="4648200" cy="184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00" b="1" dirty="0">
                <a:solidFill>
                  <a:srgbClr val="18324B"/>
                </a:solidFill>
                <a:ea typeface="Times New Roman Bold"/>
                <a:cs typeface="Times New Roman Bold"/>
                <a:sym typeface="Times New Roman Bold"/>
              </a:rPr>
              <a:t>Backend</a:t>
            </a:r>
          </a:p>
        </p:txBody>
      </p:sp>
      <p:grpSp>
        <p:nvGrpSpPr>
          <p:cNvPr id="440" name="Group 170"/>
          <p:cNvGrpSpPr/>
          <p:nvPr/>
        </p:nvGrpSpPr>
        <p:grpSpPr>
          <a:xfrm>
            <a:off x="7429500" y="2905125"/>
            <a:ext cx="4762500" cy="381000"/>
            <a:chOff x="0" y="0"/>
            <a:chExt cx="6350000" cy="508000"/>
          </a:xfrm>
        </p:grpSpPr>
        <p:sp>
          <p:nvSpPr>
            <p:cNvPr id="441" name="Freeform 171"/>
            <p:cNvSpPr/>
            <p:nvPr/>
          </p:nvSpPr>
          <p:spPr>
            <a:xfrm>
              <a:off x="0" y="0"/>
              <a:ext cx="6350000" cy="508000"/>
            </a:xfrm>
            <a:custGeom>
              <a:avLst/>
              <a:gdLst/>
              <a:ahLst/>
              <a:cxnLst/>
              <a:rect l="l" t="t" r="r" b="b"/>
              <a:pathLst>
                <a:path w="6350000" h="508000">
                  <a:moveTo>
                    <a:pt x="0" y="0"/>
                  </a:moveTo>
                  <a:lnTo>
                    <a:pt x="6350000" y="0"/>
                  </a:lnTo>
                  <a:lnTo>
                    <a:pt x="6350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7FAFC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2" name="TextBox 172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43" name="TextBox 173"/>
          <p:cNvSpPr txBox="1"/>
          <p:nvPr/>
        </p:nvSpPr>
        <p:spPr>
          <a:xfrm>
            <a:off x="7486650" y="294322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Python + FastAPI</a:t>
            </a:r>
          </a:p>
        </p:txBody>
      </p:sp>
      <p:sp>
        <p:nvSpPr>
          <p:cNvPr id="444" name="TextBox 174"/>
          <p:cNvSpPr txBox="1"/>
          <p:nvPr/>
        </p:nvSpPr>
        <p:spPr>
          <a:xfrm>
            <a:off x="9201150" y="2943225"/>
            <a:ext cx="2933700" cy="28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t>High-concurrency async REST API for RAG, search &amp; data ingestion</a:t>
            </a:r>
          </a:p>
        </p:txBody>
      </p:sp>
      <p:grpSp>
        <p:nvGrpSpPr>
          <p:cNvPr id="445" name="Group 175"/>
          <p:cNvGrpSpPr/>
          <p:nvPr/>
        </p:nvGrpSpPr>
        <p:grpSpPr>
          <a:xfrm>
            <a:off x="7429500" y="3286125"/>
            <a:ext cx="4762500" cy="381000"/>
            <a:chOff x="0" y="0"/>
            <a:chExt cx="6350000" cy="508000"/>
          </a:xfrm>
        </p:grpSpPr>
        <p:sp>
          <p:nvSpPr>
            <p:cNvPr id="446" name="Freeform 176"/>
            <p:cNvSpPr/>
            <p:nvPr/>
          </p:nvSpPr>
          <p:spPr>
            <a:xfrm>
              <a:off x="0" y="0"/>
              <a:ext cx="6350000" cy="508000"/>
            </a:xfrm>
            <a:custGeom>
              <a:avLst/>
              <a:gdLst/>
              <a:ahLst/>
              <a:cxnLst/>
              <a:rect l="l" t="t" r="r" b="b"/>
              <a:pathLst>
                <a:path w="6350000" h="508000">
                  <a:moveTo>
                    <a:pt x="0" y="0"/>
                  </a:moveTo>
                  <a:lnTo>
                    <a:pt x="6350000" y="0"/>
                  </a:lnTo>
                  <a:lnTo>
                    <a:pt x="6350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7" name="TextBox 177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48" name="TextBox 178"/>
          <p:cNvSpPr txBox="1"/>
          <p:nvPr/>
        </p:nvSpPr>
        <p:spPr>
          <a:xfrm>
            <a:off x="7486650" y="332422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Pydantic v2</a:t>
            </a:r>
          </a:p>
        </p:txBody>
      </p:sp>
      <p:sp>
        <p:nvSpPr>
          <p:cNvPr id="449" name="TextBox 179"/>
          <p:cNvSpPr txBox="1"/>
          <p:nvPr/>
        </p:nvSpPr>
        <p:spPr>
          <a:xfrm>
            <a:off x="9201150" y="3324225"/>
            <a:ext cx="2933700" cy="28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t>Strict schema validation for DataCite/Dublin Core metadata models</a:t>
            </a:r>
          </a:p>
        </p:txBody>
      </p:sp>
      <p:grpSp>
        <p:nvGrpSpPr>
          <p:cNvPr id="450" name="Group 180"/>
          <p:cNvGrpSpPr/>
          <p:nvPr/>
        </p:nvGrpSpPr>
        <p:grpSpPr>
          <a:xfrm>
            <a:off x="7429500" y="3667125"/>
            <a:ext cx="4762500" cy="304800"/>
            <a:chOff x="0" y="0"/>
            <a:chExt cx="6350000" cy="406400"/>
          </a:xfrm>
        </p:grpSpPr>
        <p:sp>
          <p:nvSpPr>
            <p:cNvPr id="451" name="Freeform 181"/>
            <p:cNvSpPr/>
            <p:nvPr/>
          </p:nvSpPr>
          <p:spPr>
            <a:xfrm>
              <a:off x="0" y="0"/>
              <a:ext cx="6350000" cy="406400"/>
            </a:xfrm>
            <a:custGeom>
              <a:avLst/>
              <a:gdLst/>
              <a:ahLst/>
              <a:cxnLst/>
              <a:rect l="l" t="t" r="r" b="b"/>
              <a:pathLst>
                <a:path w="6350000" h="406400">
                  <a:moveTo>
                    <a:pt x="0" y="0"/>
                  </a:moveTo>
                  <a:lnTo>
                    <a:pt x="6350000" y="0"/>
                  </a:lnTo>
                  <a:lnTo>
                    <a:pt x="6350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7FAFC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2" name="TextBox 182"/>
            <p:cNvSpPr txBox="1"/>
            <p:nvPr/>
          </p:nvSpPr>
          <p:spPr>
            <a:xfrm>
              <a:off x="0" y="-38100"/>
              <a:ext cx="6350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53" name="TextBox 183"/>
          <p:cNvSpPr txBox="1"/>
          <p:nvPr/>
        </p:nvSpPr>
        <p:spPr>
          <a:xfrm>
            <a:off x="7486650" y="370522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REST APIs</a:t>
            </a:r>
          </a:p>
        </p:txBody>
      </p:sp>
      <p:sp>
        <p:nvSpPr>
          <p:cNvPr id="454" name="TextBox 184"/>
          <p:cNvSpPr txBox="1"/>
          <p:nvPr/>
        </p:nvSpPr>
        <p:spPr>
          <a:xfrm>
            <a:off x="9201150" y="3705225"/>
            <a:ext cx="29337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t>Decoupled, modular communication between UI, RAG &amp; data services</a:t>
            </a:r>
          </a:p>
        </p:txBody>
      </p:sp>
      <p:grpSp>
        <p:nvGrpSpPr>
          <p:cNvPr id="455" name="Group 185"/>
          <p:cNvGrpSpPr/>
          <p:nvPr/>
        </p:nvGrpSpPr>
        <p:grpSpPr>
          <a:xfrm>
            <a:off x="7429500" y="3971925"/>
            <a:ext cx="4762500" cy="381000"/>
            <a:chOff x="0" y="0"/>
            <a:chExt cx="6350000" cy="508000"/>
          </a:xfrm>
        </p:grpSpPr>
        <p:sp>
          <p:nvSpPr>
            <p:cNvPr id="456" name="Freeform 186"/>
            <p:cNvSpPr/>
            <p:nvPr/>
          </p:nvSpPr>
          <p:spPr>
            <a:xfrm>
              <a:off x="0" y="0"/>
              <a:ext cx="6350000" cy="508000"/>
            </a:xfrm>
            <a:custGeom>
              <a:avLst/>
              <a:gdLst/>
              <a:ahLst/>
              <a:cxnLst/>
              <a:rect l="l" t="t" r="r" b="b"/>
              <a:pathLst>
                <a:path w="6350000" h="508000">
                  <a:moveTo>
                    <a:pt x="0" y="0"/>
                  </a:moveTo>
                  <a:lnTo>
                    <a:pt x="6350000" y="0"/>
                  </a:lnTo>
                  <a:lnTo>
                    <a:pt x="6350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7" name="TextBox 187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58" name="TextBox 188"/>
          <p:cNvSpPr txBox="1"/>
          <p:nvPr/>
        </p:nvSpPr>
        <p:spPr>
          <a:xfrm>
            <a:off x="7486650" y="401002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Uvicorn ASGI</a:t>
            </a:r>
          </a:p>
        </p:txBody>
      </p:sp>
      <p:sp>
        <p:nvSpPr>
          <p:cNvPr id="459" name="TextBox 189"/>
          <p:cNvSpPr txBox="1"/>
          <p:nvPr/>
        </p:nvSpPr>
        <p:spPr>
          <a:xfrm>
            <a:off x="9201150" y="4010025"/>
            <a:ext cx="29337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t>Production-grade asynchronous web server with worker management</a:t>
            </a:r>
          </a:p>
        </p:txBody>
      </p:sp>
      <p:grpSp>
        <p:nvGrpSpPr>
          <p:cNvPr id="460" name="Group 190"/>
          <p:cNvGrpSpPr/>
          <p:nvPr/>
        </p:nvGrpSpPr>
        <p:grpSpPr>
          <a:xfrm>
            <a:off x="7429500" y="4352925"/>
            <a:ext cx="4762500" cy="247650"/>
            <a:chOff x="0" y="0"/>
            <a:chExt cx="6350000" cy="330200"/>
          </a:xfrm>
        </p:grpSpPr>
        <p:sp>
          <p:nvSpPr>
            <p:cNvPr id="461" name="Freeform 191"/>
            <p:cNvSpPr/>
            <p:nvPr/>
          </p:nvSpPr>
          <p:spPr>
            <a:xfrm>
              <a:off x="0" y="0"/>
              <a:ext cx="6350000" cy="330200"/>
            </a:xfrm>
            <a:custGeom>
              <a:avLst/>
              <a:gdLst/>
              <a:ahLst/>
              <a:cxnLst/>
              <a:rect l="l" t="t" r="r" b="b"/>
              <a:pathLst>
                <a:path w="6350000" h="330200">
                  <a:moveTo>
                    <a:pt x="0" y="0"/>
                  </a:moveTo>
                  <a:lnTo>
                    <a:pt x="6350000" y="0"/>
                  </a:lnTo>
                  <a:lnTo>
                    <a:pt x="6350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DF4FA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" name="TextBox 192"/>
            <p:cNvSpPr txBox="1"/>
            <p:nvPr/>
          </p:nvSpPr>
          <p:spPr>
            <a:xfrm>
              <a:off x="0" y="-38100"/>
              <a:ext cx="63500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63" name="TextBox 193"/>
          <p:cNvSpPr txBox="1"/>
          <p:nvPr/>
        </p:nvSpPr>
        <p:spPr>
          <a:xfrm>
            <a:off x="7486650" y="4352925"/>
            <a:ext cx="4648200" cy="184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AI &amp; Knowledge Retrieval</a:t>
            </a:r>
          </a:p>
        </p:txBody>
      </p:sp>
      <p:grpSp>
        <p:nvGrpSpPr>
          <p:cNvPr id="464" name="Group 194"/>
          <p:cNvGrpSpPr/>
          <p:nvPr/>
        </p:nvGrpSpPr>
        <p:grpSpPr>
          <a:xfrm>
            <a:off x="7429500" y="4600575"/>
            <a:ext cx="4762500" cy="438150"/>
            <a:chOff x="0" y="0"/>
            <a:chExt cx="6350000" cy="584200"/>
          </a:xfrm>
        </p:grpSpPr>
        <p:sp>
          <p:nvSpPr>
            <p:cNvPr id="465" name="Freeform 195"/>
            <p:cNvSpPr/>
            <p:nvPr/>
          </p:nvSpPr>
          <p:spPr>
            <a:xfrm>
              <a:off x="0" y="0"/>
              <a:ext cx="6350000" cy="584200"/>
            </a:xfrm>
            <a:custGeom>
              <a:avLst/>
              <a:gdLst/>
              <a:ahLst/>
              <a:cxnLst/>
              <a:rect l="l" t="t" r="r" b="b"/>
              <a:pathLst>
                <a:path w="6350000" h="584200">
                  <a:moveTo>
                    <a:pt x="0" y="0"/>
                  </a:moveTo>
                  <a:lnTo>
                    <a:pt x="6350000" y="0"/>
                  </a:lnTo>
                  <a:lnTo>
                    <a:pt x="6350000" y="584200"/>
                  </a:lnTo>
                  <a:lnTo>
                    <a:pt x="0" y="584200"/>
                  </a:lnTo>
                  <a:close/>
                </a:path>
              </a:pathLst>
            </a:custGeom>
            <a:solidFill>
              <a:srgbClr val="F7FAFC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6" name="TextBox 196"/>
            <p:cNvSpPr txBox="1"/>
            <p:nvPr/>
          </p:nvSpPr>
          <p:spPr>
            <a:xfrm>
              <a:off x="0" y="-38100"/>
              <a:ext cx="63500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67" name="TextBox 197"/>
          <p:cNvSpPr txBox="1"/>
          <p:nvPr/>
        </p:nvSpPr>
        <p:spPr>
          <a:xfrm>
            <a:off x="7486650" y="4638675"/>
            <a:ext cx="1600200" cy="287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PyMuPDF + Tesseract</a:t>
            </a:r>
          </a:p>
        </p:txBody>
      </p:sp>
      <p:sp>
        <p:nvSpPr>
          <p:cNvPr id="468" name="TextBox 198"/>
          <p:cNvSpPr txBox="1"/>
          <p:nvPr/>
        </p:nvSpPr>
        <p:spPr>
          <a:xfrm>
            <a:off x="9201150" y="4638675"/>
            <a:ext cx="2933700" cy="28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t>High-accuracy extraction from scanned expedition PDFs &amp; field logs</a:t>
            </a:r>
          </a:p>
        </p:txBody>
      </p:sp>
      <p:grpSp>
        <p:nvGrpSpPr>
          <p:cNvPr id="469" name="Group 199"/>
          <p:cNvGrpSpPr/>
          <p:nvPr/>
        </p:nvGrpSpPr>
        <p:grpSpPr>
          <a:xfrm>
            <a:off x="7429500" y="5038725"/>
            <a:ext cx="4762500" cy="438150"/>
            <a:chOff x="0" y="0"/>
            <a:chExt cx="6350000" cy="584200"/>
          </a:xfrm>
        </p:grpSpPr>
        <p:sp>
          <p:nvSpPr>
            <p:cNvPr id="470" name="Freeform 200"/>
            <p:cNvSpPr/>
            <p:nvPr/>
          </p:nvSpPr>
          <p:spPr>
            <a:xfrm>
              <a:off x="0" y="0"/>
              <a:ext cx="6350000" cy="584200"/>
            </a:xfrm>
            <a:custGeom>
              <a:avLst/>
              <a:gdLst/>
              <a:ahLst/>
              <a:cxnLst/>
              <a:rect l="l" t="t" r="r" b="b"/>
              <a:pathLst>
                <a:path w="6350000" h="584200">
                  <a:moveTo>
                    <a:pt x="0" y="0"/>
                  </a:moveTo>
                  <a:lnTo>
                    <a:pt x="6350000" y="0"/>
                  </a:lnTo>
                  <a:lnTo>
                    <a:pt x="6350000" y="584200"/>
                  </a:lnTo>
                  <a:lnTo>
                    <a:pt x="0" y="584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1" name="TextBox 201"/>
            <p:cNvSpPr txBox="1"/>
            <p:nvPr/>
          </p:nvSpPr>
          <p:spPr>
            <a:xfrm>
              <a:off x="0" y="-38100"/>
              <a:ext cx="63500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72" name="TextBox 202"/>
          <p:cNvSpPr txBox="1"/>
          <p:nvPr/>
        </p:nvSpPr>
        <p:spPr>
          <a:xfrm>
            <a:off x="7486650" y="507682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Sentence Transformers</a:t>
            </a:r>
          </a:p>
        </p:txBody>
      </p:sp>
      <p:sp>
        <p:nvSpPr>
          <p:cNvPr id="473" name="TextBox 203"/>
          <p:cNvSpPr txBox="1"/>
          <p:nvPr/>
        </p:nvSpPr>
        <p:spPr>
          <a:xfrm>
            <a:off x="9201150" y="5076825"/>
            <a:ext cx="2933700" cy="28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t>High-dimensional scientific embeddings for polar research corpus</a:t>
            </a:r>
          </a:p>
        </p:txBody>
      </p:sp>
      <p:grpSp>
        <p:nvGrpSpPr>
          <p:cNvPr id="474" name="Group 204"/>
          <p:cNvGrpSpPr/>
          <p:nvPr/>
        </p:nvGrpSpPr>
        <p:grpSpPr>
          <a:xfrm>
            <a:off x="7429500" y="5476875"/>
            <a:ext cx="4762500" cy="381000"/>
            <a:chOff x="0" y="0"/>
            <a:chExt cx="6350000" cy="508000"/>
          </a:xfrm>
        </p:grpSpPr>
        <p:sp>
          <p:nvSpPr>
            <p:cNvPr id="475" name="Freeform 205"/>
            <p:cNvSpPr/>
            <p:nvPr/>
          </p:nvSpPr>
          <p:spPr>
            <a:xfrm>
              <a:off x="0" y="0"/>
              <a:ext cx="6350000" cy="508000"/>
            </a:xfrm>
            <a:custGeom>
              <a:avLst/>
              <a:gdLst/>
              <a:ahLst/>
              <a:cxnLst/>
              <a:rect l="l" t="t" r="r" b="b"/>
              <a:pathLst>
                <a:path w="6350000" h="508000">
                  <a:moveTo>
                    <a:pt x="0" y="0"/>
                  </a:moveTo>
                  <a:lnTo>
                    <a:pt x="6350000" y="0"/>
                  </a:lnTo>
                  <a:lnTo>
                    <a:pt x="6350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7FAFC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6" name="TextBox 206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77" name="TextBox 207"/>
          <p:cNvSpPr txBox="1"/>
          <p:nvPr/>
        </p:nvSpPr>
        <p:spPr>
          <a:xfrm>
            <a:off x="7486650" y="551497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POLAR AI RAG Engine</a:t>
            </a:r>
          </a:p>
        </p:txBody>
      </p:sp>
      <p:sp>
        <p:nvSpPr>
          <p:cNvPr id="478" name="TextBox 208"/>
          <p:cNvSpPr txBox="1"/>
          <p:nvPr/>
        </p:nvSpPr>
        <p:spPr>
          <a:xfrm>
            <a:off x="9201150" y="5514975"/>
            <a:ext cx="2933700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t>Citation-grounded question answering with strict evidence verification</a:t>
            </a:r>
          </a:p>
        </p:txBody>
      </p:sp>
      <p:grpSp>
        <p:nvGrpSpPr>
          <p:cNvPr id="479" name="Group 209"/>
          <p:cNvGrpSpPr/>
          <p:nvPr/>
        </p:nvGrpSpPr>
        <p:grpSpPr>
          <a:xfrm>
            <a:off x="7429500" y="5857875"/>
            <a:ext cx="4762500" cy="381000"/>
            <a:chOff x="0" y="0"/>
            <a:chExt cx="6350000" cy="508000"/>
          </a:xfrm>
        </p:grpSpPr>
        <p:sp>
          <p:nvSpPr>
            <p:cNvPr id="480" name="Freeform 210"/>
            <p:cNvSpPr/>
            <p:nvPr/>
          </p:nvSpPr>
          <p:spPr>
            <a:xfrm>
              <a:off x="0" y="0"/>
              <a:ext cx="6350000" cy="508000"/>
            </a:xfrm>
            <a:custGeom>
              <a:avLst/>
              <a:gdLst/>
              <a:ahLst/>
              <a:cxnLst/>
              <a:rect l="l" t="t" r="r" b="b"/>
              <a:pathLst>
                <a:path w="6350000" h="508000">
                  <a:moveTo>
                    <a:pt x="0" y="0"/>
                  </a:moveTo>
                  <a:lnTo>
                    <a:pt x="6350000" y="0"/>
                  </a:lnTo>
                  <a:lnTo>
                    <a:pt x="6350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1" name="TextBox 211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82" name="TextBox 212"/>
          <p:cNvSpPr txBox="1"/>
          <p:nvPr/>
        </p:nvSpPr>
        <p:spPr>
          <a:xfrm>
            <a:off x="7486650" y="589597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Outreach Generator</a:t>
            </a:r>
          </a:p>
        </p:txBody>
      </p:sp>
      <p:sp>
        <p:nvSpPr>
          <p:cNvPr id="483" name="TextBox 213"/>
          <p:cNvSpPr txBox="1"/>
          <p:nvPr/>
        </p:nvSpPr>
        <p:spPr>
          <a:xfrm>
            <a:off x="9201150" y="5895975"/>
            <a:ext cx="2933700" cy="28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t>Multi-platform content synthesis: Web, Instagram, LinkedIn, Academy</a:t>
            </a:r>
          </a:p>
        </p:txBody>
      </p:sp>
      <p:grpSp>
        <p:nvGrpSpPr>
          <p:cNvPr id="484" name="Group 214"/>
          <p:cNvGrpSpPr/>
          <p:nvPr/>
        </p:nvGrpSpPr>
        <p:grpSpPr>
          <a:xfrm>
            <a:off x="7429500" y="6238875"/>
            <a:ext cx="4762500" cy="247650"/>
            <a:chOff x="0" y="0"/>
            <a:chExt cx="6350000" cy="330200"/>
          </a:xfrm>
        </p:grpSpPr>
        <p:sp>
          <p:nvSpPr>
            <p:cNvPr id="485" name="Freeform 215"/>
            <p:cNvSpPr/>
            <p:nvPr/>
          </p:nvSpPr>
          <p:spPr>
            <a:xfrm>
              <a:off x="0" y="0"/>
              <a:ext cx="6350000" cy="330200"/>
            </a:xfrm>
            <a:custGeom>
              <a:avLst/>
              <a:gdLst/>
              <a:ahLst/>
              <a:cxnLst/>
              <a:rect l="l" t="t" r="r" b="b"/>
              <a:pathLst>
                <a:path w="6350000" h="330200">
                  <a:moveTo>
                    <a:pt x="0" y="0"/>
                  </a:moveTo>
                  <a:lnTo>
                    <a:pt x="6350000" y="0"/>
                  </a:lnTo>
                  <a:lnTo>
                    <a:pt x="6350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DF4FA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6" name="TextBox 216"/>
            <p:cNvSpPr txBox="1"/>
            <p:nvPr/>
          </p:nvSpPr>
          <p:spPr>
            <a:xfrm>
              <a:off x="0" y="-38100"/>
              <a:ext cx="63500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87" name="TextBox 217"/>
          <p:cNvSpPr txBox="1"/>
          <p:nvPr/>
        </p:nvSpPr>
        <p:spPr>
          <a:xfrm>
            <a:off x="7486650" y="6238875"/>
            <a:ext cx="4648200" cy="184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Data &amp; Security</a:t>
            </a:r>
          </a:p>
        </p:txBody>
      </p:sp>
      <p:grpSp>
        <p:nvGrpSpPr>
          <p:cNvPr id="488" name="Group 218"/>
          <p:cNvGrpSpPr/>
          <p:nvPr/>
        </p:nvGrpSpPr>
        <p:grpSpPr>
          <a:xfrm>
            <a:off x="7429500" y="6486525"/>
            <a:ext cx="4762500" cy="304800"/>
            <a:chOff x="0" y="0"/>
            <a:chExt cx="6350000" cy="406400"/>
          </a:xfrm>
        </p:grpSpPr>
        <p:sp>
          <p:nvSpPr>
            <p:cNvPr id="489" name="Freeform 219"/>
            <p:cNvSpPr/>
            <p:nvPr/>
          </p:nvSpPr>
          <p:spPr>
            <a:xfrm>
              <a:off x="0" y="0"/>
              <a:ext cx="6350000" cy="406400"/>
            </a:xfrm>
            <a:custGeom>
              <a:avLst/>
              <a:gdLst/>
              <a:ahLst/>
              <a:cxnLst/>
              <a:rect l="l" t="t" r="r" b="b"/>
              <a:pathLst>
                <a:path w="6350000" h="406400">
                  <a:moveTo>
                    <a:pt x="0" y="0"/>
                  </a:moveTo>
                  <a:lnTo>
                    <a:pt x="6350000" y="0"/>
                  </a:lnTo>
                  <a:lnTo>
                    <a:pt x="6350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7FAFC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90" name="TextBox 220"/>
            <p:cNvSpPr txBox="1"/>
            <p:nvPr/>
          </p:nvSpPr>
          <p:spPr>
            <a:xfrm>
              <a:off x="0" y="-38100"/>
              <a:ext cx="6350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91" name="TextBox 221"/>
          <p:cNvSpPr txBox="1"/>
          <p:nvPr/>
        </p:nvSpPr>
        <p:spPr>
          <a:xfrm>
            <a:off x="7486650" y="652462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PostgreSQL + pgvector</a:t>
            </a:r>
          </a:p>
        </p:txBody>
      </p:sp>
      <p:sp>
        <p:nvSpPr>
          <p:cNvPr id="492" name="TextBox 222"/>
          <p:cNvSpPr txBox="1"/>
          <p:nvPr/>
        </p:nvSpPr>
        <p:spPr>
          <a:xfrm>
            <a:off x="9201150" y="6524625"/>
            <a:ext cx="29337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t>Unified relational storage &amp; high-performance vector similarity search</a:t>
            </a:r>
          </a:p>
        </p:txBody>
      </p:sp>
      <p:grpSp>
        <p:nvGrpSpPr>
          <p:cNvPr id="493" name="Group 223"/>
          <p:cNvGrpSpPr/>
          <p:nvPr/>
        </p:nvGrpSpPr>
        <p:grpSpPr>
          <a:xfrm>
            <a:off x="7429500" y="6791325"/>
            <a:ext cx="4762500" cy="381000"/>
            <a:chOff x="0" y="0"/>
            <a:chExt cx="6350000" cy="508000"/>
          </a:xfrm>
        </p:grpSpPr>
        <p:sp>
          <p:nvSpPr>
            <p:cNvPr id="494" name="Freeform 224"/>
            <p:cNvSpPr/>
            <p:nvPr/>
          </p:nvSpPr>
          <p:spPr>
            <a:xfrm>
              <a:off x="0" y="0"/>
              <a:ext cx="6350000" cy="508000"/>
            </a:xfrm>
            <a:custGeom>
              <a:avLst/>
              <a:gdLst/>
              <a:ahLst/>
              <a:cxnLst/>
              <a:rect l="l" t="t" r="r" b="b"/>
              <a:pathLst>
                <a:path w="6350000" h="508000">
                  <a:moveTo>
                    <a:pt x="0" y="0"/>
                  </a:moveTo>
                  <a:lnTo>
                    <a:pt x="6350000" y="0"/>
                  </a:lnTo>
                  <a:lnTo>
                    <a:pt x="6350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95" name="TextBox 225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96" name="TextBox 226"/>
          <p:cNvSpPr txBox="1"/>
          <p:nvPr/>
        </p:nvSpPr>
        <p:spPr>
          <a:xfrm>
            <a:off x="7486650" y="682942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JWT + PBKDF2 / Bcrypt</a:t>
            </a:r>
          </a:p>
        </p:txBody>
      </p:sp>
      <p:sp>
        <p:nvSpPr>
          <p:cNvPr id="497" name="TextBox 227"/>
          <p:cNvSpPr txBox="1"/>
          <p:nvPr/>
        </p:nvSpPr>
        <p:spPr>
          <a:xfrm>
            <a:off x="9201150" y="6829425"/>
            <a:ext cx="29337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t>Secure authentication with granular RBAC: Public, Researcher, Editor, Admin</a:t>
            </a:r>
          </a:p>
        </p:txBody>
      </p:sp>
      <p:grpSp>
        <p:nvGrpSpPr>
          <p:cNvPr id="498" name="Group 228"/>
          <p:cNvGrpSpPr/>
          <p:nvPr/>
        </p:nvGrpSpPr>
        <p:grpSpPr>
          <a:xfrm>
            <a:off x="7429500" y="7172325"/>
            <a:ext cx="4762500" cy="381000"/>
            <a:chOff x="0" y="0"/>
            <a:chExt cx="6350000" cy="508000"/>
          </a:xfrm>
        </p:grpSpPr>
        <p:sp>
          <p:nvSpPr>
            <p:cNvPr id="499" name="Freeform 229"/>
            <p:cNvSpPr/>
            <p:nvPr/>
          </p:nvSpPr>
          <p:spPr>
            <a:xfrm>
              <a:off x="0" y="0"/>
              <a:ext cx="6350000" cy="508000"/>
            </a:xfrm>
            <a:custGeom>
              <a:avLst/>
              <a:gdLst/>
              <a:ahLst/>
              <a:cxnLst/>
              <a:rect l="l" t="t" r="r" b="b"/>
              <a:pathLst>
                <a:path w="6350000" h="508000">
                  <a:moveTo>
                    <a:pt x="0" y="0"/>
                  </a:moveTo>
                  <a:lnTo>
                    <a:pt x="6350000" y="0"/>
                  </a:lnTo>
                  <a:lnTo>
                    <a:pt x="6350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7FAFC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0" name="TextBox 230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01" name="TextBox 231"/>
          <p:cNvSpPr txBox="1"/>
          <p:nvPr/>
        </p:nvSpPr>
        <p:spPr>
          <a:xfrm>
            <a:off x="7486650" y="721042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Role-Based Access (RBAC)</a:t>
            </a:r>
          </a:p>
        </p:txBody>
      </p:sp>
      <p:sp>
        <p:nvSpPr>
          <p:cNvPr id="502" name="TextBox 232"/>
          <p:cNvSpPr txBox="1"/>
          <p:nvPr/>
        </p:nvSpPr>
        <p:spPr>
          <a:xfrm>
            <a:off x="9201150" y="7210425"/>
            <a:ext cx="29337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t>Granular permissions protecting unreleased datasets &amp; editorial workflows</a:t>
            </a:r>
          </a:p>
        </p:txBody>
      </p:sp>
      <p:grpSp>
        <p:nvGrpSpPr>
          <p:cNvPr id="503" name="Group 233"/>
          <p:cNvGrpSpPr/>
          <p:nvPr/>
        </p:nvGrpSpPr>
        <p:grpSpPr>
          <a:xfrm>
            <a:off x="7429500" y="7553325"/>
            <a:ext cx="4762500" cy="304800"/>
            <a:chOff x="0" y="0"/>
            <a:chExt cx="6350000" cy="406400"/>
          </a:xfrm>
        </p:grpSpPr>
        <p:sp>
          <p:nvSpPr>
            <p:cNvPr id="504" name="Freeform 234"/>
            <p:cNvSpPr/>
            <p:nvPr/>
          </p:nvSpPr>
          <p:spPr>
            <a:xfrm>
              <a:off x="0" y="0"/>
              <a:ext cx="6350000" cy="406400"/>
            </a:xfrm>
            <a:custGeom>
              <a:avLst/>
              <a:gdLst/>
              <a:ahLst/>
              <a:cxnLst/>
              <a:rect l="l" t="t" r="r" b="b"/>
              <a:pathLst>
                <a:path w="6350000" h="406400">
                  <a:moveTo>
                    <a:pt x="0" y="0"/>
                  </a:moveTo>
                  <a:lnTo>
                    <a:pt x="6350000" y="0"/>
                  </a:lnTo>
                  <a:lnTo>
                    <a:pt x="6350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5" name="TextBox 235"/>
            <p:cNvSpPr txBox="1"/>
            <p:nvPr/>
          </p:nvSpPr>
          <p:spPr>
            <a:xfrm>
              <a:off x="0" y="-38100"/>
              <a:ext cx="6350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06" name="TextBox 236"/>
          <p:cNvSpPr txBox="1"/>
          <p:nvPr/>
        </p:nvSpPr>
        <p:spPr>
          <a:xfrm>
            <a:off x="7486650" y="759142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Audit Logging</a:t>
            </a:r>
          </a:p>
        </p:txBody>
      </p:sp>
      <p:sp>
        <p:nvSpPr>
          <p:cNvPr id="507" name="TextBox 237"/>
          <p:cNvSpPr txBox="1"/>
          <p:nvPr/>
        </p:nvSpPr>
        <p:spPr>
          <a:xfrm>
            <a:off x="9201150" y="7591425"/>
            <a:ext cx="29337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t>Tamper-evident logs of all content edits, approvals &amp; dataset downloads</a:t>
            </a:r>
          </a:p>
        </p:txBody>
      </p:sp>
      <p:grpSp>
        <p:nvGrpSpPr>
          <p:cNvPr id="508" name="Group 238"/>
          <p:cNvGrpSpPr/>
          <p:nvPr/>
        </p:nvGrpSpPr>
        <p:grpSpPr>
          <a:xfrm>
            <a:off x="7429500" y="7858125"/>
            <a:ext cx="4762500" cy="247650"/>
            <a:chOff x="0" y="0"/>
            <a:chExt cx="6350000" cy="330200"/>
          </a:xfrm>
        </p:grpSpPr>
        <p:sp>
          <p:nvSpPr>
            <p:cNvPr id="509" name="Freeform 239"/>
            <p:cNvSpPr/>
            <p:nvPr/>
          </p:nvSpPr>
          <p:spPr>
            <a:xfrm>
              <a:off x="0" y="0"/>
              <a:ext cx="6350000" cy="330200"/>
            </a:xfrm>
            <a:custGeom>
              <a:avLst/>
              <a:gdLst/>
              <a:ahLst/>
              <a:cxnLst/>
              <a:rect l="l" t="t" r="r" b="b"/>
              <a:pathLst>
                <a:path w="6350000" h="330200">
                  <a:moveTo>
                    <a:pt x="0" y="0"/>
                  </a:moveTo>
                  <a:lnTo>
                    <a:pt x="6350000" y="0"/>
                  </a:lnTo>
                  <a:lnTo>
                    <a:pt x="6350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DF4FA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0" name="TextBox 240"/>
            <p:cNvSpPr txBox="1"/>
            <p:nvPr/>
          </p:nvSpPr>
          <p:spPr>
            <a:xfrm>
              <a:off x="0" y="-38100"/>
              <a:ext cx="63500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11" name="TextBox 241"/>
          <p:cNvSpPr txBox="1"/>
          <p:nvPr/>
        </p:nvSpPr>
        <p:spPr>
          <a:xfrm>
            <a:off x="7486650" y="7858125"/>
            <a:ext cx="4648200" cy="184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Storage &amp; Cloud Deployment</a:t>
            </a:r>
          </a:p>
        </p:txBody>
      </p:sp>
      <p:grpSp>
        <p:nvGrpSpPr>
          <p:cNvPr id="512" name="Group 242"/>
          <p:cNvGrpSpPr/>
          <p:nvPr/>
        </p:nvGrpSpPr>
        <p:grpSpPr>
          <a:xfrm>
            <a:off x="7429500" y="8105775"/>
            <a:ext cx="4762500" cy="304800"/>
            <a:chOff x="0" y="0"/>
            <a:chExt cx="6350000" cy="406400"/>
          </a:xfrm>
        </p:grpSpPr>
        <p:sp>
          <p:nvSpPr>
            <p:cNvPr id="513" name="Freeform 243"/>
            <p:cNvSpPr/>
            <p:nvPr/>
          </p:nvSpPr>
          <p:spPr>
            <a:xfrm>
              <a:off x="0" y="0"/>
              <a:ext cx="6350000" cy="406400"/>
            </a:xfrm>
            <a:custGeom>
              <a:avLst/>
              <a:gdLst/>
              <a:ahLst/>
              <a:cxnLst/>
              <a:rect l="l" t="t" r="r" b="b"/>
              <a:pathLst>
                <a:path w="6350000" h="406400">
                  <a:moveTo>
                    <a:pt x="0" y="0"/>
                  </a:moveTo>
                  <a:lnTo>
                    <a:pt x="6350000" y="0"/>
                  </a:lnTo>
                  <a:lnTo>
                    <a:pt x="6350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7FAFC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4" name="TextBox 244"/>
            <p:cNvSpPr txBox="1"/>
            <p:nvPr/>
          </p:nvSpPr>
          <p:spPr>
            <a:xfrm>
              <a:off x="0" y="-38100"/>
              <a:ext cx="6350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15" name="TextBox 245"/>
          <p:cNvSpPr txBox="1"/>
          <p:nvPr/>
        </p:nvSpPr>
        <p:spPr>
          <a:xfrm>
            <a:off x="7486650" y="814387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MinIO / S3 Storage</a:t>
            </a:r>
          </a:p>
        </p:txBody>
      </p:sp>
      <p:sp>
        <p:nvSpPr>
          <p:cNvPr id="516" name="TextBox 246"/>
          <p:cNvSpPr txBox="1"/>
          <p:nvPr/>
        </p:nvSpPr>
        <p:spPr>
          <a:xfrm>
            <a:off x="9201150" y="8143875"/>
            <a:ext cx="29337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t>Scalable object store for expedition high-res imagery, video logs &amp; raw datasets</a:t>
            </a:r>
          </a:p>
        </p:txBody>
      </p:sp>
      <p:grpSp>
        <p:nvGrpSpPr>
          <p:cNvPr id="517" name="Group 247"/>
          <p:cNvGrpSpPr/>
          <p:nvPr/>
        </p:nvGrpSpPr>
        <p:grpSpPr>
          <a:xfrm>
            <a:off x="7429500" y="8410575"/>
            <a:ext cx="4762500" cy="381000"/>
            <a:chOff x="0" y="0"/>
            <a:chExt cx="6350000" cy="508000"/>
          </a:xfrm>
        </p:grpSpPr>
        <p:sp>
          <p:nvSpPr>
            <p:cNvPr id="518" name="Freeform 248"/>
            <p:cNvSpPr/>
            <p:nvPr/>
          </p:nvSpPr>
          <p:spPr>
            <a:xfrm>
              <a:off x="0" y="0"/>
              <a:ext cx="6350000" cy="508000"/>
            </a:xfrm>
            <a:custGeom>
              <a:avLst/>
              <a:gdLst/>
              <a:ahLst/>
              <a:cxnLst/>
              <a:rect l="l" t="t" r="r" b="b"/>
              <a:pathLst>
                <a:path w="6350000" h="508000">
                  <a:moveTo>
                    <a:pt x="0" y="0"/>
                  </a:moveTo>
                  <a:lnTo>
                    <a:pt x="6350000" y="0"/>
                  </a:lnTo>
                  <a:lnTo>
                    <a:pt x="6350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9" name="TextBox 249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20" name="TextBox 250"/>
          <p:cNvSpPr txBox="1"/>
          <p:nvPr/>
        </p:nvSpPr>
        <p:spPr>
          <a:xfrm>
            <a:off x="7486650" y="844867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Recharts Analytics</a:t>
            </a:r>
          </a:p>
        </p:txBody>
      </p:sp>
      <p:sp>
        <p:nvSpPr>
          <p:cNvPr id="521" name="TextBox 251"/>
          <p:cNvSpPr txBox="1"/>
          <p:nvPr/>
        </p:nvSpPr>
        <p:spPr>
          <a:xfrm>
            <a:off x="9201150" y="8448675"/>
            <a:ext cx="2933700" cy="28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t>Interactive visualization of polar dataset trends, publications &amp; outreach metrics</a:t>
            </a:r>
          </a:p>
        </p:txBody>
      </p:sp>
      <p:grpSp>
        <p:nvGrpSpPr>
          <p:cNvPr id="522" name="Group 252"/>
          <p:cNvGrpSpPr/>
          <p:nvPr/>
        </p:nvGrpSpPr>
        <p:grpSpPr>
          <a:xfrm>
            <a:off x="7429500" y="8791575"/>
            <a:ext cx="4762500" cy="304800"/>
            <a:chOff x="0" y="0"/>
            <a:chExt cx="6350000" cy="406400"/>
          </a:xfrm>
        </p:grpSpPr>
        <p:sp>
          <p:nvSpPr>
            <p:cNvPr id="523" name="Freeform 253"/>
            <p:cNvSpPr/>
            <p:nvPr/>
          </p:nvSpPr>
          <p:spPr>
            <a:xfrm>
              <a:off x="0" y="0"/>
              <a:ext cx="6350000" cy="406400"/>
            </a:xfrm>
            <a:custGeom>
              <a:avLst/>
              <a:gdLst/>
              <a:ahLst/>
              <a:cxnLst/>
              <a:rect l="l" t="t" r="r" b="b"/>
              <a:pathLst>
                <a:path w="6350000" h="406400">
                  <a:moveTo>
                    <a:pt x="0" y="0"/>
                  </a:moveTo>
                  <a:lnTo>
                    <a:pt x="6350000" y="0"/>
                  </a:lnTo>
                  <a:lnTo>
                    <a:pt x="6350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7FAFC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4" name="TextBox 254"/>
            <p:cNvSpPr txBox="1"/>
            <p:nvPr/>
          </p:nvSpPr>
          <p:spPr>
            <a:xfrm>
              <a:off x="0" y="-38100"/>
              <a:ext cx="6350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25" name="TextBox 255"/>
          <p:cNvSpPr txBox="1"/>
          <p:nvPr/>
        </p:nvSpPr>
        <p:spPr>
          <a:xfrm>
            <a:off x="7486650" y="882967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Docker &amp; Compose</a:t>
            </a:r>
          </a:p>
        </p:txBody>
      </p:sp>
      <p:sp>
        <p:nvSpPr>
          <p:cNvPr id="526" name="TextBox 256"/>
          <p:cNvSpPr txBox="1"/>
          <p:nvPr/>
        </p:nvSpPr>
        <p:spPr>
          <a:xfrm>
            <a:off x="9201150" y="8829675"/>
            <a:ext cx="29337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t>Containerized, reproducible one-command deployment across cloud &amp; on-premise</a:t>
            </a:r>
          </a:p>
        </p:txBody>
      </p:sp>
      <p:grpSp>
        <p:nvGrpSpPr>
          <p:cNvPr id="527" name="Group 257"/>
          <p:cNvGrpSpPr/>
          <p:nvPr/>
        </p:nvGrpSpPr>
        <p:grpSpPr>
          <a:xfrm>
            <a:off x="7429500" y="9096375"/>
            <a:ext cx="4762500" cy="304800"/>
            <a:chOff x="0" y="0"/>
            <a:chExt cx="6350000" cy="406400"/>
          </a:xfrm>
        </p:grpSpPr>
        <p:sp>
          <p:nvSpPr>
            <p:cNvPr id="528" name="Freeform 258"/>
            <p:cNvSpPr/>
            <p:nvPr/>
          </p:nvSpPr>
          <p:spPr>
            <a:xfrm>
              <a:off x="0" y="0"/>
              <a:ext cx="6350000" cy="406400"/>
            </a:xfrm>
            <a:custGeom>
              <a:avLst/>
              <a:gdLst/>
              <a:ahLst/>
              <a:cxnLst/>
              <a:rect l="l" t="t" r="r" b="b"/>
              <a:pathLst>
                <a:path w="6350000" h="406400">
                  <a:moveTo>
                    <a:pt x="0" y="0"/>
                  </a:moveTo>
                  <a:lnTo>
                    <a:pt x="6350000" y="0"/>
                  </a:lnTo>
                  <a:lnTo>
                    <a:pt x="6350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9" name="TextBox 259"/>
            <p:cNvSpPr txBox="1"/>
            <p:nvPr/>
          </p:nvSpPr>
          <p:spPr>
            <a:xfrm>
              <a:off x="0" y="-38100"/>
              <a:ext cx="6350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30" name="TextBox 260"/>
          <p:cNvSpPr txBox="1"/>
          <p:nvPr/>
        </p:nvSpPr>
        <p:spPr>
          <a:xfrm>
            <a:off x="7486650" y="913447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Git CI/CD</a:t>
            </a:r>
          </a:p>
        </p:txBody>
      </p:sp>
      <p:sp>
        <p:nvSpPr>
          <p:cNvPr id="531" name="TextBox 261"/>
          <p:cNvSpPr txBox="1"/>
          <p:nvPr/>
        </p:nvSpPr>
        <p:spPr>
          <a:xfrm>
            <a:off x="9201150" y="9134475"/>
            <a:ext cx="29337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t>Automated testing, version control, and multi-stage container builds</a:t>
            </a:r>
          </a:p>
        </p:txBody>
      </p:sp>
      <p:sp>
        <p:nvSpPr>
          <p:cNvPr id="532" name="AutoShape 262"/>
          <p:cNvSpPr/>
          <p:nvPr/>
        </p:nvSpPr>
        <p:spPr>
          <a:xfrm>
            <a:off x="9144000" y="962025"/>
            <a:ext cx="0" cy="8439150"/>
          </a:xfrm>
          <a:prstGeom prst="line">
            <a:avLst/>
          </a:prstGeom>
          <a:ln w="9525" cap="flat">
            <a:solidFill>
              <a:srgbClr val="D6E0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33" name="AutoShape 263"/>
          <p:cNvSpPr/>
          <p:nvPr/>
        </p:nvSpPr>
        <p:spPr>
          <a:xfrm>
            <a:off x="3429000" y="1409700"/>
            <a:ext cx="0" cy="3810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534" name="AutoShape 264"/>
          <p:cNvSpPr/>
          <p:nvPr/>
        </p:nvSpPr>
        <p:spPr>
          <a:xfrm>
            <a:off x="4857750" y="9229725"/>
            <a:ext cx="1619250" cy="0"/>
          </a:xfrm>
          <a:prstGeom prst="line">
            <a:avLst/>
          </a:prstGeom>
          <a:ln w="19050" cap="flat">
            <a:solidFill>
              <a:srgbClr val="18324B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35" name="AutoShape 265"/>
          <p:cNvSpPr/>
          <p:nvPr/>
        </p:nvSpPr>
        <p:spPr>
          <a:xfrm flipV="1">
            <a:off x="6477000" y="7391400"/>
            <a:ext cx="0" cy="1838325"/>
          </a:xfrm>
          <a:prstGeom prst="line">
            <a:avLst/>
          </a:prstGeom>
          <a:ln w="19050" cap="flat">
            <a:solidFill>
              <a:srgbClr val="18324B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36" name="AutoShape 266"/>
          <p:cNvSpPr/>
          <p:nvPr/>
        </p:nvSpPr>
        <p:spPr>
          <a:xfrm flipH="1">
            <a:off x="4857750" y="7391400"/>
            <a:ext cx="1619250" cy="0"/>
          </a:xfrm>
          <a:prstGeom prst="line">
            <a:avLst/>
          </a:prstGeom>
          <a:ln w="19050" cap="flat">
            <a:solidFill>
              <a:srgbClr val="18324B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537" name="AutoShape 267"/>
          <p:cNvSpPr/>
          <p:nvPr/>
        </p:nvSpPr>
        <p:spPr>
          <a:xfrm>
            <a:off x="3429000" y="1832611"/>
            <a:ext cx="0" cy="548640"/>
          </a:xfrm>
          <a:prstGeom prst="line">
            <a:avLst/>
          </a:prstGeom>
          <a:ln w="19050" cap="flat">
            <a:solidFill>
              <a:srgbClr val="18324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538" name="Freeform 268"/>
          <p:cNvSpPr/>
          <p:nvPr/>
        </p:nvSpPr>
        <p:spPr>
          <a:xfrm>
            <a:off x="12360412" y="1306592"/>
            <a:ext cx="5927588" cy="3869522"/>
          </a:xfrm>
          <a:custGeom>
            <a:avLst/>
            <a:gdLst/>
            <a:ahLst/>
            <a:cxnLst/>
            <a:rect l="l" t="t" r="r" b="b"/>
            <a:pathLst>
              <a:path w="5927588" h="3869522">
                <a:moveTo>
                  <a:pt x="0" y="0"/>
                </a:moveTo>
                <a:lnTo>
                  <a:pt x="5927588" y="0"/>
                </a:lnTo>
                <a:lnTo>
                  <a:pt x="5927588" y="3869522"/>
                </a:lnTo>
                <a:lnTo>
                  <a:pt x="0" y="386952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t="-1623" b="-235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39" name="TextBox 269"/>
          <p:cNvSpPr txBox="1"/>
          <p:nvPr/>
        </p:nvSpPr>
        <p:spPr>
          <a:xfrm>
            <a:off x="13255371" y="5344160"/>
            <a:ext cx="457200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Fig 1: "POLARIS Interactive Polar Station Explorer &amp; Geospatial GIS"</a:t>
            </a:r>
          </a:p>
        </p:txBody>
      </p:sp>
      <p:sp>
        <p:nvSpPr>
          <p:cNvPr id="540" name="Freeform 270"/>
          <p:cNvSpPr/>
          <p:nvPr/>
        </p:nvSpPr>
        <p:spPr>
          <a:xfrm>
            <a:off x="12360413" y="5596255"/>
            <a:ext cx="5927588" cy="3850697"/>
          </a:xfrm>
          <a:custGeom>
            <a:avLst/>
            <a:gdLst/>
            <a:ahLst/>
            <a:cxnLst/>
            <a:rect l="l" t="t" r="r" b="b"/>
            <a:pathLst>
              <a:path w="6010275" h="3850697">
                <a:moveTo>
                  <a:pt x="0" y="0"/>
                </a:moveTo>
                <a:lnTo>
                  <a:pt x="6010275" y="0"/>
                </a:lnTo>
                <a:lnTo>
                  <a:pt x="6010275" y="3850697"/>
                </a:lnTo>
                <a:lnTo>
                  <a:pt x="0" y="385069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2874" t="-5931" r="-2377" b="-536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41" name="TextBox 271"/>
          <p:cNvSpPr txBox="1"/>
          <p:nvPr/>
        </p:nvSpPr>
        <p:spPr>
          <a:xfrm>
            <a:off x="13335000" y="9663832"/>
            <a:ext cx="457200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Fig 2: "POLARIS Citation-Grounded RAG Assistant &amp; Outreach Studio"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02B575-147E-0017-3E1D-1579863FF5BC}"/>
              </a:ext>
            </a:extLst>
          </p:cNvPr>
          <p:cNvSpPr txBox="1"/>
          <p:nvPr/>
        </p:nvSpPr>
        <p:spPr>
          <a:xfrm>
            <a:off x="663880" y="263047"/>
            <a:ext cx="16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Freeform 14" descr="Your startup LOGO">
            <a:extLst>
              <a:ext uri="{FF2B5EF4-FFF2-40B4-BE49-F238E27FC236}">
                <a16:creationId xmlns:a16="http://schemas.microsoft.com/office/drawing/2014/main" id="{B8FA48A1-86CB-1FC8-B9F9-020D17B9EA5D}"/>
              </a:ext>
            </a:extLst>
          </p:cNvPr>
          <p:cNvSpPr/>
          <p:nvPr/>
        </p:nvSpPr>
        <p:spPr>
          <a:xfrm>
            <a:off x="106594" y="22117"/>
            <a:ext cx="2010619" cy="685111"/>
          </a:xfrm>
          <a:custGeom>
            <a:avLst/>
            <a:gdLst/>
            <a:ahLst/>
            <a:cxnLst/>
            <a:rect l="l" t="t" r="r" b="b"/>
            <a:pathLst>
              <a:path w="2303431" h="1004506">
                <a:moveTo>
                  <a:pt x="0" y="0"/>
                </a:moveTo>
                <a:lnTo>
                  <a:pt x="2303431" y="0"/>
                </a:lnTo>
                <a:lnTo>
                  <a:pt x="2303431" y="1004507"/>
                </a:lnTo>
                <a:lnTo>
                  <a:pt x="0" y="1004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15">
            <a:extLst>
              <a:ext uri="{FF2B5EF4-FFF2-40B4-BE49-F238E27FC236}">
                <a16:creationId xmlns:a16="http://schemas.microsoft.com/office/drawing/2014/main" id="{5A348220-17DC-8133-4AC8-21270077DE89}"/>
              </a:ext>
            </a:extLst>
          </p:cNvPr>
          <p:cNvGrpSpPr/>
          <p:nvPr/>
        </p:nvGrpSpPr>
        <p:grpSpPr>
          <a:xfrm>
            <a:off x="147957" y="-5125"/>
            <a:ext cx="1985643" cy="694817"/>
            <a:chOff x="0" y="0"/>
            <a:chExt cx="3033090" cy="1358316"/>
          </a:xfrm>
        </p:grpSpPr>
        <p:sp>
          <p:nvSpPr>
            <p:cNvPr id="5" name="Freeform 16">
              <a:extLst>
                <a:ext uri="{FF2B5EF4-FFF2-40B4-BE49-F238E27FC236}">
                  <a16:creationId xmlns:a16="http://schemas.microsoft.com/office/drawing/2014/main" id="{25DEC676-0EA0-B914-76DA-5D14949C4FE4}"/>
                </a:ext>
              </a:extLst>
            </p:cNvPr>
            <p:cNvSpPr/>
            <p:nvPr/>
          </p:nvSpPr>
          <p:spPr>
            <a:xfrm>
              <a:off x="0" y="0"/>
              <a:ext cx="3033091" cy="1358315"/>
            </a:xfrm>
            <a:custGeom>
              <a:avLst/>
              <a:gdLst/>
              <a:ahLst/>
              <a:cxnLst/>
              <a:rect l="l" t="t" r="r" b="b"/>
              <a:pathLst>
                <a:path w="3033091" h="1358315">
                  <a:moveTo>
                    <a:pt x="0" y="0"/>
                  </a:moveTo>
                  <a:lnTo>
                    <a:pt x="3033091" y="0"/>
                  </a:lnTo>
                  <a:lnTo>
                    <a:pt x="3033091" y="1358315"/>
                  </a:lnTo>
                  <a:lnTo>
                    <a:pt x="0" y="13583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458" r="-74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17">
              <a:extLst>
                <a:ext uri="{FF2B5EF4-FFF2-40B4-BE49-F238E27FC236}">
                  <a16:creationId xmlns:a16="http://schemas.microsoft.com/office/drawing/2014/main" id="{D3BE97EB-B601-9430-33BB-67693570CC77}"/>
                </a:ext>
              </a:extLst>
            </p:cNvPr>
            <p:cNvSpPr txBox="1"/>
            <p:nvPr/>
          </p:nvSpPr>
          <p:spPr>
            <a:xfrm>
              <a:off x="0" y="-57150"/>
              <a:ext cx="3033090" cy="1415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t>TBD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095500" y="66675"/>
            <a:ext cx="14097000" cy="505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FEASIBILITY AND VIABILITY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42900" y="876300"/>
            <a:ext cx="17602200" cy="9525"/>
            <a:chOff x="0" y="0"/>
            <a:chExt cx="23469600" cy="12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469600" cy="12700"/>
            </a:xfrm>
            <a:custGeom>
              <a:avLst/>
              <a:gdLst/>
              <a:ahLst/>
              <a:cxnLst/>
              <a:rect l="l" t="t" r="r" b="b"/>
              <a:pathLst>
                <a:path w="23469600" h="12700">
                  <a:moveTo>
                    <a:pt x="0" y="0"/>
                  </a:moveTo>
                  <a:lnTo>
                    <a:pt x="23469600" y="0"/>
                  </a:lnTo>
                  <a:lnTo>
                    <a:pt x="23469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9E1E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34696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42900" y="1466850"/>
            <a:ext cx="5715000" cy="8439150"/>
            <a:chOff x="0" y="0"/>
            <a:chExt cx="7620000" cy="11252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620000" cy="11252200"/>
            </a:xfrm>
            <a:custGeom>
              <a:avLst/>
              <a:gdLst/>
              <a:ahLst/>
              <a:cxnLst/>
              <a:rect l="l" t="t" r="r" b="b"/>
              <a:pathLst>
                <a:path w="7620000" h="11252200">
                  <a:moveTo>
                    <a:pt x="101600" y="0"/>
                  </a:moveTo>
                  <a:lnTo>
                    <a:pt x="7518400" y="0"/>
                  </a:lnTo>
                  <a:cubicBezTo>
                    <a:pt x="7574512" y="0"/>
                    <a:pt x="7620000" y="45488"/>
                    <a:pt x="7620000" y="101600"/>
                  </a:cubicBezTo>
                  <a:lnTo>
                    <a:pt x="7620000" y="11150600"/>
                  </a:lnTo>
                  <a:cubicBezTo>
                    <a:pt x="7620000" y="11206712"/>
                    <a:pt x="7574512" y="11252200"/>
                    <a:pt x="7518400" y="11252200"/>
                  </a:cubicBezTo>
                  <a:lnTo>
                    <a:pt x="101600" y="11252200"/>
                  </a:lnTo>
                  <a:cubicBezTo>
                    <a:pt x="45488" y="11252200"/>
                    <a:pt x="0" y="11206712"/>
                    <a:pt x="0" y="111506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3F7FA"/>
            </a:solidFill>
            <a:ln w="9525" cap="sq">
              <a:solidFill>
                <a:srgbClr val="C9D7E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620000" cy="11290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14350" y="1600200"/>
            <a:ext cx="5372100" cy="292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2000" b="1" dirty="0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FEASIBILITY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286500" y="1466850"/>
            <a:ext cx="5715000" cy="8439150"/>
            <a:chOff x="0" y="0"/>
            <a:chExt cx="7620000" cy="11252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00" cy="11252200"/>
            </a:xfrm>
            <a:custGeom>
              <a:avLst/>
              <a:gdLst/>
              <a:ahLst/>
              <a:cxnLst/>
              <a:rect l="l" t="t" r="r" b="b"/>
              <a:pathLst>
                <a:path w="7620000" h="11252200">
                  <a:moveTo>
                    <a:pt x="101600" y="0"/>
                  </a:moveTo>
                  <a:lnTo>
                    <a:pt x="7518400" y="0"/>
                  </a:lnTo>
                  <a:cubicBezTo>
                    <a:pt x="7574512" y="0"/>
                    <a:pt x="7620000" y="45488"/>
                    <a:pt x="7620000" y="101600"/>
                  </a:cubicBezTo>
                  <a:lnTo>
                    <a:pt x="7620000" y="11150600"/>
                  </a:lnTo>
                  <a:cubicBezTo>
                    <a:pt x="7620000" y="11206712"/>
                    <a:pt x="7574512" y="11252200"/>
                    <a:pt x="7518400" y="11252200"/>
                  </a:cubicBezTo>
                  <a:lnTo>
                    <a:pt x="101600" y="11252200"/>
                  </a:lnTo>
                  <a:cubicBezTo>
                    <a:pt x="45488" y="11252200"/>
                    <a:pt x="0" y="11206712"/>
                    <a:pt x="0" y="111506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3F8F4"/>
            </a:solidFill>
            <a:ln w="9525" cap="sq">
              <a:solidFill>
                <a:srgbClr val="CBDCCC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00" cy="11290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457950" y="1600200"/>
            <a:ext cx="5372100" cy="292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2000" b="1" dirty="0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VIABILITY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230100" y="1466850"/>
            <a:ext cx="5715000" cy="8439150"/>
            <a:chOff x="0" y="0"/>
            <a:chExt cx="7620000" cy="11252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620000" cy="11252200"/>
            </a:xfrm>
            <a:custGeom>
              <a:avLst/>
              <a:gdLst/>
              <a:ahLst/>
              <a:cxnLst/>
              <a:rect l="l" t="t" r="r" b="b"/>
              <a:pathLst>
                <a:path w="7620000" h="11252200">
                  <a:moveTo>
                    <a:pt x="101600" y="0"/>
                  </a:moveTo>
                  <a:lnTo>
                    <a:pt x="7518400" y="0"/>
                  </a:lnTo>
                  <a:cubicBezTo>
                    <a:pt x="7574512" y="0"/>
                    <a:pt x="7620000" y="45488"/>
                    <a:pt x="7620000" y="101600"/>
                  </a:cubicBezTo>
                  <a:lnTo>
                    <a:pt x="7620000" y="11150600"/>
                  </a:lnTo>
                  <a:cubicBezTo>
                    <a:pt x="7620000" y="11206712"/>
                    <a:pt x="7574512" y="11252200"/>
                    <a:pt x="7518400" y="11252200"/>
                  </a:cubicBezTo>
                  <a:lnTo>
                    <a:pt x="101600" y="11252200"/>
                  </a:lnTo>
                  <a:cubicBezTo>
                    <a:pt x="45488" y="11252200"/>
                    <a:pt x="0" y="11206712"/>
                    <a:pt x="0" y="111506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8F8"/>
            </a:solidFill>
            <a:ln w="9525" cap="sq">
              <a:solidFill>
                <a:srgbClr val="EAD1D1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7620000" cy="11290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401550" y="1600200"/>
            <a:ext cx="5372100" cy="292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2000" b="1" dirty="0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POTENTIAL CHALLENGES &amp; MITIGATIONS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14350" y="2133600"/>
            <a:ext cx="5372100" cy="2057400"/>
            <a:chOff x="0" y="0"/>
            <a:chExt cx="7162800" cy="2743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162800" cy="2743200"/>
            </a:xfrm>
            <a:custGeom>
              <a:avLst/>
              <a:gdLst/>
              <a:ahLst/>
              <a:cxnLst/>
              <a:rect l="l" t="t" r="r" b="b"/>
              <a:pathLst>
                <a:path w="7162800" h="27432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6753"/>
                    <a:pt x="7162800" y="82091"/>
                  </a:cubicBezTo>
                  <a:lnTo>
                    <a:pt x="7162800" y="2661109"/>
                  </a:lnTo>
                  <a:cubicBezTo>
                    <a:pt x="7162800" y="2706447"/>
                    <a:pt x="7128684" y="2743200"/>
                    <a:pt x="7086600" y="2743200"/>
                  </a:cubicBezTo>
                  <a:lnTo>
                    <a:pt x="76200" y="2743200"/>
                  </a:lnTo>
                  <a:cubicBezTo>
                    <a:pt x="34116" y="2743200"/>
                    <a:pt x="0" y="2706447"/>
                    <a:pt x="0" y="2661109"/>
                  </a:cubicBezTo>
                  <a:lnTo>
                    <a:pt x="0" y="82091"/>
                  </a:lnTo>
                  <a:cubicBezTo>
                    <a:pt x="0" y="36753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7162800" cy="278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47750" y="2238375"/>
            <a:ext cx="4667250" cy="260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b="1" dirty="0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TECHNICAL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5800" y="2638425"/>
            <a:ext cx="5029200" cy="1393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Technical Feasibility: Built using proven open-source technologies: FastAPI, Next.js, PostgreSQL/pgvector, Leaflet, and PyMuPDF.</a:t>
            </a:r>
          </a:p>
          <a:p>
            <a:r>
              <a:t>Data Pipeline: Ingests legacy expedition archives, PDFs, sensor CSVs, and NetCDF grids via DataCite &amp; Dublin Core standards.</a:t>
            </a:r>
          </a:p>
          <a:p>
            <a:r>
              <a:t>Modular Architecture: Decoupled services (Repository, RAG, Station GIS, Outreach Studio) allow independent scaling.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14350" y="4305300"/>
            <a:ext cx="5372100" cy="1752600"/>
            <a:chOff x="0" y="0"/>
            <a:chExt cx="7162800" cy="2336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47750" y="44100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b="1" dirty="0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OPERATIONAL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5800" y="4810125"/>
            <a:ext cx="5029200" cy="1142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Workflow Compatibility: Supports the research ingestion → knowledge indexing → RAG discovery → public outreach workflow.</a:t>
            </a:r>
          </a:p>
          <a:p>
            <a:r>
              <a:t>Human-in-the-Loop Quality: AI drafts require explicit Editor sign-off, protecting institutional scientific integrity.</a:t>
            </a:r>
          </a:p>
          <a:p>
            <a:r>
              <a:t>Low Training Overhead: Intuitive polar dashboard enables researchers, students, and communicators to work immediately without training.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14350" y="6172200"/>
            <a:ext cx="5372100" cy="1752600"/>
            <a:chOff x="0" y="0"/>
            <a:chExt cx="7162800" cy="2336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047750" y="62769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b="1" dirty="0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LEGAL &amp; SECURITY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5800" y="6677025"/>
            <a:ext cx="5029200" cy="1164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Compliance: Adheres to Indian Digital Personal Data Protection (DPDP) Act and MoES open-access data dissemination policies.</a:t>
            </a:r>
          </a:p>
          <a:p>
            <a:r>
              <a:t>Enterprise Security: JWT authentication, PBKDF2/bcrypt hashing, and strict RBAC ensure public, researcher, and editor role segregation.</a:t>
            </a:r>
          </a:p>
          <a:p>
            <a:r>
              <a:t>Auditability: Immutable audit logs track all data uploads, AI queries, content reviews, and publication events.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14350" y="8039100"/>
            <a:ext cx="5372100" cy="1752600"/>
            <a:chOff x="0" y="0"/>
            <a:chExt cx="7162800" cy="2336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47750" y="81438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b="1" dirty="0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FINANCIAL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5800" y="8543925"/>
            <a:ext cx="5029200" cy="931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Resource Efficient: Reduces institutional outreach drafting time by 80% through AI-assisted multi-channel synthesis.</a:t>
            </a:r>
          </a:p>
          <a:p>
            <a:r>
              <a:t>Low Maintenance: Permissive open-source stack avoids vendor lock-in and minimizes ongoing operational expenses.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457950" y="2133600"/>
            <a:ext cx="5372100" cy="1752600"/>
            <a:chOff x="0" y="0"/>
            <a:chExt cx="7162800" cy="2336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6991350" y="22383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b="1" dirty="0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SCALABLE + SUSTAINABLE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629400" y="2638425"/>
            <a:ext cx="5029200" cy="913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Scalable: Lightweight SQLite/pgvector prototype transitions smoothly to clustered PostgreSQL for multi-terabyte polar archives.</a:t>
            </a:r>
          </a:p>
          <a:p>
            <a:r>
              <a:t>Sustainable: Modular plugin architecture supports future satellite imagery feeds, oceanographic buoys, and IoT sensor arrays.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6457950" y="4000500"/>
            <a:ext cx="5372100" cy="1752600"/>
            <a:chOff x="0" y="0"/>
            <a:chExt cx="7162800" cy="2336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6991350" y="41052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b="1" dirty="0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EXTENSIBLE + DEPLOYABLE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629400" y="4505325"/>
            <a:ext cx="5029200" cy="913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Extensible: Open REST APIs and connector architecture enable easy integration with global polar repositories (e.g., SCAR, WMO, DataCite).</a:t>
            </a:r>
          </a:p>
          <a:p>
            <a:r>
              <a:t>Deployable: Turnkey Docker Compose orchestration deploys backend, frontend, database, and vector index in under 3 minutes.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6457950" y="5867400"/>
            <a:ext cx="5372100" cy="1752600"/>
            <a:chOff x="0" y="0"/>
            <a:chExt cx="7162800" cy="2336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6991350" y="59721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b="1" dirty="0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TRUST-READY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629400" y="6372225"/>
            <a:ext cx="5029200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Trust-Ready: POLAR AI strictly cites verified repository documents with page numbers; explicitly refuses ungrounded answers.</a:t>
            </a:r>
          </a:p>
          <a:p>
            <a:r>
              <a:t>Editorial Governance: Mandatory two-step human approval prevents unverified scientific claims from reaching public channels.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6457950" y="7734300"/>
            <a:ext cx="5372100" cy="1752600"/>
            <a:chOff x="0" y="0"/>
            <a:chExt cx="7162800" cy="23368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6991350" y="78390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b="1" dirty="0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COST-EFFECTIVE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629400" y="8239125"/>
            <a:ext cx="5029200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Resource Efficient: Reduces institutional outreach drafting time by 80% through AI-assisted multi-channel synthesis.</a:t>
            </a:r>
          </a:p>
          <a:p>
            <a:r>
              <a:t>Low Maintenance: Permissive open-source stack avoids vendor lock-in and minimizes ongoing operational expenses.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12401550" y="2133600"/>
            <a:ext cx="5372100" cy="1752600"/>
            <a:chOff x="0" y="0"/>
            <a:chExt cx="7162800" cy="23368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2934950" y="22383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1. DATA HETEROGENEITY &amp; QUALITY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2401550" y="4000500"/>
            <a:ext cx="5372100" cy="1752600"/>
            <a:chOff x="0" y="0"/>
            <a:chExt cx="7162800" cy="23368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2934950" y="41052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2. AI HALLUCINATION &amp; ACCURACY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12401550" y="5867400"/>
            <a:ext cx="5372100" cy="1752600"/>
            <a:chOff x="0" y="0"/>
            <a:chExt cx="7162800" cy="23368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2934950" y="59721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3. MULTIMODAL MEDIA VOLUME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12401550" y="7734300"/>
            <a:ext cx="5372100" cy="1752600"/>
            <a:chOff x="0" y="0"/>
            <a:chExt cx="7162800" cy="23368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12934950" y="78390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4. UNAPPROVED CONTENT DISSEMINATION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2573000" y="2638425"/>
            <a:ext cx="5029200" cy="70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RISK: 40+ years of polar records span handwritten logs, scanned PDFs, diverse sensor spreadsheets, and varied NetCDF formats.</a:t>
            </a:r>
          </a:p>
          <a:p>
            <a:r>
              <a:t>STRATEGY: Automated PyMuPDF extraction + OCR preprocessing + strict schema validation against DataCite 4.4 / Dublin Core standards.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2573000" y="4505325"/>
            <a:ext cx="5029200" cy="70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RISK: Generative AI producing incorrect polar coordinates, fabricated findings, or misleading climate change conclusions.</a:t>
            </a:r>
          </a:p>
          <a:p>
            <a:r>
              <a:t>STRATEGY: Strict Citation-Grounded RAG with dense vector retrieval + confidence scoring + fallback refusal when evidence is lacking.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2573000" y="6372225"/>
            <a:ext cx="5029200" cy="70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RISK: High-resolution expedition photography, 4K drone surveys, and satellite imagery causing storage and bandwidth bottlenecks.</a:t>
            </a:r>
          </a:p>
          <a:p>
            <a:r>
              <a:t>STRATEGY: S3/MinIO chunked object storage + thumbnail caching + CLIP semantic embeddings for natural-language text-to-image search.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2573000" y="8239125"/>
            <a:ext cx="5029200" cy="70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RISK: Premature, inaccurate, or unverified AI drafts accidentally published to government web portals or social media accounts.</a:t>
            </a:r>
          </a:p>
          <a:p>
            <a:r>
              <a:t>STRATEGY: Enforced Human-in-the-Loop review gate; drafts remain locked in 'Review' state until approved by authenticated NCPOR editor.</a:t>
            </a:r>
          </a:p>
        </p:txBody>
      </p:sp>
      <p:sp>
        <p:nvSpPr>
          <p:cNvPr id="79" name="AutoShape 79"/>
          <p:cNvSpPr/>
          <p:nvPr/>
        </p:nvSpPr>
        <p:spPr>
          <a:xfrm flipH="1">
            <a:off x="12601575" y="2314575"/>
            <a:ext cx="95250" cy="171450"/>
          </a:xfrm>
          <a:prstGeom prst="line">
            <a:avLst/>
          </a:prstGeom>
          <a:ln w="19050" cap="flat">
            <a:solidFill>
              <a:srgbClr val="D98C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0" name="AutoShape 80"/>
          <p:cNvSpPr/>
          <p:nvPr/>
        </p:nvSpPr>
        <p:spPr>
          <a:xfrm>
            <a:off x="12601575" y="2486025"/>
            <a:ext cx="190500" cy="0"/>
          </a:xfrm>
          <a:prstGeom prst="line">
            <a:avLst/>
          </a:prstGeom>
          <a:ln w="19050" cap="flat">
            <a:solidFill>
              <a:srgbClr val="D98C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1" name="AutoShape 81"/>
          <p:cNvSpPr/>
          <p:nvPr/>
        </p:nvSpPr>
        <p:spPr>
          <a:xfrm flipH="1" flipV="1">
            <a:off x="12696825" y="2314575"/>
            <a:ext cx="95250" cy="171450"/>
          </a:xfrm>
          <a:prstGeom prst="line">
            <a:avLst/>
          </a:prstGeom>
          <a:ln w="19050" cap="flat">
            <a:solidFill>
              <a:srgbClr val="D98C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2" name="AutoShape 82"/>
          <p:cNvSpPr/>
          <p:nvPr/>
        </p:nvSpPr>
        <p:spPr>
          <a:xfrm>
            <a:off x="12696825" y="2371725"/>
            <a:ext cx="0" cy="57150"/>
          </a:xfrm>
          <a:prstGeom prst="line">
            <a:avLst/>
          </a:prstGeom>
          <a:ln w="19050" cap="flat">
            <a:solidFill>
              <a:srgbClr val="D98C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83" name="Group 83"/>
          <p:cNvGrpSpPr/>
          <p:nvPr/>
        </p:nvGrpSpPr>
        <p:grpSpPr>
          <a:xfrm>
            <a:off x="12684443" y="2447925"/>
            <a:ext cx="24765" cy="24765"/>
            <a:chOff x="0" y="0"/>
            <a:chExt cx="33020" cy="3302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0" y="0"/>
                  </a:moveTo>
                  <a:lnTo>
                    <a:pt x="33020" y="0"/>
                  </a:lnTo>
                  <a:lnTo>
                    <a:pt x="33020" y="33020"/>
                  </a:lnTo>
                  <a:lnTo>
                    <a:pt x="0" y="33020"/>
                  </a:lnTo>
                  <a:close/>
                </a:path>
              </a:pathLst>
            </a:custGeom>
            <a:solidFill>
              <a:srgbClr val="D98C8C"/>
            </a:solidFill>
            <a:ln w="19050" cap="sq">
              <a:solidFill>
                <a:srgbClr val="D98C8C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33020" cy="71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6" name="AutoShape 86"/>
          <p:cNvSpPr/>
          <p:nvPr/>
        </p:nvSpPr>
        <p:spPr>
          <a:xfrm flipH="1">
            <a:off x="12601575" y="4181475"/>
            <a:ext cx="95250" cy="171450"/>
          </a:xfrm>
          <a:prstGeom prst="line">
            <a:avLst/>
          </a:prstGeom>
          <a:ln w="19050" cap="flat">
            <a:solidFill>
              <a:srgbClr val="D98C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7" name="AutoShape 87"/>
          <p:cNvSpPr/>
          <p:nvPr/>
        </p:nvSpPr>
        <p:spPr>
          <a:xfrm>
            <a:off x="12601575" y="4352925"/>
            <a:ext cx="190500" cy="0"/>
          </a:xfrm>
          <a:prstGeom prst="line">
            <a:avLst/>
          </a:prstGeom>
          <a:ln w="19050" cap="flat">
            <a:solidFill>
              <a:srgbClr val="D98C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8" name="AutoShape 88"/>
          <p:cNvSpPr/>
          <p:nvPr/>
        </p:nvSpPr>
        <p:spPr>
          <a:xfrm flipH="1" flipV="1">
            <a:off x="12696825" y="4181475"/>
            <a:ext cx="95250" cy="171450"/>
          </a:xfrm>
          <a:prstGeom prst="line">
            <a:avLst/>
          </a:prstGeom>
          <a:ln w="19050" cap="flat">
            <a:solidFill>
              <a:srgbClr val="D98C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9" name="AutoShape 89"/>
          <p:cNvSpPr/>
          <p:nvPr/>
        </p:nvSpPr>
        <p:spPr>
          <a:xfrm>
            <a:off x="12696825" y="4238625"/>
            <a:ext cx="0" cy="57150"/>
          </a:xfrm>
          <a:prstGeom prst="line">
            <a:avLst/>
          </a:prstGeom>
          <a:ln w="19050" cap="flat">
            <a:solidFill>
              <a:srgbClr val="D98C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90" name="Group 90"/>
          <p:cNvGrpSpPr/>
          <p:nvPr/>
        </p:nvGrpSpPr>
        <p:grpSpPr>
          <a:xfrm>
            <a:off x="12684443" y="4314825"/>
            <a:ext cx="24765" cy="24765"/>
            <a:chOff x="0" y="0"/>
            <a:chExt cx="33020" cy="3302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0" y="0"/>
                  </a:moveTo>
                  <a:lnTo>
                    <a:pt x="33020" y="0"/>
                  </a:lnTo>
                  <a:lnTo>
                    <a:pt x="33020" y="33020"/>
                  </a:lnTo>
                  <a:lnTo>
                    <a:pt x="0" y="33020"/>
                  </a:lnTo>
                  <a:close/>
                </a:path>
              </a:pathLst>
            </a:custGeom>
            <a:solidFill>
              <a:srgbClr val="D98C8C"/>
            </a:solidFill>
            <a:ln w="19050" cap="sq">
              <a:solidFill>
                <a:srgbClr val="D98C8C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33020" cy="71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3" name="AutoShape 93"/>
          <p:cNvSpPr/>
          <p:nvPr/>
        </p:nvSpPr>
        <p:spPr>
          <a:xfrm flipH="1">
            <a:off x="12601575" y="6048375"/>
            <a:ext cx="95250" cy="171450"/>
          </a:xfrm>
          <a:prstGeom prst="line">
            <a:avLst/>
          </a:prstGeom>
          <a:ln w="19050" cap="flat">
            <a:solidFill>
              <a:srgbClr val="D98C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" name="AutoShape 94"/>
          <p:cNvSpPr/>
          <p:nvPr/>
        </p:nvSpPr>
        <p:spPr>
          <a:xfrm>
            <a:off x="12601575" y="6219825"/>
            <a:ext cx="190500" cy="0"/>
          </a:xfrm>
          <a:prstGeom prst="line">
            <a:avLst/>
          </a:prstGeom>
          <a:ln w="19050" cap="flat">
            <a:solidFill>
              <a:srgbClr val="D98C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5" name="AutoShape 95"/>
          <p:cNvSpPr/>
          <p:nvPr/>
        </p:nvSpPr>
        <p:spPr>
          <a:xfrm flipH="1" flipV="1">
            <a:off x="12696825" y="6048375"/>
            <a:ext cx="95250" cy="171450"/>
          </a:xfrm>
          <a:prstGeom prst="line">
            <a:avLst/>
          </a:prstGeom>
          <a:ln w="19050" cap="flat">
            <a:solidFill>
              <a:srgbClr val="D98C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6" name="AutoShape 96"/>
          <p:cNvSpPr/>
          <p:nvPr/>
        </p:nvSpPr>
        <p:spPr>
          <a:xfrm>
            <a:off x="12696825" y="6105525"/>
            <a:ext cx="0" cy="57150"/>
          </a:xfrm>
          <a:prstGeom prst="line">
            <a:avLst/>
          </a:prstGeom>
          <a:ln w="19050" cap="flat">
            <a:solidFill>
              <a:srgbClr val="D98C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97" name="Group 97"/>
          <p:cNvGrpSpPr/>
          <p:nvPr/>
        </p:nvGrpSpPr>
        <p:grpSpPr>
          <a:xfrm>
            <a:off x="12684443" y="6181725"/>
            <a:ext cx="24765" cy="24765"/>
            <a:chOff x="0" y="0"/>
            <a:chExt cx="33020" cy="3302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0" y="0"/>
                  </a:moveTo>
                  <a:lnTo>
                    <a:pt x="33020" y="0"/>
                  </a:lnTo>
                  <a:lnTo>
                    <a:pt x="33020" y="33020"/>
                  </a:lnTo>
                  <a:lnTo>
                    <a:pt x="0" y="33020"/>
                  </a:lnTo>
                  <a:close/>
                </a:path>
              </a:pathLst>
            </a:custGeom>
            <a:solidFill>
              <a:srgbClr val="D98C8C"/>
            </a:solidFill>
            <a:ln w="19050" cap="sq">
              <a:solidFill>
                <a:srgbClr val="D98C8C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0" y="-38100"/>
              <a:ext cx="33020" cy="71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0" name="AutoShape 100"/>
          <p:cNvSpPr/>
          <p:nvPr/>
        </p:nvSpPr>
        <p:spPr>
          <a:xfrm flipH="1">
            <a:off x="12601575" y="7915275"/>
            <a:ext cx="95250" cy="171450"/>
          </a:xfrm>
          <a:prstGeom prst="line">
            <a:avLst/>
          </a:prstGeom>
          <a:ln w="19050" cap="flat">
            <a:solidFill>
              <a:srgbClr val="D98C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1" name="AutoShape 101"/>
          <p:cNvSpPr/>
          <p:nvPr/>
        </p:nvSpPr>
        <p:spPr>
          <a:xfrm>
            <a:off x="12601575" y="8086725"/>
            <a:ext cx="190500" cy="0"/>
          </a:xfrm>
          <a:prstGeom prst="line">
            <a:avLst/>
          </a:prstGeom>
          <a:ln w="19050" cap="flat">
            <a:solidFill>
              <a:srgbClr val="D98C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2" name="AutoShape 102"/>
          <p:cNvSpPr/>
          <p:nvPr/>
        </p:nvSpPr>
        <p:spPr>
          <a:xfrm flipH="1" flipV="1">
            <a:off x="12696825" y="7915275"/>
            <a:ext cx="95250" cy="171450"/>
          </a:xfrm>
          <a:prstGeom prst="line">
            <a:avLst/>
          </a:prstGeom>
          <a:ln w="19050" cap="flat">
            <a:solidFill>
              <a:srgbClr val="D98C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3" name="AutoShape 103"/>
          <p:cNvSpPr/>
          <p:nvPr/>
        </p:nvSpPr>
        <p:spPr>
          <a:xfrm>
            <a:off x="12696825" y="7972425"/>
            <a:ext cx="0" cy="57150"/>
          </a:xfrm>
          <a:prstGeom prst="line">
            <a:avLst/>
          </a:prstGeom>
          <a:ln w="19050" cap="flat">
            <a:solidFill>
              <a:srgbClr val="D98C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04" name="Group 104"/>
          <p:cNvGrpSpPr/>
          <p:nvPr/>
        </p:nvGrpSpPr>
        <p:grpSpPr>
          <a:xfrm>
            <a:off x="12684443" y="8048625"/>
            <a:ext cx="24765" cy="24765"/>
            <a:chOff x="0" y="0"/>
            <a:chExt cx="33020" cy="3302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0" y="0"/>
                  </a:moveTo>
                  <a:lnTo>
                    <a:pt x="33020" y="0"/>
                  </a:lnTo>
                  <a:lnTo>
                    <a:pt x="33020" y="33020"/>
                  </a:lnTo>
                  <a:lnTo>
                    <a:pt x="0" y="33020"/>
                  </a:lnTo>
                  <a:close/>
                </a:path>
              </a:pathLst>
            </a:custGeom>
            <a:solidFill>
              <a:srgbClr val="D98C8C"/>
            </a:solidFill>
            <a:ln w="19050" cap="sq">
              <a:solidFill>
                <a:srgbClr val="D98C8C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0" y="-38100"/>
              <a:ext cx="33020" cy="71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7" name="Freeform 107"/>
          <p:cNvSpPr/>
          <p:nvPr/>
        </p:nvSpPr>
        <p:spPr>
          <a:xfrm>
            <a:off x="628650" y="22574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8" name="Freeform 108"/>
          <p:cNvSpPr/>
          <p:nvPr/>
        </p:nvSpPr>
        <p:spPr>
          <a:xfrm>
            <a:off x="668655" y="44005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4814" r="-1481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9" name="Freeform 109"/>
          <p:cNvSpPr/>
          <p:nvPr/>
        </p:nvSpPr>
        <p:spPr>
          <a:xfrm>
            <a:off x="628650" y="62960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451" t="-12903" r="-645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0" name="Freeform 110"/>
          <p:cNvSpPr/>
          <p:nvPr/>
        </p:nvSpPr>
        <p:spPr>
          <a:xfrm>
            <a:off x="628650" y="816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85" t="-10714" r="-178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1" name="Freeform 111"/>
          <p:cNvSpPr/>
          <p:nvPr/>
        </p:nvSpPr>
        <p:spPr>
          <a:xfrm>
            <a:off x="6572250" y="22574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2" name="Freeform 112"/>
          <p:cNvSpPr/>
          <p:nvPr/>
        </p:nvSpPr>
        <p:spPr>
          <a:xfrm>
            <a:off x="6572250" y="41243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3" name="Freeform 113"/>
          <p:cNvSpPr/>
          <p:nvPr/>
        </p:nvSpPr>
        <p:spPr>
          <a:xfrm>
            <a:off x="6572250" y="5991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451" t="-12903" r="-645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4" name="Freeform 114"/>
          <p:cNvSpPr/>
          <p:nvPr/>
        </p:nvSpPr>
        <p:spPr>
          <a:xfrm>
            <a:off x="6572250" y="78581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85" t="-10714" r="-178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6" name="TextBox 3"/>
          <p:cNvSpPr txBox="1"/>
          <p:nvPr/>
        </p:nvSpPr>
        <p:spPr>
          <a:xfrm>
            <a:off x="2095500" y="66675"/>
            <a:ext cx="14097000" cy="505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FEASIBILITY AND VIABILITY</a:t>
            </a:r>
          </a:p>
        </p:txBody>
      </p:sp>
      <p:grpSp>
        <p:nvGrpSpPr>
          <p:cNvPr id="227" name="Group 4"/>
          <p:cNvGrpSpPr/>
          <p:nvPr/>
        </p:nvGrpSpPr>
        <p:grpSpPr>
          <a:xfrm>
            <a:off x="342900" y="981075"/>
            <a:ext cx="17602200" cy="9525"/>
            <a:chOff x="0" y="0"/>
            <a:chExt cx="23469600" cy="12700"/>
          </a:xfrm>
        </p:grpSpPr>
        <p:sp>
          <p:nvSpPr>
            <p:cNvPr id="228" name="Freeform 5"/>
            <p:cNvSpPr/>
            <p:nvPr/>
          </p:nvSpPr>
          <p:spPr>
            <a:xfrm>
              <a:off x="0" y="0"/>
              <a:ext cx="23469600" cy="12700"/>
            </a:xfrm>
            <a:custGeom>
              <a:avLst/>
              <a:gdLst/>
              <a:ahLst/>
              <a:cxnLst/>
              <a:rect l="l" t="t" r="r" b="b"/>
              <a:pathLst>
                <a:path w="23469600" h="12700">
                  <a:moveTo>
                    <a:pt x="0" y="0"/>
                  </a:moveTo>
                  <a:lnTo>
                    <a:pt x="23469600" y="0"/>
                  </a:lnTo>
                  <a:lnTo>
                    <a:pt x="23469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9E1E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9" name="TextBox 6"/>
            <p:cNvSpPr txBox="1"/>
            <p:nvPr/>
          </p:nvSpPr>
          <p:spPr>
            <a:xfrm>
              <a:off x="0" y="-38100"/>
              <a:ext cx="234696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30" name="Group 7"/>
          <p:cNvGrpSpPr/>
          <p:nvPr/>
        </p:nvGrpSpPr>
        <p:grpSpPr>
          <a:xfrm>
            <a:off x="342900" y="1466850"/>
            <a:ext cx="5715000" cy="8439150"/>
            <a:chOff x="0" y="0"/>
            <a:chExt cx="7620000" cy="11252200"/>
          </a:xfrm>
        </p:grpSpPr>
        <p:sp>
          <p:nvSpPr>
            <p:cNvPr id="231" name="Freeform 8"/>
            <p:cNvSpPr/>
            <p:nvPr/>
          </p:nvSpPr>
          <p:spPr>
            <a:xfrm>
              <a:off x="0" y="0"/>
              <a:ext cx="7620000" cy="11252200"/>
            </a:xfrm>
            <a:custGeom>
              <a:avLst/>
              <a:gdLst/>
              <a:ahLst/>
              <a:cxnLst/>
              <a:rect l="l" t="t" r="r" b="b"/>
              <a:pathLst>
                <a:path w="7620000" h="11252200">
                  <a:moveTo>
                    <a:pt x="101600" y="0"/>
                  </a:moveTo>
                  <a:lnTo>
                    <a:pt x="7518400" y="0"/>
                  </a:lnTo>
                  <a:cubicBezTo>
                    <a:pt x="7574512" y="0"/>
                    <a:pt x="7620000" y="45488"/>
                    <a:pt x="7620000" y="101600"/>
                  </a:cubicBezTo>
                  <a:lnTo>
                    <a:pt x="7620000" y="11150600"/>
                  </a:lnTo>
                  <a:cubicBezTo>
                    <a:pt x="7620000" y="11206712"/>
                    <a:pt x="7574512" y="11252200"/>
                    <a:pt x="7518400" y="11252200"/>
                  </a:cubicBezTo>
                  <a:lnTo>
                    <a:pt x="101600" y="11252200"/>
                  </a:lnTo>
                  <a:cubicBezTo>
                    <a:pt x="45488" y="11252200"/>
                    <a:pt x="0" y="11206712"/>
                    <a:pt x="0" y="111506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3F7FA"/>
            </a:solidFill>
            <a:ln w="9525" cap="sq">
              <a:solidFill>
                <a:srgbClr val="C9D7E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2" name="TextBox 9"/>
            <p:cNvSpPr txBox="1"/>
            <p:nvPr/>
          </p:nvSpPr>
          <p:spPr>
            <a:xfrm>
              <a:off x="0" y="-38100"/>
              <a:ext cx="7620000" cy="11290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33" name="TextBox 10"/>
          <p:cNvSpPr txBox="1"/>
          <p:nvPr/>
        </p:nvSpPr>
        <p:spPr>
          <a:xfrm>
            <a:off x="990600" y="1562100"/>
            <a:ext cx="4895850" cy="30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FEASIBILITY</a:t>
            </a:r>
          </a:p>
        </p:txBody>
      </p:sp>
      <p:grpSp>
        <p:nvGrpSpPr>
          <p:cNvPr id="234" name="Group 11"/>
          <p:cNvGrpSpPr/>
          <p:nvPr/>
        </p:nvGrpSpPr>
        <p:grpSpPr>
          <a:xfrm>
            <a:off x="6286500" y="1466850"/>
            <a:ext cx="5715000" cy="8439150"/>
            <a:chOff x="0" y="0"/>
            <a:chExt cx="7620000" cy="11252200"/>
          </a:xfrm>
        </p:grpSpPr>
        <p:sp>
          <p:nvSpPr>
            <p:cNvPr id="235" name="Freeform 12"/>
            <p:cNvSpPr/>
            <p:nvPr/>
          </p:nvSpPr>
          <p:spPr>
            <a:xfrm>
              <a:off x="0" y="0"/>
              <a:ext cx="7620000" cy="11252200"/>
            </a:xfrm>
            <a:custGeom>
              <a:avLst/>
              <a:gdLst/>
              <a:ahLst/>
              <a:cxnLst/>
              <a:rect l="l" t="t" r="r" b="b"/>
              <a:pathLst>
                <a:path w="7620000" h="11252200">
                  <a:moveTo>
                    <a:pt x="101600" y="0"/>
                  </a:moveTo>
                  <a:lnTo>
                    <a:pt x="7518400" y="0"/>
                  </a:lnTo>
                  <a:cubicBezTo>
                    <a:pt x="7574512" y="0"/>
                    <a:pt x="7620000" y="45488"/>
                    <a:pt x="7620000" y="101600"/>
                  </a:cubicBezTo>
                  <a:lnTo>
                    <a:pt x="7620000" y="11150600"/>
                  </a:lnTo>
                  <a:cubicBezTo>
                    <a:pt x="7620000" y="11206712"/>
                    <a:pt x="7574512" y="11252200"/>
                    <a:pt x="7518400" y="11252200"/>
                  </a:cubicBezTo>
                  <a:lnTo>
                    <a:pt x="101600" y="11252200"/>
                  </a:lnTo>
                  <a:cubicBezTo>
                    <a:pt x="45488" y="11252200"/>
                    <a:pt x="0" y="11206712"/>
                    <a:pt x="0" y="111506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3F8F4"/>
            </a:solidFill>
            <a:ln w="9525" cap="sq">
              <a:solidFill>
                <a:srgbClr val="CBDCCC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6" name="TextBox 13"/>
            <p:cNvSpPr txBox="1"/>
            <p:nvPr/>
          </p:nvSpPr>
          <p:spPr>
            <a:xfrm>
              <a:off x="0" y="-38100"/>
              <a:ext cx="7620000" cy="11290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37" name="TextBox 14"/>
          <p:cNvSpPr txBox="1"/>
          <p:nvPr/>
        </p:nvSpPr>
        <p:spPr>
          <a:xfrm>
            <a:off x="6934200" y="1562100"/>
            <a:ext cx="4895850" cy="30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VIABILITY</a:t>
            </a:r>
          </a:p>
        </p:txBody>
      </p:sp>
      <p:grpSp>
        <p:nvGrpSpPr>
          <p:cNvPr id="238" name="Group 15"/>
          <p:cNvGrpSpPr/>
          <p:nvPr/>
        </p:nvGrpSpPr>
        <p:grpSpPr>
          <a:xfrm>
            <a:off x="12230100" y="1466850"/>
            <a:ext cx="5715000" cy="8439150"/>
            <a:chOff x="0" y="0"/>
            <a:chExt cx="7620000" cy="11252200"/>
          </a:xfrm>
        </p:grpSpPr>
        <p:sp>
          <p:nvSpPr>
            <p:cNvPr id="239" name="Freeform 16"/>
            <p:cNvSpPr/>
            <p:nvPr/>
          </p:nvSpPr>
          <p:spPr>
            <a:xfrm>
              <a:off x="0" y="0"/>
              <a:ext cx="7620000" cy="11252200"/>
            </a:xfrm>
            <a:custGeom>
              <a:avLst/>
              <a:gdLst/>
              <a:ahLst/>
              <a:cxnLst/>
              <a:rect l="l" t="t" r="r" b="b"/>
              <a:pathLst>
                <a:path w="7620000" h="11252200">
                  <a:moveTo>
                    <a:pt x="101600" y="0"/>
                  </a:moveTo>
                  <a:lnTo>
                    <a:pt x="7518400" y="0"/>
                  </a:lnTo>
                  <a:cubicBezTo>
                    <a:pt x="7574512" y="0"/>
                    <a:pt x="7620000" y="45488"/>
                    <a:pt x="7620000" y="101600"/>
                  </a:cubicBezTo>
                  <a:lnTo>
                    <a:pt x="7620000" y="11150600"/>
                  </a:lnTo>
                  <a:cubicBezTo>
                    <a:pt x="7620000" y="11206712"/>
                    <a:pt x="7574512" y="11252200"/>
                    <a:pt x="7518400" y="11252200"/>
                  </a:cubicBezTo>
                  <a:lnTo>
                    <a:pt x="101600" y="11252200"/>
                  </a:lnTo>
                  <a:cubicBezTo>
                    <a:pt x="45488" y="11252200"/>
                    <a:pt x="0" y="11206712"/>
                    <a:pt x="0" y="111506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8F8"/>
            </a:solidFill>
            <a:ln w="9525" cap="sq">
              <a:solidFill>
                <a:srgbClr val="EAD1D1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0" name="TextBox 17"/>
            <p:cNvSpPr txBox="1"/>
            <p:nvPr/>
          </p:nvSpPr>
          <p:spPr>
            <a:xfrm>
              <a:off x="0" y="-38100"/>
              <a:ext cx="7620000" cy="11290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41" name="TextBox 18"/>
          <p:cNvSpPr txBox="1"/>
          <p:nvPr/>
        </p:nvSpPr>
        <p:spPr>
          <a:xfrm>
            <a:off x="12877800" y="1562100"/>
            <a:ext cx="4895850" cy="30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POTENTIAL CHALLENGES &amp; MITIGATIONS</a:t>
            </a:r>
          </a:p>
        </p:txBody>
      </p:sp>
      <p:grpSp>
        <p:nvGrpSpPr>
          <p:cNvPr id="242" name="Group 19"/>
          <p:cNvGrpSpPr/>
          <p:nvPr/>
        </p:nvGrpSpPr>
        <p:grpSpPr>
          <a:xfrm>
            <a:off x="514350" y="2133600"/>
            <a:ext cx="5372100" cy="2057400"/>
            <a:chOff x="0" y="0"/>
            <a:chExt cx="7162800" cy="2743200"/>
          </a:xfrm>
        </p:grpSpPr>
        <p:sp>
          <p:nvSpPr>
            <p:cNvPr id="243" name="Freeform 20"/>
            <p:cNvSpPr/>
            <p:nvPr/>
          </p:nvSpPr>
          <p:spPr>
            <a:xfrm>
              <a:off x="0" y="0"/>
              <a:ext cx="7162800" cy="2743200"/>
            </a:xfrm>
            <a:custGeom>
              <a:avLst/>
              <a:gdLst/>
              <a:ahLst/>
              <a:cxnLst/>
              <a:rect l="l" t="t" r="r" b="b"/>
              <a:pathLst>
                <a:path w="7162800" h="27432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6753"/>
                    <a:pt x="7162800" y="82091"/>
                  </a:cubicBezTo>
                  <a:lnTo>
                    <a:pt x="7162800" y="2661109"/>
                  </a:lnTo>
                  <a:cubicBezTo>
                    <a:pt x="7162800" y="2706447"/>
                    <a:pt x="7128684" y="2743200"/>
                    <a:pt x="7086600" y="2743200"/>
                  </a:cubicBezTo>
                  <a:lnTo>
                    <a:pt x="76200" y="2743200"/>
                  </a:lnTo>
                  <a:cubicBezTo>
                    <a:pt x="34116" y="2743200"/>
                    <a:pt x="0" y="2706447"/>
                    <a:pt x="0" y="2661109"/>
                  </a:cubicBezTo>
                  <a:lnTo>
                    <a:pt x="0" y="82091"/>
                  </a:lnTo>
                  <a:cubicBezTo>
                    <a:pt x="0" y="36753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4" name="TextBox 21"/>
            <p:cNvSpPr txBox="1"/>
            <p:nvPr/>
          </p:nvSpPr>
          <p:spPr>
            <a:xfrm>
              <a:off x="0" y="-38100"/>
              <a:ext cx="7162800" cy="278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45" name="TextBox 22"/>
          <p:cNvSpPr txBox="1"/>
          <p:nvPr/>
        </p:nvSpPr>
        <p:spPr>
          <a:xfrm>
            <a:off x="1047750" y="2238375"/>
            <a:ext cx="4667250" cy="24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 b="1" dirty="0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TECHNICAL</a:t>
            </a:r>
          </a:p>
        </p:txBody>
      </p:sp>
      <p:sp>
        <p:nvSpPr>
          <p:cNvPr id="246" name="TextBox 23"/>
          <p:cNvSpPr txBox="1"/>
          <p:nvPr/>
        </p:nvSpPr>
        <p:spPr>
          <a:xfrm>
            <a:off x="685800" y="2638425"/>
            <a:ext cx="5029200" cy="1393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Technical Feasibility: Built using proven open-source technologies: FastAPI, Next.js, PostgreSQL/pgvector, Leaflet, and PyMuPDF.</a:t>
            </a:r>
          </a:p>
          <a:p>
            <a:r>
              <a:t>Data Pipeline: Ingests legacy expedition archives, PDFs, sensor CSVs, and NetCDF grids via DataCite &amp; Dublin Core standards.</a:t>
            </a:r>
          </a:p>
          <a:p>
            <a:r>
              <a:t>Modular Architecture: Decoupled services (Repository, RAG, Station GIS, Outreach Studio) allow independent scaling.</a:t>
            </a:r>
          </a:p>
        </p:txBody>
      </p:sp>
      <p:grpSp>
        <p:nvGrpSpPr>
          <p:cNvPr id="247" name="Group 24"/>
          <p:cNvGrpSpPr/>
          <p:nvPr/>
        </p:nvGrpSpPr>
        <p:grpSpPr>
          <a:xfrm>
            <a:off x="514350" y="4305300"/>
            <a:ext cx="5372100" cy="1752600"/>
            <a:chOff x="0" y="0"/>
            <a:chExt cx="7162800" cy="2336800"/>
          </a:xfrm>
        </p:grpSpPr>
        <p:sp>
          <p:nvSpPr>
            <p:cNvPr id="248" name="Freeform 25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9" name="TextBox 26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50" name="TextBox 27"/>
          <p:cNvSpPr txBox="1"/>
          <p:nvPr/>
        </p:nvSpPr>
        <p:spPr>
          <a:xfrm>
            <a:off x="1047750" y="4410075"/>
            <a:ext cx="4667250" cy="24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 b="1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OPERATIONAL</a:t>
            </a:r>
          </a:p>
        </p:txBody>
      </p:sp>
      <p:sp>
        <p:nvSpPr>
          <p:cNvPr id="251" name="TextBox 28"/>
          <p:cNvSpPr txBox="1"/>
          <p:nvPr/>
        </p:nvSpPr>
        <p:spPr>
          <a:xfrm>
            <a:off x="685800" y="4810125"/>
            <a:ext cx="5200650" cy="1142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Workflow Compatibility: Supports the research ingestion → knowledge indexing → RAG discovery → public outreach workflow.</a:t>
            </a:r>
          </a:p>
          <a:p>
            <a:r>
              <a:t>Human-in-the-Loop Quality: AI drafts require explicit Editor sign-off, protecting institutional scientific integrity.</a:t>
            </a:r>
          </a:p>
          <a:p>
            <a:r>
              <a:t>Low Training Overhead: Intuitive polar dashboard enables researchers, students, and communicators to work immediately without training.</a:t>
            </a:r>
          </a:p>
        </p:txBody>
      </p:sp>
      <p:grpSp>
        <p:nvGrpSpPr>
          <p:cNvPr id="252" name="Group 29"/>
          <p:cNvGrpSpPr/>
          <p:nvPr/>
        </p:nvGrpSpPr>
        <p:grpSpPr>
          <a:xfrm>
            <a:off x="514350" y="6172200"/>
            <a:ext cx="5372100" cy="1752600"/>
            <a:chOff x="0" y="0"/>
            <a:chExt cx="7162800" cy="2336800"/>
          </a:xfrm>
        </p:grpSpPr>
        <p:sp>
          <p:nvSpPr>
            <p:cNvPr id="253" name="Freeform 30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4" name="TextBox 31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55" name="TextBox 32"/>
          <p:cNvSpPr txBox="1"/>
          <p:nvPr/>
        </p:nvSpPr>
        <p:spPr>
          <a:xfrm>
            <a:off x="1047750" y="6276975"/>
            <a:ext cx="4667250" cy="24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 b="1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LEGAL &amp; SECURITY</a:t>
            </a:r>
          </a:p>
        </p:txBody>
      </p:sp>
      <p:sp>
        <p:nvSpPr>
          <p:cNvPr id="256" name="TextBox 33"/>
          <p:cNvSpPr txBox="1"/>
          <p:nvPr/>
        </p:nvSpPr>
        <p:spPr>
          <a:xfrm>
            <a:off x="685800" y="6677025"/>
            <a:ext cx="5029200" cy="1164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Compliance: Adheres to Indian Digital Personal Data Protection (DPDP) Act and MoES open-access data dissemination policies.</a:t>
            </a:r>
          </a:p>
          <a:p>
            <a:r>
              <a:t>Enterprise Security: JWT authentication, PBKDF2/bcrypt hashing, and strict RBAC ensure public, researcher, and editor role segregation.</a:t>
            </a:r>
          </a:p>
          <a:p>
            <a:r>
              <a:t>Auditability: Immutable audit logs track all data uploads, AI queries, content reviews, and publication events.</a:t>
            </a:r>
          </a:p>
        </p:txBody>
      </p:sp>
      <p:grpSp>
        <p:nvGrpSpPr>
          <p:cNvPr id="257" name="Group 34"/>
          <p:cNvGrpSpPr/>
          <p:nvPr/>
        </p:nvGrpSpPr>
        <p:grpSpPr>
          <a:xfrm>
            <a:off x="514350" y="8039100"/>
            <a:ext cx="5372100" cy="1752600"/>
            <a:chOff x="0" y="0"/>
            <a:chExt cx="7162800" cy="2336800"/>
          </a:xfrm>
        </p:grpSpPr>
        <p:sp>
          <p:nvSpPr>
            <p:cNvPr id="258" name="Freeform 35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9" name="TextBox 36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60" name="TextBox 37"/>
          <p:cNvSpPr txBox="1"/>
          <p:nvPr/>
        </p:nvSpPr>
        <p:spPr>
          <a:xfrm>
            <a:off x="1047750" y="8143875"/>
            <a:ext cx="4667250" cy="24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 b="1" dirty="0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FINANCIAL</a:t>
            </a:r>
          </a:p>
        </p:txBody>
      </p:sp>
      <p:sp>
        <p:nvSpPr>
          <p:cNvPr id="261" name="TextBox 38"/>
          <p:cNvSpPr txBox="1"/>
          <p:nvPr/>
        </p:nvSpPr>
        <p:spPr>
          <a:xfrm>
            <a:off x="685800" y="8543925"/>
            <a:ext cx="5029200" cy="91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Resource Efficient: Reduces institutional outreach drafting time by 80% through AI-assisted multi-channel synthesis.</a:t>
            </a:r>
          </a:p>
          <a:p>
            <a:r>
              <a:t>Low Maintenance: Permissive open-source stack avoids vendor lock-in and minimizes ongoing operational expenses.</a:t>
            </a:r>
          </a:p>
        </p:txBody>
      </p:sp>
      <p:grpSp>
        <p:nvGrpSpPr>
          <p:cNvPr id="262" name="Group 39"/>
          <p:cNvGrpSpPr/>
          <p:nvPr/>
        </p:nvGrpSpPr>
        <p:grpSpPr>
          <a:xfrm>
            <a:off x="6457950" y="2133600"/>
            <a:ext cx="5372100" cy="1752600"/>
            <a:chOff x="0" y="0"/>
            <a:chExt cx="7162800" cy="2336800"/>
          </a:xfrm>
        </p:grpSpPr>
        <p:sp>
          <p:nvSpPr>
            <p:cNvPr id="263" name="Freeform 40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4" name="TextBox 41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65" name="TextBox 42"/>
          <p:cNvSpPr txBox="1"/>
          <p:nvPr/>
        </p:nvSpPr>
        <p:spPr>
          <a:xfrm>
            <a:off x="6991350" y="2238375"/>
            <a:ext cx="4667250" cy="24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 b="1" dirty="0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SCALABLE + SUSTAINABLE</a:t>
            </a:r>
          </a:p>
        </p:txBody>
      </p:sp>
      <p:sp>
        <p:nvSpPr>
          <p:cNvPr id="266" name="TextBox 43"/>
          <p:cNvSpPr txBox="1"/>
          <p:nvPr/>
        </p:nvSpPr>
        <p:spPr>
          <a:xfrm>
            <a:off x="6629400" y="2638425"/>
            <a:ext cx="5029200" cy="936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Scalable: Lightweight SQLite/pgvector prototype transitions smoothly to clustered PostgreSQL for multi-terabyte polar archives.</a:t>
            </a:r>
          </a:p>
          <a:p>
            <a:r>
              <a:t>Sustainable: Modular plugin architecture supports future satellite imagery feeds, oceanographic buoys, and IoT sensor arrays.</a:t>
            </a:r>
          </a:p>
        </p:txBody>
      </p:sp>
      <p:grpSp>
        <p:nvGrpSpPr>
          <p:cNvPr id="267" name="Group 44"/>
          <p:cNvGrpSpPr/>
          <p:nvPr/>
        </p:nvGrpSpPr>
        <p:grpSpPr>
          <a:xfrm>
            <a:off x="6457950" y="4000500"/>
            <a:ext cx="5372100" cy="1752600"/>
            <a:chOff x="0" y="0"/>
            <a:chExt cx="7162800" cy="2336800"/>
          </a:xfrm>
        </p:grpSpPr>
        <p:sp>
          <p:nvSpPr>
            <p:cNvPr id="268" name="Freeform 45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9" name="TextBox 46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70" name="TextBox 47"/>
          <p:cNvSpPr txBox="1"/>
          <p:nvPr/>
        </p:nvSpPr>
        <p:spPr>
          <a:xfrm>
            <a:off x="6991350" y="4105275"/>
            <a:ext cx="4667250" cy="24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 b="1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EXTENSIBLE + DEPLOYABLE</a:t>
            </a:r>
          </a:p>
        </p:txBody>
      </p:sp>
      <p:sp>
        <p:nvSpPr>
          <p:cNvPr id="271" name="TextBox 48"/>
          <p:cNvSpPr txBox="1"/>
          <p:nvPr/>
        </p:nvSpPr>
        <p:spPr>
          <a:xfrm>
            <a:off x="6629400" y="4505325"/>
            <a:ext cx="5029200" cy="936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Extensible: Open REST APIs and connector architecture enable easy integration with global polar repositories (e.g., SCAR, WMO, DataCite).</a:t>
            </a:r>
          </a:p>
          <a:p>
            <a:r>
              <a:t>Deployable: Turnkey Docker Compose orchestration deploys backend, frontend, database, and vector index in under 3 minutes.</a:t>
            </a:r>
          </a:p>
        </p:txBody>
      </p:sp>
      <p:grpSp>
        <p:nvGrpSpPr>
          <p:cNvPr id="272" name="Group 49"/>
          <p:cNvGrpSpPr/>
          <p:nvPr/>
        </p:nvGrpSpPr>
        <p:grpSpPr>
          <a:xfrm>
            <a:off x="6457950" y="5867400"/>
            <a:ext cx="5372100" cy="1752600"/>
            <a:chOff x="0" y="0"/>
            <a:chExt cx="7162800" cy="2336800"/>
          </a:xfrm>
        </p:grpSpPr>
        <p:sp>
          <p:nvSpPr>
            <p:cNvPr id="273" name="Freeform 50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4" name="TextBox 51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75" name="TextBox 52"/>
          <p:cNvSpPr txBox="1"/>
          <p:nvPr/>
        </p:nvSpPr>
        <p:spPr>
          <a:xfrm>
            <a:off x="6991350" y="5972175"/>
            <a:ext cx="4667250" cy="24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 b="1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TRUST-READY</a:t>
            </a:r>
          </a:p>
        </p:txBody>
      </p:sp>
      <p:sp>
        <p:nvSpPr>
          <p:cNvPr id="276" name="TextBox 53"/>
          <p:cNvSpPr txBox="1"/>
          <p:nvPr/>
        </p:nvSpPr>
        <p:spPr>
          <a:xfrm>
            <a:off x="6629400" y="6372225"/>
            <a:ext cx="5029200" cy="68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Trust-Ready: POLAR AI strictly cites verified repository documents with page numbers; explicitly refuses ungrounded answers.</a:t>
            </a:r>
          </a:p>
          <a:p>
            <a:r>
              <a:t>Editorial Governance: Mandatory two-step human approval prevents unverified scientific claims from reaching public channels.</a:t>
            </a:r>
          </a:p>
        </p:txBody>
      </p:sp>
      <p:grpSp>
        <p:nvGrpSpPr>
          <p:cNvPr id="277" name="Group 54"/>
          <p:cNvGrpSpPr/>
          <p:nvPr/>
        </p:nvGrpSpPr>
        <p:grpSpPr>
          <a:xfrm>
            <a:off x="6457950" y="7734300"/>
            <a:ext cx="5372100" cy="1752600"/>
            <a:chOff x="0" y="0"/>
            <a:chExt cx="7162800" cy="2336800"/>
          </a:xfrm>
        </p:grpSpPr>
        <p:sp>
          <p:nvSpPr>
            <p:cNvPr id="278" name="Freeform 55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9" name="TextBox 56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80" name="TextBox 57"/>
          <p:cNvSpPr txBox="1"/>
          <p:nvPr/>
        </p:nvSpPr>
        <p:spPr>
          <a:xfrm>
            <a:off x="6991350" y="7839075"/>
            <a:ext cx="4667250" cy="24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 b="1">
                <a:solidFill>
                  <a:srgbClr val="102A43"/>
                </a:solidFill>
                <a:ea typeface="Calibri (MS) Bold"/>
                <a:cs typeface="Calibri (MS) Bold"/>
                <a:sym typeface="Calibri (MS) Bold"/>
              </a:rPr>
              <a:t>COST-EFFECTIVE</a:t>
            </a:r>
          </a:p>
        </p:txBody>
      </p:sp>
      <p:sp>
        <p:nvSpPr>
          <p:cNvPr id="281" name="TextBox 58"/>
          <p:cNvSpPr txBox="1"/>
          <p:nvPr/>
        </p:nvSpPr>
        <p:spPr>
          <a:xfrm>
            <a:off x="6629400" y="8239125"/>
            <a:ext cx="5029200" cy="68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Resource Efficient: Reduces institutional outreach drafting time by 80% through AI-assisted multi-channel synthesis.</a:t>
            </a:r>
          </a:p>
          <a:p>
            <a:r>
              <a:t>Low Maintenance: Permissive open-source stack avoids vendor lock-in and minimizes ongoing operational expenses.</a:t>
            </a:r>
          </a:p>
        </p:txBody>
      </p:sp>
      <p:grpSp>
        <p:nvGrpSpPr>
          <p:cNvPr id="282" name="Group 59"/>
          <p:cNvGrpSpPr/>
          <p:nvPr/>
        </p:nvGrpSpPr>
        <p:grpSpPr>
          <a:xfrm>
            <a:off x="12401550" y="2133600"/>
            <a:ext cx="5372100" cy="1752600"/>
            <a:chOff x="0" y="0"/>
            <a:chExt cx="7162800" cy="2336800"/>
          </a:xfrm>
        </p:grpSpPr>
        <p:sp>
          <p:nvSpPr>
            <p:cNvPr id="283" name="Freeform 60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4" name="TextBox 61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85" name="TextBox 62"/>
          <p:cNvSpPr txBox="1"/>
          <p:nvPr/>
        </p:nvSpPr>
        <p:spPr>
          <a:xfrm>
            <a:off x="12687300" y="2190750"/>
            <a:ext cx="4667250" cy="24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1. DATA HETEROGENEITY &amp; QUALITY</a:t>
            </a:r>
          </a:p>
        </p:txBody>
      </p:sp>
      <p:grpSp>
        <p:nvGrpSpPr>
          <p:cNvPr id="286" name="Group 63"/>
          <p:cNvGrpSpPr/>
          <p:nvPr/>
        </p:nvGrpSpPr>
        <p:grpSpPr>
          <a:xfrm>
            <a:off x="12401550" y="4000500"/>
            <a:ext cx="5372100" cy="1752600"/>
            <a:chOff x="0" y="0"/>
            <a:chExt cx="7162800" cy="2336800"/>
          </a:xfrm>
        </p:grpSpPr>
        <p:sp>
          <p:nvSpPr>
            <p:cNvPr id="287" name="Freeform 64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8" name="TextBox 65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89" name="TextBox 66"/>
          <p:cNvSpPr txBox="1"/>
          <p:nvPr/>
        </p:nvSpPr>
        <p:spPr>
          <a:xfrm>
            <a:off x="12687300" y="4105275"/>
            <a:ext cx="4667250" cy="24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2. AI HALLUCINATION &amp; ACCURACY</a:t>
            </a:r>
          </a:p>
        </p:txBody>
      </p:sp>
      <p:grpSp>
        <p:nvGrpSpPr>
          <p:cNvPr id="290" name="Group 67"/>
          <p:cNvGrpSpPr/>
          <p:nvPr/>
        </p:nvGrpSpPr>
        <p:grpSpPr>
          <a:xfrm>
            <a:off x="12401550" y="5867400"/>
            <a:ext cx="5372100" cy="1752600"/>
            <a:chOff x="0" y="0"/>
            <a:chExt cx="7162800" cy="2336800"/>
          </a:xfrm>
        </p:grpSpPr>
        <p:sp>
          <p:nvSpPr>
            <p:cNvPr id="291" name="Freeform 68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2" name="TextBox 69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93" name="TextBox 70"/>
          <p:cNvSpPr txBox="1"/>
          <p:nvPr/>
        </p:nvSpPr>
        <p:spPr>
          <a:xfrm>
            <a:off x="12687300" y="5995352"/>
            <a:ext cx="4667250" cy="24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3. MULTIMODAL MEDIA VOLUME</a:t>
            </a:r>
          </a:p>
        </p:txBody>
      </p:sp>
      <p:grpSp>
        <p:nvGrpSpPr>
          <p:cNvPr id="294" name="Group 71"/>
          <p:cNvGrpSpPr/>
          <p:nvPr/>
        </p:nvGrpSpPr>
        <p:grpSpPr>
          <a:xfrm>
            <a:off x="12401550" y="7734300"/>
            <a:ext cx="5372100" cy="1752600"/>
            <a:chOff x="0" y="0"/>
            <a:chExt cx="7162800" cy="2336800"/>
          </a:xfrm>
        </p:grpSpPr>
        <p:sp>
          <p:nvSpPr>
            <p:cNvPr id="295" name="Freeform 72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6" name="TextBox 73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97" name="TextBox 74"/>
          <p:cNvSpPr txBox="1"/>
          <p:nvPr/>
        </p:nvSpPr>
        <p:spPr>
          <a:xfrm>
            <a:off x="12687300" y="7934325"/>
            <a:ext cx="4667250" cy="24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4. UNAPPROVED CONTENT DISSEMINATION</a:t>
            </a:r>
          </a:p>
        </p:txBody>
      </p:sp>
      <p:sp>
        <p:nvSpPr>
          <p:cNvPr id="298" name="TextBox 75"/>
          <p:cNvSpPr txBox="1"/>
          <p:nvPr/>
        </p:nvSpPr>
        <p:spPr>
          <a:xfrm>
            <a:off x="12573000" y="2638425"/>
            <a:ext cx="5029200" cy="68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RISK: 40+ years of polar records span handwritten logs, scanned PDFs, diverse sensor spreadsheets, and varied NetCDF formats.</a:t>
            </a:r>
          </a:p>
          <a:p>
            <a:r>
              <a:t>STRATEGY: Automated PyMuPDF extraction + OCR preprocessing + strict schema validation against DataCite 4.4 / Dublin Core standards.</a:t>
            </a:r>
          </a:p>
        </p:txBody>
      </p:sp>
      <p:sp>
        <p:nvSpPr>
          <p:cNvPr id="299" name="TextBox 76"/>
          <p:cNvSpPr txBox="1"/>
          <p:nvPr/>
        </p:nvSpPr>
        <p:spPr>
          <a:xfrm>
            <a:off x="12573000" y="4505325"/>
            <a:ext cx="5029200" cy="936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RISK: Generative AI producing incorrect polar coordinates, fabricated findings, or misleading climate change conclusions.</a:t>
            </a:r>
          </a:p>
          <a:p>
            <a:r>
              <a:t>STRATEGY: Strict Citation-Grounded RAG with dense vector retrieval + confidence scoring + fallback refusal when evidence is lacking.</a:t>
            </a:r>
          </a:p>
        </p:txBody>
      </p:sp>
      <p:sp>
        <p:nvSpPr>
          <p:cNvPr id="300" name="TextBox 77"/>
          <p:cNvSpPr txBox="1"/>
          <p:nvPr/>
        </p:nvSpPr>
        <p:spPr>
          <a:xfrm>
            <a:off x="12573000" y="6372225"/>
            <a:ext cx="5029200" cy="68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RISK: High-resolution expedition photography, 4K drone surveys, and satellite imagery causing storage and bandwidth bottlenecks.</a:t>
            </a:r>
          </a:p>
          <a:p>
            <a:r>
              <a:t>STRATEGY: S3/MinIO chunked object storage + thumbnail caching + CLIP semantic embeddings for natural-language text-to-image search.</a:t>
            </a:r>
          </a:p>
        </p:txBody>
      </p:sp>
      <p:sp>
        <p:nvSpPr>
          <p:cNvPr id="301" name="TextBox 78"/>
          <p:cNvSpPr txBox="1"/>
          <p:nvPr/>
        </p:nvSpPr>
        <p:spPr>
          <a:xfrm>
            <a:off x="12573000" y="8239125"/>
            <a:ext cx="5029200" cy="68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RISK: Premature, inaccurate, or unverified AI drafts accidentally published to government web portals or social media accounts.</a:t>
            </a:r>
          </a:p>
          <a:p>
            <a:r>
              <a:t>STRATEGY: Enforced Human-in-the-Loop review gate; drafts remain locked in 'Review' state until approved by authenticated NCPOR editor.</a:t>
            </a:r>
          </a:p>
        </p:txBody>
      </p:sp>
      <p:sp>
        <p:nvSpPr>
          <p:cNvPr id="302" name="Freeform 79"/>
          <p:cNvSpPr/>
          <p:nvPr/>
        </p:nvSpPr>
        <p:spPr>
          <a:xfrm>
            <a:off x="628650" y="22574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3" name="Freeform 80"/>
          <p:cNvSpPr/>
          <p:nvPr/>
        </p:nvSpPr>
        <p:spPr>
          <a:xfrm>
            <a:off x="668655" y="44005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4814" r="-1481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4" name="Freeform 81"/>
          <p:cNvSpPr/>
          <p:nvPr/>
        </p:nvSpPr>
        <p:spPr>
          <a:xfrm>
            <a:off x="628650" y="62960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451" t="-12903" r="-645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5" name="Freeform 82"/>
          <p:cNvSpPr/>
          <p:nvPr/>
        </p:nvSpPr>
        <p:spPr>
          <a:xfrm>
            <a:off x="628650" y="816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85" t="-10714" r="-178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6" name="Freeform 83"/>
          <p:cNvSpPr/>
          <p:nvPr/>
        </p:nvSpPr>
        <p:spPr>
          <a:xfrm>
            <a:off x="6572250" y="22574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7" name="Freeform 84"/>
          <p:cNvSpPr/>
          <p:nvPr/>
        </p:nvSpPr>
        <p:spPr>
          <a:xfrm>
            <a:off x="6572250" y="41243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8" name="Freeform 85"/>
          <p:cNvSpPr/>
          <p:nvPr/>
        </p:nvSpPr>
        <p:spPr>
          <a:xfrm>
            <a:off x="6572250" y="5991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451" t="-12903" r="-645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9" name="Freeform 86"/>
          <p:cNvSpPr/>
          <p:nvPr/>
        </p:nvSpPr>
        <p:spPr>
          <a:xfrm>
            <a:off x="6572250" y="78581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85" t="-10714" r="-178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10" name="Group 87"/>
          <p:cNvGrpSpPr/>
          <p:nvPr/>
        </p:nvGrpSpPr>
        <p:grpSpPr>
          <a:xfrm>
            <a:off x="514350" y="1715453"/>
            <a:ext cx="323850" cy="190500"/>
            <a:chOff x="0" y="0"/>
            <a:chExt cx="431800" cy="254000"/>
          </a:xfrm>
        </p:grpSpPr>
        <p:sp>
          <p:nvSpPr>
            <p:cNvPr id="311" name="Freeform 88"/>
            <p:cNvSpPr/>
            <p:nvPr/>
          </p:nvSpPr>
          <p:spPr>
            <a:xfrm>
              <a:off x="0" y="0"/>
              <a:ext cx="431800" cy="254000"/>
            </a:xfrm>
            <a:custGeom>
              <a:avLst/>
              <a:gdLst/>
              <a:ahLst/>
              <a:cxnLst/>
              <a:rect l="l" t="t" r="r" b="b"/>
              <a:pathLst>
                <a:path w="431800" h="254000">
                  <a:moveTo>
                    <a:pt x="25400" y="0"/>
                  </a:moveTo>
                  <a:lnTo>
                    <a:pt x="406400" y="0"/>
                  </a:lnTo>
                  <a:cubicBezTo>
                    <a:pt x="420428" y="0"/>
                    <a:pt x="431800" y="11372"/>
                    <a:pt x="431800" y="25400"/>
                  </a:cubicBezTo>
                  <a:lnTo>
                    <a:pt x="431800" y="228600"/>
                  </a:lnTo>
                  <a:cubicBezTo>
                    <a:pt x="431800" y="242628"/>
                    <a:pt x="420428" y="254000"/>
                    <a:pt x="406400" y="254000"/>
                  </a:cubicBezTo>
                  <a:lnTo>
                    <a:pt x="25400" y="254000"/>
                  </a:lnTo>
                  <a:cubicBezTo>
                    <a:pt x="11372" y="254000"/>
                    <a:pt x="0" y="242628"/>
                    <a:pt x="0" y="2286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ln w="19050" cap="sq">
              <a:solidFill>
                <a:srgbClr val="5B718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2" name="TextBox 89"/>
            <p:cNvSpPr txBox="1"/>
            <p:nvPr/>
          </p:nvSpPr>
          <p:spPr>
            <a:xfrm>
              <a:off x="0" y="-38100"/>
              <a:ext cx="4318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13" name="AutoShape 90"/>
          <p:cNvSpPr/>
          <p:nvPr/>
        </p:nvSpPr>
        <p:spPr>
          <a:xfrm flipH="1" flipV="1">
            <a:off x="600075" y="1648778"/>
            <a:ext cx="0" cy="66675"/>
          </a:xfrm>
          <a:prstGeom prst="line">
            <a:avLst/>
          </a:prstGeom>
          <a:ln w="19050" cap="flat">
            <a:solidFill>
              <a:srgbClr val="5B718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14" name="AutoShape 91"/>
          <p:cNvSpPr/>
          <p:nvPr/>
        </p:nvSpPr>
        <p:spPr>
          <a:xfrm>
            <a:off x="600075" y="1648778"/>
            <a:ext cx="152400" cy="0"/>
          </a:xfrm>
          <a:prstGeom prst="line">
            <a:avLst/>
          </a:prstGeom>
          <a:ln w="19050" cap="flat">
            <a:solidFill>
              <a:srgbClr val="5B718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15" name="AutoShape 92"/>
          <p:cNvSpPr/>
          <p:nvPr/>
        </p:nvSpPr>
        <p:spPr>
          <a:xfrm>
            <a:off x="752475" y="1648778"/>
            <a:ext cx="0" cy="66675"/>
          </a:xfrm>
          <a:prstGeom prst="line">
            <a:avLst/>
          </a:prstGeom>
          <a:ln w="19050" cap="flat">
            <a:solidFill>
              <a:srgbClr val="5B718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16" name="AutoShape 93"/>
          <p:cNvSpPr/>
          <p:nvPr/>
        </p:nvSpPr>
        <p:spPr>
          <a:xfrm flipV="1">
            <a:off x="514350" y="1791653"/>
            <a:ext cx="323850" cy="0"/>
          </a:xfrm>
          <a:prstGeom prst="line">
            <a:avLst/>
          </a:prstGeom>
          <a:ln w="19050" cap="flat">
            <a:solidFill>
              <a:srgbClr val="5B718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17" name="Group 94"/>
          <p:cNvGrpSpPr/>
          <p:nvPr/>
        </p:nvGrpSpPr>
        <p:grpSpPr>
          <a:xfrm>
            <a:off x="6468428" y="1786890"/>
            <a:ext cx="66675" cy="123825"/>
            <a:chOff x="0" y="0"/>
            <a:chExt cx="88900" cy="165100"/>
          </a:xfrm>
        </p:grpSpPr>
        <p:sp>
          <p:nvSpPr>
            <p:cNvPr id="318" name="Freeform 95"/>
            <p:cNvSpPr/>
            <p:nvPr/>
          </p:nvSpPr>
          <p:spPr>
            <a:xfrm>
              <a:off x="0" y="0"/>
              <a:ext cx="88900" cy="165100"/>
            </a:xfrm>
            <a:custGeom>
              <a:avLst/>
              <a:gdLst/>
              <a:ahLst/>
              <a:cxnLst/>
              <a:rect l="l" t="t" r="r" b="b"/>
              <a:pathLst>
                <a:path w="88900" h="165100">
                  <a:moveTo>
                    <a:pt x="0" y="0"/>
                  </a:moveTo>
                  <a:lnTo>
                    <a:pt x="88900" y="0"/>
                  </a:lnTo>
                  <a:lnTo>
                    <a:pt x="88900" y="165100"/>
                  </a:lnTo>
                  <a:lnTo>
                    <a:pt x="0" y="165100"/>
                  </a:lnTo>
                  <a:close/>
                </a:path>
              </a:pathLst>
            </a:custGeom>
            <a:ln w="19050" cap="sq">
              <a:solidFill>
                <a:srgbClr val="6F9B7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9" name="TextBox 96"/>
            <p:cNvSpPr txBox="1"/>
            <p:nvPr/>
          </p:nvSpPr>
          <p:spPr>
            <a:xfrm>
              <a:off x="0" y="-38100"/>
              <a:ext cx="88900" cy="203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20" name="Group 97"/>
          <p:cNvGrpSpPr/>
          <p:nvPr/>
        </p:nvGrpSpPr>
        <p:grpSpPr>
          <a:xfrm>
            <a:off x="6582728" y="1729740"/>
            <a:ext cx="66675" cy="180975"/>
            <a:chOff x="0" y="0"/>
            <a:chExt cx="88900" cy="241300"/>
          </a:xfrm>
        </p:grpSpPr>
        <p:sp>
          <p:nvSpPr>
            <p:cNvPr id="321" name="Freeform 98"/>
            <p:cNvSpPr/>
            <p:nvPr/>
          </p:nvSpPr>
          <p:spPr>
            <a:xfrm>
              <a:off x="0" y="0"/>
              <a:ext cx="88900" cy="241300"/>
            </a:xfrm>
            <a:custGeom>
              <a:avLst/>
              <a:gdLst/>
              <a:ahLst/>
              <a:cxnLst/>
              <a:rect l="l" t="t" r="r" b="b"/>
              <a:pathLst>
                <a:path w="88900" h="241300">
                  <a:moveTo>
                    <a:pt x="0" y="0"/>
                  </a:moveTo>
                  <a:lnTo>
                    <a:pt x="88900" y="0"/>
                  </a:lnTo>
                  <a:lnTo>
                    <a:pt x="88900" y="241300"/>
                  </a:lnTo>
                  <a:lnTo>
                    <a:pt x="0" y="241300"/>
                  </a:lnTo>
                  <a:close/>
                </a:path>
              </a:pathLst>
            </a:custGeom>
            <a:ln w="19050" cap="sq">
              <a:solidFill>
                <a:srgbClr val="6F9B7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2" name="TextBox 99"/>
            <p:cNvSpPr txBox="1"/>
            <p:nvPr/>
          </p:nvSpPr>
          <p:spPr>
            <a:xfrm>
              <a:off x="0" y="-38100"/>
              <a:ext cx="88900" cy="279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23" name="Group 100"/>
          <p:cNvGrpSpPr/>
          <p:nvPr/>
        </p:nvGrpSpPr>
        <p:grpSpPr>
          <a:xfrm>
            <a:off x="6697028" y="1672590"/>
            <a:ext cx="66675" cy="238125"/>
            <a:chOff x="0" y="0"/>
            <a:chExt cx="88900" cy="317500"/>
          </a:xfrm>
        </p:grpSpPr>
        <p:sp>
          <p:nvSpPr>
            <p:cNvPr id="324" name="Freeform 101"/>
            <p:cNvSpPr/>
            <p:nvPr/>
          </p:nvSpPr>
          <p:spPr>
            <a:xfrm>
              <a:off x="0" y="0"/>
              <a:ext cx="88900" cy="317500"/>
            </a:xfrm>
            <a:custGeom>
              <a:avLst/>
              <a:gdLst/>
              <a:ahLst/>
              <a:cxnLst/>
              <a:rect l="l" t="t" r="r" b="b"/>
              <a:pathLst>
                <a:path w="88900" h="317500">
                  <a:moveTo>
                    <a:pt x="0" y="0"/>
                  </a:moveTo>
                  <a:lnTo>
                    <a:pt x="88900" y="0"/>
                  </a:lnTo>
                  <a:lnTo>
                    <a:pt x="88900" y="317500"/>
                  </a:lnTo>
                  <a:lnTo>
                    <a:pt x="0" y="317500"/>
                  </a:lnTo>
                  <a:close/>
                </a:path>
              </a:pathLst>
            </a:custGeom>
            <a:ln w="19050" cap="sq">
              <a:solidFill>
                <a:srgbClr val="6F9B7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5" name="TextBox 102"/>
            <p:cNvSpPr txBox="1"/>
            <p:nvPr/>
          </p:nvSpPr>
          <p:spPr>
            <a:xfrm>
              <a:off x="0" y="-38100"/>
              <a:ext cx="88900" cy="355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26" name="AutoShape 103"/>
          <p:cNvSpPr/>
          <p:nvPr/>
        </p:nvSpPr>
        <p:spPr>
          <a:xfrm flipV="1">
            <a:off x="6468427" y="1672590"/>
            <a:ext cx="133350" cy="76200"/>
          </a:xfrm>
          <a:prstGeom prst="line">
            <a:avLst/>
          </a:prstGeom>
          <a:ln w="19050" cap="flat">
            <a:solidFill>
              <a:srgbClr val="6F9B7D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327" name="AutoShape 104"/>
          <p:cNvSpPr/>
          <p:nvPr/>
        </p:nvSpPr>
        <p:spPr>
          <a:xfrm flipV="1">
            <a:off x="6601778" y="1615440"/>
            <a:ext cx="152400" cy="57150"/>
          </a:xfrm>
          <a:prstGeom prst="line">
            <a:avLst/>
          </a:prstGeom>
          <a:ln w="19050" cap="flat">
            <a:solidFill>
              <a:srgbClr val="6F9B7D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28" name="Group 105"/>
          <p:cNvGrpSpPr/>
          <p:nvPr/>
        </p:nvGrpSpPr>
        <p:grpSpPr>
          <a:xfrm>
            <a:off x="12401550" y="1639253"/>
            <a:ext cx="304800" cy="304800"/>
            <a:chOff x="0" y="0"/>
            <a:chExt cx="406400" cy="406400"/>
          </a:xfrm>
        </p:grpSpPr>
        <p:sp>
          <p:nvSpPr>
            <p:cNvPr id="329" name="Freeform 106"/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203200" y="0"/>
                  </a:moveTo>
                  <a:lnTo>
                    <a:pt x="406400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D9A3A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0" name="TextBox 107"/>
            <p:cNvSpPr txBox="1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31" name="AutoShape 108"/>
          <p:cNvSpPr/>
          <p:nvPr/>
        </p:nvSpPr>
        <p:spPr>
          <a:xfrm>
            <a:off x="12553950" y="1734503"/>
            <a:ext cx="0" cy="104775"/>
          </a:xfrm>
          <a:prstGeom prst="line">
            <a:avLst/>
          </a:prstGeom>
          <a:ln w="19050" cap="flat">
            <a:solidFill>
              <a:srgbClr val="D9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32" name="Group 109"/>
          <p:cNvGrpSpPr/>
          <p:nvPr/>
        </p:nvGrpSpPr>
        <p:grpSpPr>
          <a:xfrm>
            <a:off x="12539662" y="1877378"/>
            <a:ext cx="28575" cy="28575"/>
            <a:chOff x="0" y="0"/>
            <a:chExt cx="38100" cy="38100"/>
          </a:xfrm>
        </p:grpSpPr>
        <p:sp>
          <p:nvSpPr>
            <p:cNvPr id="333" name="Freeform 110"/>
            <p:cNvSpPr/>
            <p:nvPr/>
          </p:nvSpPr>
          <p:spPr>
            <a:xfrm>
              <a:off x="0" y="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19050"/>
                  </a:moveTo>
                  <a:cubicBezTo>
                    <a:pt x="0" y="29571"/>
                    <a:pt x="8529" y="38100"/>
                    <a:pt x="19050" y="38100"/>
                  </a:cubicBezTo>
                  <a:cubicBezTo>
                    <a:pt x="29571" y="38100"/>
                    <a:pt x="38100" y="29571"/>
                    <a:pt x="38100" y="19050"/>
                  </a:cubicBezTo>
                  <a:cubicBezTo>
                    <a:pt x="38100" y="8529"/>
                    <a:pt x="29571" y="0"/>
                    <a:pt x="19050" y="0"/>
                  </a:cubicBezTo>
                  <a:cubicBezTo>
                    <a:pt x="8529" y="0"/>
                    <a:pt x="0" y="8529"/>
                    <a:pt x="0" y="19050"/>
                  </a:cubicBezTo>
                  <a:close/>
                </a:path>
              </a:pathLst>
            </a:custGeom>
            <a:solidFill>
              <a:srgbClr val="D9A3A3"/>
            </a:solidFill>
            <a:ln w="19050" cap="sq">
              <a:solidFill>
                <a:srgbClr val="D9A3A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4" name="TextBox 111"/>
            <p:cNvSpPr txBox="1"/>
            <p:nvPr/>
          </p:nvSpPr>
          <p:spPr>
            <a:xfrm>
              <a:off x="0" y="-38100"/>
              <a:ext cx="381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6" name="Freeform 14" descr="Your startup LOGO">
            <a:extLst>
              <a:ext uri="{FF2B5EF4-FFF2-40B4-BE49-F238E27FC236}">
                <a16:creationId xmlns:a16="http://schemas.microsoft.com/office/drawing/2014/main" id="{89D352D7-F996-408C-D44F-52C7C26EC3C7}"/>
              </a:ext>
            </a:extLst>
          </p:cNvPr>
          <p:cNvSpPr/>
          <p:nvPr/>
        </p:nvSpPr>
        <p:spPr>
          <a:xfrm>
            <a:off x="106594" y="22117"/>
            <a:ext cx="2115193" cy="779324"/>
          </a:xfrm>
          <a:custGeom>
            <a:avLst/>
            <a:gdLst/>
            <a:ahLst/>
            <a:cxnLst/>
            <a:rect l="l" t="t" r="r" b="b"/>
            <a:pathLst>
              <a:path w="2303431" h="1004506">
                <a:moveTo>
                  <a:pt x="0" y="0"/>
                </a:moveTo>
                <a:lnTo>
                  <a:pt x="2303431" y="0"/>
                </a:lnTo>
                <a:lnTo>
                  <a:pt x="2303431" y="1004507"/>
                </a:lnTo>
                <a:lnTo>
                  <a:pt x="0" y="1004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7" name="Group 15">
            <a:extLst>
              <a:ext uri="{FF2B5EF4-FFF2-40B4-BE49-F238E27FC236}">
                <a16:creationId xmlns:a16="http://schemas.microsoft.com/office/drawing/2014/main" id="{7BB5FB9C-F631-3FD5-7D29-DED7E586EF3F}"/>
              </a:ext>
            </a:extLst>
          </p:cNvPr>
          <p:cNvGrpSpPr/>
          <p:nvPr/>
        </p:nvGrpSpPr>
        <p:grpSpPr>
          <a:xfrm>
            <a:off x="120882" y="-6458"/>
            <a:ext cx="2088918" cy="790365"/>
            <a:chOff x="0" y="0"/>
            <a:chExt cx="3033090" cy="1358316"/>
          </a:xfrm>
        </p:grpSpPr>
        <p:sp>
          <p:nvSpPr>
            <p:cNvPr id="118" name="Freeform 16">
              <a:extLst>
                <a:ext uri="{FF2B5EF4-FFF2-40B4-BE49-F238E27FC236}">
                  <a16:creationId xmlns:a16="http://schemas.microsoft.com/office/drawing/2014/main" id="{FA8D91E3-2CC9-913C-76A7-02DE6F1B77A7}"/>
                </a:ext>
              </a:extLst>
            </p:cNvPr>
            <p:cNvSpPr/>
            <p:nvPr/>
          </p:nvSpPr>
          <p:spPr>
            <a:xfrm>
              <a:off x="0" y="0"/>
              <a:ext cx="3033091" cy="1358315"/>
            </a:xfrm>
            <a:custGeom>
              <a:avLst/>
              <a:gdLst/>
              <a:ahLst/>
              <a:cxnLst/>
              <a:rect l="l" t="t" r="r" b="b"/>
              <a:pathLst>
                <a:path w="3033091" h="1358315">
                  <a:moveTo>
                    <a:pt x="0" y="0"/>
                  </a:moveTo>
                  <a:lnTo>
                    <a:pt x="3033091" y="0"/>
                  </a:lnTo>
                  <a:lnTo>
                    <a:pt x="3033091" y="1358315"/>
                  </a:lnTo>
                  <a:lnTo>
                    <a:pt x="0" y="135831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7458" r="-74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9" name="TextBox 17">
              <a:extLst>
                <a:ext uri="{FF2B5EF4-FFF2-40B4-BE49-F238E27FC236}">
                  <a16:creationId xmlns:a16="http://schemas.microsoft.com/office/drawing/2014/main" id="{B802F668-1566-2260-F6C3-3262AE2A0303}"/>
                </a:ext>
              </a:extLst>
            </p:cNvPr>
            <p:cNvSpPr txBox="1"/>
            <p:nvPr/>
          </p:nvSpPr>
          <p:spPr>
            <a:xfrm>
              <a:off x="0" y="-57150"/>
              <a:ext cx="3033090" cy="1415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t>TBD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898513"/>
            <a:ext cx="18288000" cy="456343"/>
            <a:chOff x="0" y="0"/>
            <a:chExt cx="24384000" cy="6084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608457"/>
            </a:xfrm>
            <a:custGeom>
              <a:avLst/>
              <a:gdLst/>
              <a:ahLst/>
              <a:cxnLst/>
              <a:rect l="l" t="t" r="r" b="b"/>
              <a:pathLst>
                <a:path w="24384000" h="608457">
                  <a:moveTo>
                    <a:pt x="0" y="0"/>
                  </a:moveTo>
                  <a:lnTo>
                    <a:pt x="24384000" y="0"/>
                  </a:lnTo>
                  <a:lnTo>
                    <a:pt x="24384000" y="608457"/>
                  </a:lnTo>
                  <a:lnTo>
                    <a:pt x="0" y="608457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07612" y="-362445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26" b="-13692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07612" y="-383877"/>
            <a:ext cx="16459200" cy="1735931"/>
            <a:chOff x="0" y="0"/>
            <a:chExt cx="21945600" cy="23145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314575"/>
            </a:xfrm>
            <a:custGeom>
              <a:avLst/>
              <a:gdLst/>
              <a:ahLst/>
              <a:cxnLst/>
              <a:rect l="l" t="t" r="r" b="b"/>
              <a:pathLst>
                <a:path w="21945600" h="2314575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4747" b="-13474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707" b="-10170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06400" y="9520238"/>
            <a:ext cx="4267200" cy="561975"/>
            <a:chOff x="0" y="0"/>
            <a:chExt cx="5689600" cy="7493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89600" cy="749301"/>
            </a:xfrm>
            <a:custGeom>
              <a:avLst/>
              <a:gdLst/>
              <a:ahLst/>
              <a:cxnLst/>
              <a:rect l="l" t="t" r="r" b="b"/>
              <a:pathLst>
                <a:path w="5689600" h="749301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7954" b="-9795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sp>
        <p:nvSpPr>
          <p:cNvPr id="14" name="Freeform 14" descr="Your startup LOGO"/>
          <p:cNvSpPr/>
          <p:nvPr/>
        </p:nvSpPr>
        <p:spPr>
          <a:xfrm>
            <a:off x="209760" y="10801"/>
            <a:ext cx="2740057" cy="968026"/>
          </a:xfrm>
          <a:custGeom>
            <a:avLst/>
            <a:gdLst/>
            <a:ahLst/>
            <a:cxnLst/>
            <a:rect l="l" t="t" r="r" b="b"/>
            <a:pathLst>
              <a:path w="2740057" h="968026">
                <a:moveTo>
                  <a:pt x="0" y="0"/>
                </a:moveTo>
                <a:lnTo>
                  <a:pt x="2740056" y="0"/>
                </a:lnTo>
                <a:lnTo>
                  <a:pt x="2740056" y="968026"/>
                </a:lnTo>
                <a:lnTo>
                  <a:pt x="0" y="9680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224047" y="10801"/>
            <a:ext cx="2711463" cy="953719"/>
            <a:chOff x="0" y="0"/>
            <a:chExt cx="3615284" cy="127162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15284" cy="1271626"/>
            </a:xfrm>
            <a:custGeom>
              <a:avLst/>
              <a:gdLst/>
              <a:ahLst/>
              <a:cxnLst/>
              <a:rect l="l" t="t" r="r" b="b"/>
              <a:pathLst>
                <a:path w="3615284" h="1271626">
                  <a:moveTo>
                    <a:pt x="0" y="0"/>
                  </a:moveTo>
                  <a:lnTo>
                    <a:pt x="3615284" y="0"/>
                  </a:lnTo>
                  <a:lnTo>
                    <a:pt x="3615284" y="1271626"/>
                  </a:lnTo>
                  <a:lnTo>
                    <a:pt x="0" y="1271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96" b="-539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3615284" cy="12906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t>TBD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019755" y="2248"/>
            <a:ext cx="2025110" cy="754856"/>
            <a:chOff x="0" y="0"/>
            <a:chExt cx="2700147" cy="10064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00147" cy="1006475"/>
            </a:xfrm>
            <a:custGeom>
              <a:avLst/>
              <a:gdLst/>
              <a:ahLst/>
              <a:cxnLst/>
              <a:rect l="l" t="t" r="r" b="b"/>
              <a:pathLst>
                <a:path w="2700147" h="1006475">
                  <a:moveTo>
                    <a:pt x="0" y="0"/>
                  </a:moveTo>
                  <a:lnTo>
                    <a:pt x="2700147" y="0"/>
                  </a:lnTo>
                  <a:lnTo>
                    <a:pt x="2700147" y="1006475"/>
                  </a:lnTo>
                  <a:lnTo>
                    <a:pt x="0" y="1006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366" b="-1336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AutoShape 20"/>
          <p:cNvSpPr/>
          <p:nvPr/>
        </p:nvSpPr>
        <p:spPr>
          <a:xfrm rot="3540">
            <a:off x="-47682" y="983932"/>
            <a:ext cx="18345255" cy="0"/>
          </a:xfrm>
          <a:prstGeom prst="line">
            <a:avLst/>
          </a:prstGeom>
          <a:ln w="19050" cap="rnd">
            <a:solidFill>
              <a:srgbClr val="4F81B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000" y="1180000"/>
            <a:ext cx="380000" cy="38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70000" y="1160000"/>
            <a:ext cx="7399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DIRECT IMPACT ON TARGET USERS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9000" y="1180000"/>
            <a:ext cx="380000" cy="38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39000" y="1160000"/>
            <a:ext cx="7399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BENEFITS OF THE SOLUTION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000" y="1750000"/>
            <a:ext cx="7919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0000" y="1920000"/>
            <a:ext cx="320000" cy="320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40000" y="1900000"/>
            <a:ext cx="6989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POLAR SCIENTISTS &amp; RESEARCHERS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0000" y="2325000"/>
            <a:ext cx="7439000" cy="106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E0F2FE"/>
                </a:solidFill>
                <a:latin typeface="Segoe UI"/>
              </a:defRPr>
            </a:pPr>
            <a:r>
              <a:t>• Centralized access to 40+ years of multidisciplinary expedition reports, climate datasets, and station logs in one search query.</a:t>
            </a:r>
          </a:p>
          <a:p>
            <a:r>
              <a:t>• Rapid discovery of historical baseline data accelerates new research publications and international polar collaborations.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19000" y="1750000"/>
            <a:ext cx="7919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9000" y="1920000"/>
            <a:ext cx="320000" cy="320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209000" y="1900000"/>
            <a:ext cx="6989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KNOWLEDGE CENTRALIZATION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9000" y="2325000"/>
            <a:ext cx="7439000" cy="106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E0F2FE"/>
                </a:solidFill>
                <a:latin typeface="Segoe UI"/>
              </a:defRPr>
            </a:pPr>
            <a:r>
              <a:t>• Unifies fragmented expedition archives, research papers, and environmental datasets across Antarctica, Arctic, and Southern Ocean.</a:t>
            </a:r>
          </a:p>
          <a:p>
            <a:r>
              <a:t>• Preserves India's polar scientific heritage and ensures open, FAIR-compliant accessibility for the global scientific community.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000" y="3810000"/>
            <a:ext cx="7919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0000" y="3980000"/>
            <a:ext cx="320000" cy="320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540000" y="3960000"/>
            <a:ext cx="6989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SCHOOL &amp; UNIVERSITY STUDENTS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0000" y="4385000"/>
            <a:ext cx="7439000" cy="106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E0F2FE"/>
                </a:solidFill>
                <a:latin typeface="Segoe UI"/>
              </a:defRPr>
            </a:pPr>
            <a:r>
              <a:t>• Interactive Polar Academy offers simplified explanations, visual timelines, and gamified quizzes generated from verified data.</a:t>
            </a:r>
          </a:p>
          <a:p>
            <a:r>
              <a:t>• Inspires future STEM careers in polar science, glaciology, oceanography, and atmospheric research.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19000" y="3810000"/>
            <a:ext cx="7919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59000" y="3980000"/>
            <a:ext cx="320000" cy="320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209000" y="3960000"/>
            <a:ext cx="6989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EDUCATIONAL EMPOWERMENT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9000" y="4385000"/>
            <a:ext cx="7439000" cy="106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E0F2FE"/>
                </a:solidFill>
                <a:latin typeface="Segoe UI"/>
              </a:defRPr>
            </a:pPr>
            <a:r>
              <a:t>• Democratizes polar science for millions of Indian students, translating complex cryospheric data into engaging educational content.</a:t>
            </a:r>
          </a:p>
          <a:p>
            <a:r>
              <a:t>• Fosters national pride and public awareness of India's strategic polar research stations (Maitri, Bharati, Himadri).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0000" y="5870000"/>
            <a:ext cx="7919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0000" y="6040000"/>
            <a:ext cx="320000" cy="320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540000" y="6020000"/>
            <a:ext cx="6989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SCIENCE EDUCATORS &amp; ACADEMICS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0000" y="6445000"/>
            <a:ext cx="7439000" cy="106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E0F2FE"/>
                </a:solidFill>
                <a:latin typeface="Segoe UI"/>
              </a:defRPr>
            </a:pPr>
            <a:r>
              <a:t>• Curated learning paths, ready-to-teach polar milestones, and verifiable classroom resources backed by primary scientific literature.</a:t>
            </a:r>
          </a:p>
          <a:p>
            <a:r>
              <a:t>• Eliminates hours spent verifying polar science facts from informal, unreliable internet sources.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19000" y="5870000"/>
            <a:ext cx="7919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59000" y="6040000"/>
            <a:ext cx="320000" cy="320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209000" y="6020000"/>
            <a:ext cx="6989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OPERATIONAL EFFICIENCY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59000" y="6445000"/>
            <a:ext cx="7439000" cy="106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E0F2FE"/>
                </a:solidFill>
                <a:latin typeface="Segoe UI"/>
              </a:defRPr>
            </a:pPr>
            <a:r>
              <a:t>• Eliminates redundant data requests and manual cross-referencing between research divisions and communication wings.</a:t>
            </a:r>
          </a:p>
          <a:p>
            <a:r>
              <a:t>• Automated metadata parsing, hybrid search, and RAG-powered answers provide answers in seconds rather than weeks.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0000" y="7930000"/>
            <a:ext cx="7919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0000" y="8100000"/>
            <a:ext cx="320000" cy="320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540000" y="8080000"/>
            <a:ext cx="6989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OUTREACH TEAMS &amp; MEDIA COMMUNICATORS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0000" y="8505000"/>
            <a:ext cx="7439000" cy="106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E0F2FE"/>
                </a:solidFill>
                <a:latin typeface="Segoe UI"/>
              </a:defRPr>
            </a:pPr>
            <a:r>
              <a:t>• 100% source-grounded responses with verbatim citations protect NCPOR/MoES credibility and institutional reputation.</a:t>
            </a:r>
          </a:p>
          <a:p>
            <a:r>
              <a:t>• Granular role-based security ensures sensitive datasets and unapproved drafts remain strictly protected.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19000" y="7930000"/>
            <a:ext cx="7919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59000" y="8100000"/>
            <a:ext cx="320000" cy="3200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209000" y="8080000"/>
            <a:ext cx="6989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ZERO-HALLUCINATION INTEGRITY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59000" y="8505000"/>
            <a:ext cx="7439000" cy="106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E0F2FE"/>
                </a:solidFill>
                <a:latin typeface="Segoe UI"/>
              </a:defRPr>
            </a:pPr>
            <a:r>
              <a:t>• 100% source-grounded responses with verbatim citations protect NCPOR/MoES credibility and institutional reputation.</a:t>
            </a:r>
          </a:p>
          <a:p>
            <a:r>
              <a:t>• Granular role-based security ensures sensitive datasets and unapproved drafts remain strictly protected.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32">
            <a:extLst>
              <a:ext uri="{FF2B5EF4-FFF2-40B4-BE49-F238E27FC236}">
                <a16:creationId xmlns:a16="http://schemas.microsoft.com/office/drawing/2014/main" id="{53DDE4CA-85D6-2CD3-ED65-808047A11A6A}"/>
              </a:ext>
            </a:extLst>
          </p:cNvPr>
          <p:cNvSpPr/>
          <p:nvPr/>
        </p:nvSpPr>
        <p:spPr>
          <a:xfrm>
            <a:off x="8772050" y="5732290"/>
            <a:ext cx="8372949" cy="34954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914400" y="-3800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26" b="-13692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-401469"/>
            <a:ext cx="16459200" cy="1735931"/>
            <a:chOff x="0" y="0"/>
            <a:chExt cx="21945600" cy="23145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314575"/>
            </a:xfrm>
            <a:custGeom>
              <a:avLst/>
              <a:gdLst/>
              <a:ahLst/>
              <a:cxnLst/>
              <a:rect l="l" t="t" r="r" b="b"/>
              <a:pathLst>
                <a:path w="21945600" h="2314575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4747" b="-13474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707" b="-10170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06400" y="9520238"/>
            <a:ext cx="4267200" cy="561975"/>
            <a:chOff x="0" y="0"/>
            <a:chExt cx="5689600" cy="7493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89600" cy="749301"/>
            </a:xfrm>
            <a:custGeom>
              <a:avLst/>
              <a:gdLst/>
              <a:ahLst/>
              <a:cxnLst/>
              <a:rect l="l" t="t" r="r" b="b"/>
              <a:pathLst>
                <a:path w="5689600" h="749301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7954" b="-9795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sp>
        <p:nvSpPr>
          <p:cNvPr id="14" name="Freeform 14" descr="Your startup LOGO"/>
          <p:cNvSpPr/>
          <p:nvPr/>
        </p:nvSpPr>
        <p:spPr>
          <a:xfrm>
            <a:off x="81124" y="5563"/>
            <a:ext cx="2791682" cy="1016508"/>
          </a:xfrm>
          <a:custGeom>
            <a:avLst/>
            <a:gdLst/>
            <a:ahLst/>
            <a:cxnLst/>
            <a:rect l="l" t="t" r="r" b="b"/>
            <a:pathLst>
              <a:path w="2791682" h="1016508">
                <a:moveTo>
                  <a:pt x="0" y="0"/>
                </a:moveTo>
                <a:lnTo>
                  <a:pt x="2791683" y="0"/>
                </a:lnTo>
                <a:lnTo>
                  <a:pt x="2791683" y="1016508"/>
                </a:lnTo>
                <a:lnTo>
                  <a:pt x="0" y="1016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95412" y="5563"/>
            <a:ext cx="2763088" cy="1002306"/>
            <a:chOff x="0" y="0"/>
            <a:chExt cx="3684118" cy="133640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84117" cy="1336409"/>
            </a:xfrm>
            <a:custGeom>
              <a:avLst/>
              <a:gdLst/>
              <a:ahLst/>
              <a:cxnLst/>
              <a:rect l="l" t="t" r="r" b="b"/>
              <a:pathLst>
                <a:path w="3684117" h="1336409">
                  <a:moveTo>
                    <a:pt x="0" y="0"/>
                  </a:moveTo>
                  <a:lnTo>
                    <a:pt x="3684117" y="0"/>
                  </a:lnTo>
                  <a:lnTo>
                    <a:pt x="3684117" y="1336409"/>
                  </a:lnTo>
                  <a:lnTo>
                    <a:pt x="0" y="13364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714" b="-37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3684118" cy="13554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t>TBD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271510" y="-12944"/>
            <a:ext cx="1773364" cy="754856"/>
            <a:chOff x="0" y="0"/>
            <a:chExt cx="2364486" cy="10064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64486" cy="1006475"/>
            </a:xfrm>
            <a:custGeom>
              <a:avLst/>
              <a:gdLst/>
              <a:ahLst/>
              <a:cxnLst/>
              <a:rect l="l" t="t" r="r" b="b"/>
              <a:pathLst>
                <a:path w="2364486" h="1006475">
                  <a:moveTo>
                    <a:pt x="0" y="0"/>
                  </a:moveTo>
                  <a:lnTo>
                    <a:pt x="2364486" y="0"/>
                  </a:lnTo>
                  <a:lnTo>
                    <a:pt x="2364486" y="1006475"/>
                  </a:lnTo>
                  <a:lnTo>
                    <a:pt x="0" y="1006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488" b="-548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AutoShape 20"/>
          <p:cNvSpPr/>
          <p:nvPr/>
        </p:nvSpPr>
        <p:spPr>
          <a:xfrm rot="3540">
            <a:off x="-47654" y="1056780"/>
            <a:ext cx="18345198" cy="0"/>
          </a:xfrm>
          <a:prstGeom prst="line">
            <a:avLst/>
          </a:prstGeom>
          <a:ln w="19050" cap="rnd">
            <a:solidFill>
              <a:srgbClr val="4F81B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01. [2026] SIH26063 Problem Statement — Ministry of Earth Sciences (MoES) / NCPOR</a:t>
            </a:r>
            <a:endParaRPr lang="en-IN"/>
          </a:p>
          <a:p>
            <a:pPr>
              <a:defRPr sz="950">
                <a:solidFill>
                  <a:srgbClr val="BAE6FD"/>
                </a:solidFill>
                <a:latin typeface="Segoe UI"/>
              </a:defRPr>
            </a:pPr>
            <a:r>
              <a:t>Role: Official guidelines &amp; mandate for integrated polar science knowledge repository &amp; outreach portal.   🔗 ncpor.res.in 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000" y="1700000"/>
            <a:ext cx="8500000" cy="6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25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01. [2026] SIH26063 Problem Statement — Ministry of Earth Sciences (MoES) / NCPOR</a:t>
            </a:r>
          </a:p>
          <a:p>
            <a:pPr>
              <a:defRPr sz="950">
                <a:solidFill>
                  <a:srgbClr val="BAE6FD"/>
                </a:solidFill>
                <a:latin typeface="Segoe UI"/>
              </a:defRPr>
            </a:pPr>
            <a:r>
              <a:t>Role: Official mandate &amp; technical requirements for integrated polar knowledge repository &amp; outreach portal.   🔗 ncpor.res.in 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0000" y="2410000"/>
            <a:ext cx="7260000" cy="1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02. [2024] NCPOR Scientific Repository &amp; Polar Archives — National Centre for Polar and Ocean Research, Goa</a:t>
            </a:r>
            <a:endParaRPr/>
          </a:p>
          <a:p>
            <a:pPr>
              <a:defRPr sz="950">
                <a:solidFill>
                  <a:srgbClr val="BAE6FD"/>
                </a:solidFill>
                <a:latin typeface="Segoe UI"/>
              </a:defRPr>
            </a:pPr>
            <a:r>
              <a:t>Role: Baseline data models for Indian Antarctic (Maitri, Bharati), Arctic (Himadri) &amp; Southern Ocean expeditions.   🔗 ncpor.res.in/polar 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000" y="2470000"/>
            <a:ext cx="8500000" cy="6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25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02. [2024] NCPOR Scientific Repository &amp; Polar Archives — National Centre for Polar and Ocean Research, Goa</a:t>
            </a:r>
          </a:p>
          <a:p>
            <a:pPr>
              <a:defRPr sz="950">
                <a:solidFill>
                  <a:srgbClr val="BAE6FD"/>
                </a:solidFill>
                <a:latin typeface="Segoe UI"/>
              </a:defRPr>
            </a:pPr>
            <a:r>
              <a:t>Role: Baseline data models for Indian Antarctic (Maitri, Bharati), Arctic (Himadri) &amp; Southern Ocean expeditions.   🔗 ncpor.res.in/polar 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0000" y="3180000"/>
            <a:ext cx="7260000" cy="1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03. [2020] Retrieval-Augmented Generation — Lewis et al. (NeurIPS / Meta AI / arXiv:2005.11401)</a:t>
            </a:r>
            <a:endParaRPr/>
          </a:p>
          <a:p>
            <a:pPr>
              <a:defRPr sz="950">
                <a:solidFill>
                  <a:srgbClr val="BAE6FD"/>
                </a:solidFill>
                <a:latin typeface="Segoe UI"/>
              </a:defRPr>
            </a:pPr>
            <a:r>
              <a:t>Role: Foundational architecture grounding POLAR AI answers strictly in retrieved repository evidence snippets.   🔗 arxiv.org/abs/2005.11401 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000" y="3240000"/>
            <a:ext cx="8500000" cy="6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25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03. [2020] Retrieval-Augmented Generation — Lewis et al. (NeurIPS / Meta AI / arXiv:2005.11401)</a:t>
            </a:r>
          </a:p>
          <a:p>
            <a:pPr>
              <a:defRPr sz="950">
                <a:solidFill>
                  <a:srgbClr val="BAE6FD"/>
                </a:solidFill>
                <a:latin typeface="Segoe UI"/>
              </a:defRPr>
            </a:pPr>
            <a:r>
              <a:t>Role: Foundational architecture grounding POLAR AI answers strictly in retrieved repository evidence snippets.   🔗 arxiv.org/abs/2005.11401 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0000" y="3950000"/>
            <a:ext cx="7260000" cy="1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04. [2021] DataCite Metadata Schema 4.4 — DataCite Metadata Working Group (doi:10.14454/3w3z-rm97)</a:t>
            </a:r>
            <a:endParaRPr/>
          </a:p>
          <a:p>
            <a:pPr>
              <a:defRPr sz="950">
                <a:solidFill>
                  <a:srgbClr val="BAE6FD"/>
                </a:solidFill>
                <a:latin typeface="Segoe UI"/>
              </a:defRPr>
            </a:pPr>
            <a:r>
              <a:t>Role: Standardized schema for research datasets, scientific reports, DOIs, and creator-expedition relationships.   🔗 schema.datacite.org 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0000" y="4010000"/>
            <a:ext cx="8500000" cy="6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25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04. [2021] DataCite Metadata Schema 4.4 — DataCite Metadata Working Group (doi:10.14454/3w3z-rm97)</a:t>
            </a:r>
          </a:p>
          <a:p>
            <a:pPr>
              <a:defRPr sz="950">
                <a:solidFill>
                  <a:srgbClr val="BAE6FD"/>
                </a:solidFill>
                <a:latin typeface="Segoe UI"/>
              </a:defRPr>
            </a:pPr>
            <a:r>
              <a:t>Role: Standardized schema for research datasets, scientific reports, DOIs, and creator-expedition relationships.   🔗 schema.datacite.org 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0000" y="4720000"/>
            <a:ext cx="7260000" cy="1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05. [2020] Dublin Core Metadata Terms (DCMI) — ISO Standard 15836-1:2017 / DCMI</a:t>
            </a:r>
            <a:endParaRPr/>
          </a:p>
          <a:p>
            <a:pPr>
              <a:defRPr sz="950">
                <a:solidFill>
                  <a:srgbClr val="BAE6FD"/>
                </a:solidFill>
                <a:latin typeface="Segoe UI"/>
              </a:defRPr>
            </a:pPr>
            <a:r>
              <a:t>Role: Multidisciplinary metadata taxonomy for polar publications, expedition media, and institutional activities.   🔗 dublincore.org 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0000" y="4780000"/>
            <a:ext cx="8500000" cy="6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25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05. [2020] Dublin Core Metadata Terms (DCMI) — ISO Standard 15836-1:2017 / DCMI</a:t>
            </a:r>
          </a:p>
          <a:p>
            <a:pPr>
              <a:defRPr sz="950">
                <a:solidFill>
                  <a:srgbClr val="BAE6FD"/>
                </a:solidFill>
                <a:latin typeface="Segoe UI"/>
              </a:defRPr>
            </a:pPr>
            <a:r>
              <a:t>Role: Multidisciplinary metadata taxonomy for polar publications, expedition media, and institutional activities.   🔗 dublincore.org 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0000" y="5490000"/>
            <a:ext cx="7260000" cy="1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06. [2021] CLIP: Multimodal Visual Models — Radford et al. (OpenAI / ICML / arXiv:2103.00020)</a:t>
            </a:r>
            <a:endParaRPr/>
          </a:p>
          <a:p>
            <a:pPr>
              <a:defRPr sz="950">
                <a:solidFill>
                  <a:srgbClr val="BAE6FD"/>
                </a:solidFill>
                <a:latin typeface="Segoe UI"/>
              </a:defRPr>
            </a:pPr>
            <a:r>
              <a:t>Role: Enables natural-language semantic discovery across polar photography, satellite imagery, and video keyframes.   🔗 openai.com/research/clip 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0000" y="5550000"/>
            <a:ext cx="8500000" cy="6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25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06. [2021] CLIP: Multimodal Visual Models — Radford et al. (OpenAI / ICML / arXiv:2103.00020)</a:t>
            </a:r>
          </a:p>
          <a:p>
            <a:pPr>
              <a:defRPr sz="950">
                <a:solidFill>
                  <a:srgbClr val="BAE6FD"/>
                </a:solidFill>
                <a:latin typeface="Segoe UI"/>
              </a:defRPr>
            </a:pPr>
            <a:r>
              <a:t>Role: Enables natural-language semantic discovery across polar photography, satellite imagery, and video keyframes.   🔗 openai.com/research/clip 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0000" y="6260000"/>
            <a:ext cx="7260000" cy="1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07. [2022] Sentence-BERT: Dense Semantic Embeddings — Reimers &amp; Gurevych (EMNLP / UKP Lab)</a:t>
            </a:r>
            <a:endParaRPr/>
          </a:p>
          <a:p>
            <a:pPr>
              <a:defRPr sz="950">
                <a:solidFill>
                  <a:srgbClr val="BAE6FD"/>
                </a:solidFill>
                <a:latin typeface="Segoe UI"/>
              </a:defRPr>
            </a:pPr>
            <a:r>
              <a:t>Role: Powers fast, dense vector indexing and hybrid semantic retrieval across technical polar research literature.   🔗 sbert.net 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0000" y="6320000"/>
            <a:ext cx="8500000" cy="6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25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07. [2022] Sentence-BERT: Dense Semantic Embeddings — Reimers &amp; Gurevych (EMNLP / UKP Lab)</a:t>
            </a:r>
          </a:p>
          <a:p>
            <a:pPr>
              <a:defRPr sz="950">
                <a:solidFill>
                  <a:srgbClr val="BAE6FD"/>
                </a:solidFill>
                <a:latin typeface="Segoe UI"/>
              </a:defRPr>
            </a:pPr>
            <a:r>
              <a:t>Role: Powers fast, dense vector indexing and hybrid semantic retrieval across technical polar research literature.   🔗 sbert.net 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0000" y="7030000"/>
            <a:ext cx="7260000" cy="1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08. [2023] WMO Global Cryosphere Watch (GCW) Data Standards — World Meteorological Organization</a:t>
            </a:r>
            <a:endParaRPr/>
          </a:p>
          <a:p>
            <a:pPr>
              <a:defRPr sz="950">
                <a:solidFill>
                  <a:srgbClr val="BAE6FD"/>
                </a:solidFill>
                <a:latin typeface="Segoe UI"/>
              </a:defRPr>
            </a:pPr>
            <a:r>
              <a:t>Role: Cryospheric observation best practices, sea-ice data formatting, and polar weather monitoring integration.   🔗 globalcryospherewatch.org 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0000" y="7090000"/>
            <a:ext cx="8500000" cy="6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25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08. [2023] WMO Global Cryosphere Watch (GCW) Data Standards — World Meteorological Organization</a:t>
            </a:r>
          </a:p>
          <a:p>
            <a:pPr>
              <a:defRPr sz="950">
                <a:solidFill>
                  <a:srgbClr val="BAE6FD"/>
                </a:solidFill>
                <a:latin typeface="Segoe UI"/>
              </a:defRPr>
            </a:pPr>
            <a:r>
              <a:t>Role: Cryospheric observation best practices, sea-ice data formatting, and polar weather monitoring integration.   🔗 globalcryospherewatch.org 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0000" y="7800000"/>
            <a:ext cx="7260000" cy="1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09. [2023] Leaflet &amp; OpenStreetMap Polar Projections — EPSG:3031 / EPSG:3995 GIS Geospatial Framework</a:t>
            </a:r>
            <a:endParaRPr/>
          </a:p>
          <a:p>
            <a:pPr>
              <a:defRPr sz="950">
                <a:solidFill>
                  <a:srgbClr val="BAE6FD"/>
                </a:solidFill>
                <a:latin typeface="Segoe UI"/>
              </a:defRPr>
            </a:pPr>
            <a:r>
              <a:t>Role: Interactive geospatial rendering of polar research stations, expedition cruise tracks, and ice core sites.   🔗 leafletjs.com 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000" y="7860000"/>
            <a:ext cx="8500000" cy="6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25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09. [2023] Leaflet &amp; OpenStreetMap Polar Projections — EPSG:3031 / EPSG:3995 GIS Geospatial Framework</a:t>
            </a:r>
          </a:p>
          <a:p>
            <a:pPr>
              <a:defRPr sz="950">
                <a:solidFill>
                  <a:srgbClr val="BAE6FD"/>
                </a:solidFill>
                <a:latin typeface="Segoe UI"/>
              </a:defRPr>
            </a:pPr>
            <a:r>
              <a:t>Role: Interactive geospatial rendering of polar research stations, expedition cruise tracks, and ice core sites.   🔗 leafletjs.com 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0000" y="8570000"/>
            <a:ext cx="7260000" cy="1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10. [2024] FastAPI Asynchronous Framework &amp; pgvector — Tiangolo / pgvector PostgreSQL Extension</a:t>
            </a:r>
            <a:endParaRPr/>
          </a:p>
          <a:p>
            <a:pPr>
              <a:defRPr sz="950">
                <a:solidFill>
                  <a:srgbClr val="BAE6FD"/>
                </a:solidFill>
                <a:latin typeface="Segoe UI"/>
              </a:defRPr>
            </a:pPr>
            <a:r>
              <a:t>Role: Ultra-low-latency vector similarity search and scalable asynchronous REST API services for POLARIS.   🔗 fastapi.tiangolo.com 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0000" y="8630000"/>
            <a:ext cx="8500000" cy="6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25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10. [2024] FastAPI Asynchronous Framework &amp; pgvector — Tiangolo / pgvector PostgreSQL Extension</a:t>
            </a:r>
          </a:p>
          <a:p>
            <a:pPr>
              <a:defRPr sz="950">
                <a:solidFill>
                  <a:srgbClr val="BAE6FD"/>
                </a:solidFill>
                <a:latin typeface="Segoe UI"/>
              </a:defRPr>
            </a:pPr>
            <a:r>
              <a:t>Role: Ultra-low-latency vector similarity search and scalable asynchronous REST API services for POLARIS.   🔗 fastapi.tiangolo.com 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0000" y="9340000"/>
            <a:ext cx="7260000" cy="1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72050" y="1205819"/>
            <a:ext cx="8200000" cy="447647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961120" y="5870448"/>
            <a:ext cx="78181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PROJECT REPOSITORY &amp; DEMONSTRATION LINKS</a:t>
            </a:r>
          </a:p>
          <a:p>
            <a:r>
              <a:rPr sz="950">
                <a:solidFill>
                  <a:srgbClr val="64748B"/>
                </a:solidFill>
                <a:latin typeface="Calibri"/>
              </a:rPr>
              <a:t>Open-source repository, live cloud prototype &amp; walkthrough demonstration video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1120" y="6437376"/>
            <a:ext cx="781812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961120" y="6547104"/>
            <a:ext cx="51663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ctr">
              <a:spcAft>
                <a:spcPts val="100"/>
              </a:spcAft>
              <a:defRPr sz="1100" b="1">
                <a:solidFill>
                  <a:srgbClr val="38BDF8"/>
                </a:solidFill>
              </a:defRPr>
            </a:pPr>
            <a:r>
              <a:t>GITHUB REPOSITORY  [ OPEN SOURCE ]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https://github.com/moes-ncpor/polaris-sih26063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Complete Next.js frontend, FastAPI backend, RAG pipeline, polar GIS explorer, sample datasets &amp; Docker configs.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61120" y="7388352"/>
            <a:ext cx="51663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ctr">
              <a:spcAft>
                <a:spcPts val="100"/>
              </a:spcAft>
              <a:defRPr sz="1100" b="1">
                <a:solidFill>
                  <a:srgbClr val="10B981"/>
                </a:solidFill>
              </a:defRPr>
            </a:pPr>
            <a:r>
              <a:t>LIVE CLOUD PROTOTYPE  [ POLARIS PORTAL ]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https://polaris.ncpor.gov.in  (Local Demo: http://localhost:3000)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Interactive polar station explorer (Bharati, Maitri, Himadri), Polar AI assistant, Outreach Studio &amp; Polar Academy.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61120" y="8229600"/>
            <a:ext cx="51663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ctr">
              <a:spcAft>
                <a:spcPts val="100"/>
              </a:spcAft>
              <a:defRPr sz="1100" b="1">
                <a:solidFill>
                  <a:srgbClr val="F43F5E"/>
                </a:solidFill>
              </a:defRPr>
            </a:pPr>
            <a:r>
              <a:t>PROTOTYPE DEMONSTRATION VIDEO  [ WALKTHROUGH DEMO ]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https://youtu.be/polaris-sih26063-demo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End-to-end workflow: Station GIS → Expedition Report → POLAR AI Citations → Outreach Draft → Editor Approval → Academy Quiz.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310360" y="6547104"/>
            <a:ext cx="246888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youtube_demo_qr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698980" y="6656832"/>
            <a:ext cx="1691640" cy="169164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4310360" y="8375904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SCAN FOR VIDEO DEMO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POLARIS System Walkthrough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2328</Words>
  <Application>Microsoft Office PowerPoint</Application>
  <PresentationFormat>Custom</PresentationFormat>
  <Paragraphs>306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Garamond Bold</vt:lpstr>
      <vt:lpstr>Arial</vt:lpstr>
      <vt:lpstr>Calibri (MS)</vt:lpstr>
      <vt:lpstr>Calibri (MS) Bold</vt:lpstr>
      <vt:lpstr>Arial Bold</vt:lpstr>
      <vt:lpstr>Calibri</vt:lpstr>
      <vt:lpstr>Arimo Bold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sih1.pptx</dc:title>
  <cp:lastModifiedBy>Gourishetti Jayaram</cp:lastModifiedBy>
  <cp:revision>14</cp:revision>
  <dcterms:created xsi:type="dcterms:W3CDTF">2006-08-16T00:00:00Z</dcterms:created>
  <dcterms:modified xsi:type="dcterms:W3CDTF">2026-09-27T07:59:46Z</dcterms:modified>
  <dc:identifier>DAHWTH-KGtA</dc:identifier>
</cp:coreProperties>
</file>