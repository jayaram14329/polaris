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1.svg" ContentType="image/svg+xml"/>
  <Override PartName="/ppt/media/image22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91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rimo Bold" panose="020B0604020202020204" charset="0"/>
      <p:regular r:id="rId9"/>
    </p:embeddedFont>
    <p:embeddedFont>
      <p:font typeface="Garamond" panose="02020404030301010803" pitchFamily="18" charset="0"/>
      <p:regular r:id="rId10"/>
      <p:bold r:id="rId11"/>
      <p:italic r:id="rId12"/>
    </p:embeddedFont>
    <p:embeddedFont>
      <p:font typeface="Segoe UI" panose="020B0502040204020203" pitchFamily="34" charset="0"/>
      <p:regular r:id="rId13"/>
      <p:bold r:id="rId14"/>
      <p:italic r:id="rId15"/>
      <p:boldItalic r:id="rId16"/>
    </p:embeddedFont>
    <p:embeddedFont>
      <p:font typeface="Times New Roman Bold" panose="02020803070505020304" pitchFamily="18" charset="0"/>
      <p:regular r:id="rId17"/>
      <p:bold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8" autoAdjust="0"/>
    <p:restoredTop sz="94622" autoAdjust="0"/>
  </p:normalViewPr>
  <p:slideViewPr>
    <p:cSldViewPr>
      <p:cViewPr varScale="1">
        <p:scale>
          <a:sx n="51" d="100"/>
          <a:sy n="51" d="100"/>
        </p:scale>
        <p:origin x="7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font" Target="fonts/font3.fntdata"/><Relationship Id="rId12" Type="http://schemas.openxmlformats.org/officeDocument/2006/relationships/font" Target="fonts/font4.fntdata"/><Relationship Id="rId13" Type="http://schemas.openxmlformats.org/officeDocument/2006/relationships/font" Target="fonts/font5.fntdata"/><Relationship Id="rId14" Type="http://schemas.openxmlformats.org/officeDocument/2006/relationships/font" Target="fonts/font6.fntdata"/><Relationship Id="rId15" Type="http://schemas.openxmlformats.org/officeDocument/2006/relationships/font" Target="fonts/font7.fntdata"/><Relationship Id="rId16" Type="http://schemas.openxmlformats.org/officeDocument/2006/relationships/font" Target="fonts/font8.fntdata"/><Relationship Id="rId17" Type="http://schemas.openxmlformats.org/officeDocument/2006/relationships/font" Target="fonts/font9.fntdata"/><Relationship Id="rId18" Type="http://schemas.openxmlformats.org/officeDocument/2006/relationships/font" Target="fonts/font10.fntdata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05.10.2026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1.7.2013</a:t>
            </a:r>
          </a:p>
          <a:p>
            <a:endParaRPr lang="en-US" dirty="0"/>
          </a:p>
          <a:p>
            <a:r>
              <a:rPr lang="en-US" dirty="0"/>
              <a:t>2</a:t>
            </a:r>
          </a:p>
          <a:p>
            <a:endParaRPr lang="en-US" dirty="0"/>
          </a:p>
          <a:p>
            <a:r>
              <a:rPr lang="en-US" dirty="0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1.7.2013</a:t>
            </a:r>
          </a:p>
          <a:p>
            <a:endParaRPr lang="en-US" dirty="0"/>
          </a:p>
          <a:p>
            <a:r>
              <a:rPr lang="en-US" dirty="0"/>
              <a:t>3</a:t>
            </a:r>
          </a:p>
          <a:p>
            <a:endParaRPr lang="en-US" dirty="0"/>
          </a:p>
          <a:p>
            <a:r>
              <a:rPr lang="en-US" dirty="0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1.7.2013</a:t>
            </a:r>
          </a:p>
          <a:p>
            <a:endParaRPr lang="en-US" dirty="0"/>
          </a:p>
          <a:p>
            <a:r>
              <a:rPr lang="en-US" dirty="0"/>
              <a:t>4</a:t>
            </a:r>
          </a:p>
          <a:p>
            <a:endParaRPr lang="en-US" dirty="0"/>
          </a:p>
          <a:p>
            <a:r>
              <a:rPr lang="en-US" dirty="0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1.7.2013</a:t>
            </a:r>
          </a:p>
          <a:p>
            <a:endParaRPr lang="en-US" dirty="0"/>
          </a:p>
          <a:p>
            <a:r>
              <a:rPr lang="en-US" dirty="0"/>
              <a:t>5</a:t>
            </a:r>
          </a:p>
          <a:p>
            <a:endParaRPr lang="en-US" dirty="0"/>
          </a:p>
          <a:p>
            <a:r>
              <a:rPr lang="en-US" dirty="0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1.7.2013</a:t>
            </a:r>
          </a:p>
          <a:p>
            <a:endParaRPr lang="en-US" dirty="0"/>
          </a:p>
          <a:p>
            <a:r>
              <a:rPr lang="en-US" dirty="0"/>
              <a:t>6</a:t>
            </a:r>
          </a:p>
          <a:p>
            <a:endParaRPr lang="en-US" dirty="0"/>
          </a:p>
          <a:p>
            <a:r>
              <a:rPr lang="en-US" dirty="0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eg"/><Relationship Id="rId4" Type="http://schemas.openxmlformats.org/officeDocument/2006/relationships/image" Target="../media/image4.jpeg"/><Relationship Id="rId5" Type="http://schemas.openxmlformats.org/officeDocument/2006/relationships/image" Target="../media/image5.sv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eg"/><Relationship Id="rId4" Type="http://schemas.openxmlformats.org/officeDocument/2006/relationships/image" Target="../media/image4.jpeg"/><Relationship Id="rId5" Type="http://schemas.openxmlformats.org/officeDocument/2006/relationships/image" Target="../media/image6.png"/><Relationship Id="rId6" Type="http://schemas.openxmlformats.org/officeDocument/2006/relationships/image" Target="../media/image5.sv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sv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eg"/><Relationship Id="rId4" Type="http://schemas.openxmlformats.org/officeDocument/2006/relationships/image" Target="../media/image4.jpeg"/><Relationship Id="rId5" Type="http://schemas.openxmlformats.org/officeDocument/2006/relationships/image" Target="../media/image11.svg"/><Relationship Id="rId6" Type="http://schemas.openxmlformats.org/officeDocument/2006/relationships/image" Target="../media/image6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Relationship Id="rId13" Type="http://schemas.openxmlformats.org/officeDocument/2006/relationships/image" Target="../media/image18.png"/><Relationship Id="rId14" Type="http://schemas.openxmlformats.org/officeDocument/2006/relationships/image" Target="../media/image19.png"/><Relationship Id="rId15" Type="http://schemas.openxmlformats.org/officeDocument/2006/relationships/image" Target="../media/image20.png"/><Relationship Id="rId16" Type="http://schemas.openxmlformats.org/officeDocument/2006/relationships/image" Target="../media/image2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eg"/><Relationship Id="rId4" Type="http://schemas.openxmlformats.org/officeDocument/2006/relationships/image" Target="../media/image4.jpeg"/><Relationship Id="rId5" Type="http://schemas.openxmlformats.org/officeDocument/2006/relationships/image" Target="../media/image22.svg"/><Relationship Id="rId6" Type="http://schemas.openxmlformats.org/officeDocument/2006/relationships/image" Target="../media/image6.png"/><Relationship Id="rId7" Type="http://schemas.openxmlformats.org/officeDocument/2006/relationships/hyperlink" Target="https://youtu.be/HitV08Q82Fg" TargetMode="External"/><Relationship Id="rId8" Type="http://schemas.openxmlformats.org/officeDocument/2006/relationships/hyperlink" Target="https://github.com/jayaram14329/polaris" TargetMode="External"/><Relationship Id="rId9" Type="http://schemas.openxmlformats.org/officeDocument/2006/relationships/hyperlink" Target="https://hopes-convertible-vcr-versions.trycloudflare.com" TargetMode="External"/><Relationship Id="rId10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10282337" y="2573822"/>
            <a:ext cx="4805264" cy="5139356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868529" y="972921"/>
            <a:ext cx="12801600" cy="26289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96929" y="-790136"/>
            <a:ext cx="15544800" cy="3114675"/>
          </a:xfrm>
        </p:spPr>
        <p:txBody>
          <a:bodyPr/>
          <a:lstStyle/>
          <a:p>
            <a:r>
              <a:rPr lang="en-US" sz="6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6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96929" y="1485900"/>
            <a:ext cx="9367936" cy="87074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700" dirty="0"/>
          </a:p>
          <a:p>
            <a:pPr marL="428625" indent="-428625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IN" sz="2800" dirty="0">
                <a:latin typeface="Arial"/>
              </a:rPr>
              <a:t>SIH26063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28625" indent="-428625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2800" dirty="0">
                <a:latin typeface="Arial"/>
              </a:rPr>
              <a:t>Integrated Polar Science Outreach, Knowledge Repository and Media Dissemination Portal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28625" indent="-428625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IN" sz="3600" dirty="0">
                <a:latin typeface="Arial"/>
              </a:rPr>
              <a:t>Smart Education</a:t>
            </a:r>
            <a:endParaRPr 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28625" indent="-428625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marL="651510" lvl="1" indent="-325755" algn="just">
              <a:lnSpc>
                <a:spcPct val="200000"/>
              </a:lnSpc>
              <a:buFont typeface="Arial"/>
              <a:buChar char="•"/>
            </a:pP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  <a:r>
              <a:rPr lang="en-US" sz="3600" dirty="0"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138601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28625" indent="-428625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Team Name - 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NIRVANA</a:t>
            </a:r>
            <a:endParaRPr lang="en-I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2049" y="9446"/>
            <a:ext cx="3313680" cy="1684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979323"/>
            <a:ext cx="18288000" cy="319278"/>
            <a:chOff x="0" y="0"/>
            <a:chExt cx="24384000" cy="4257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425704"/>
            </a:xfrm>
            <a:custGeom>
              <a:avLst/>
              <a:gdLst/>
              <a:ahLst/>
              <a:cxnLst/>
              <a:rect l="l" t="t" r="r" b="b"/>
              <a:pathLst>
                <a:path w="24384000" h="425704">
                  <a:moveTo>
                    <a:pt x="0" y="0"/>
                  </a:moveTo>
                  <a:lnTo>
                    <a:pt x="24384000" y="0"/>
                  </a:lnTo>
                  <a:lnTo>
                    <a:pt x="24384000" y="425704"/>
                  </a:lnTo>
                  <a:lnTo>
                    <a:pt x="0" y="425704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3204343" y="-78619"/>
            <a:ext cx="11528536" cy="1166574"/>
            <a:chOff x="0" y="0"/>
            <a:chExt cx="15371382" cy="155543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371318" cy="1555369"/>
            </a:xfrm>
            <a:custGeom>
              <a:avLst/>
              <a:gdLst/>
              <a:ahLst/>
              <a:cxnLst/>
              <a:rect l="l" t="t" r="r" b="b"/>
              <a:pathLst>
                <a:path w="15371318" h="1555369">
                  <a:moveTo>
                    <a:pt x="0" y="0"/>
                  </a:moveTo>
                  <a:lnTo>
                    <a:pt x="15371318" y="0"/>
                  </a:lnTo>
                  <a:lnTo>
                    <a:pt x="15371318" y="1555369"/>
                  </a:lnTo>
                  <a:lnTo>
                    <a:pt x="0" y="15553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2430" b="-142434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204343" y="-92907"/>
            <a:ext cx="11528536" cy="1180862"/>
            <a:chOff x="0" y="0"/>
            <a:chExt cx="15371382" cy="157448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371381" cy="1574482"/>
            </a:xfrm>
            <a:custGeom>
              <a:avLst/>
              <a:gdLst/>
              <a:ahLst/>
              <a:cxnLst/>
              <a:rect l="l" t="t" r="r" b="b"/>
              <a:pathLst>
                <a:path w="15371381" h="1574482">
                  <a:moveTo>
                    <a:pt x="0" y="0"/>
                  </a:moveTo>
                  <a:lnTo>
                    <a:pt x="15371381" y="0"/>
                  </a:lnTo>
                  <a:lnTo>
                    <a:pt x="15371381" y="1574482"/>
                  </a:lnTo>
                  <a:lnTo>
                    <a:pt x="0" y="157448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0228" b="-14022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5371382" cy="159353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defRPr sz="2200" b="1">
                  <a:latin typeface="Segoe UI"/>
                </a:defRPr>
              </a:pPr>
              <a:r>
                <a:rPr>
                  <a:solidFill>
                    <a:srgbClr val="0F172A"/>
                  </a:solidFill>
                  <a:latin typeface="Segoe UI"/>
                </a:rPr>
                <a:t>POLARIS: Polar Knowledge &amp; Outreach Intelligence System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707" b="-101709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106400" y="9520238"/>
            <a:ext cx="4267200" cy="561975"/>
            <a:chOff x="0" y="0"/>
            <a:chExt cx="5689600" cy="7493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689600" cy="749301"/>
            </a:xfrm>
            <a:custGeom>
              <a:avLst/>
              <a:gdLst/>
              <a:ahLst/>
              <a:cxnLst/>
              <a:rect l="l" t="t" r="r" b="b"/>
              <a:pathLst>
                <a:path w="5689600" h="749301">
                  <a:moveTo>
                    <a:pt x="0" y="0"/>
                  </a:moveTo>
                  <a:lnTo>
                    <a:pt x="5689600" y="0"/>
                  </a:lnTo>
                  <a:lnTo>
                    <a:pt x="5689600" y="749301"/>
                  </a:lnTo>
                  <a:lnTo>
                    <a:pt x="0" y="7493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7954" b="-97954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568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sp>
        <p:nvSpPr>
          <p:cNvPr id="14" name="Freeform 14" descr="Your startup LOGO"/>
          <p:cNvSpPr/>
          <p:nvPr/>
        </p:nvSpPr>
        <p:spPr>
          <a:xfrm>
            <a:off x="106594" y="22117"/>
            <a:ext cx="2303431" cy="1004506"/>
          </a:xfrm>
          <a:custGeom>
            <a:avLst/>
            <a:gdLst/>
            <a:ahLst/>
            <a:cxnLst/>
            <a:rect l="l" t="t" r="r" b="b"/>
            <a:pathLst>
              <a:path w="2303431" h="1004506">
                <a:moveTo>
                  <a:pt x="0" y="0"/>
                </a:moveTo>
                <a:lnTo>
                  <a:pt x="2303431" y="0"/>
                </a:lnTo>
                <a:lnTo>
                  <a:pt x="2303431" y="1004507"/>
                </a:lnTo>
                <a:lnTo>
                  <a:pt x="0" y="10045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5" name="Group 15"/>
          <p:cNvGrpSpPr/>
          <p:nvPr/>
        </p:nvGrpSpPr>
        <p:grpSpPr>
          <a:xfrm>
            <a:off x="120882" y="-6458"/>
            <a:ext cx="2274818" cy="1018737"/>
            <a:chOff x="0" y="0"/>
            <a:chExt cx="3033090" cy="135831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033091" cy="1358315"/>
            </a:xfrm>
            <a:custGeom>
              <a:avLst/>
              <a:gdLst/>
              <a:ahLst/>
              <a:cxnLst/>
              <a:rect l="l" t="t" r="r" b="b"/>
              <a:pathLst>
                <a:path w="3033091" h="1358315">
                  <a:moveTo>
                    <a:pt x="0" y="0"/>
                  </a:moveTo>
                  <a:lnTo>
                    <a:pt x="3033091" y="0"/>
                  </a:lnTo>
                  <a:lnTo>
                    <a:pt x="3033091" y="1358315"/>
                  </a:lnTo>
                  <a:lnTo>
                    <a:pt x="0" y="13583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458" r="-7458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3033090" cy="14154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defRPr sz="1300" b="1">
                  <a:solidFill>
                    <a:srgbClr val="0B192C"/>
                  </a:solidFill>
                  <a:latin typeface="Arial"/>
                </a:defRPr>
              </a:pPr>
              <a:r>
                <a:rPr lang="en-US" dirty="0"/>
                <a:t>NIRVANA</a:t>
              </a:r>
              <a:endParaRPr dirty="0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6009887" y="55455"/>
            <a:ext cx="2035016" cy="937736"/>
            <a:chOff x="0" y="0"/>
            <a:chExt cx="2713355" cy="125031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713355" cy="1250315"/>
            </a:xfrm>
            <a:custGeom>
              <a:avLst/>
              <a:gdLst/>
              <a:ahLst/>
              <a:cxnLst/>
              <a:rect l="l" t="t" r="r" b="b"/>
              <a:pathLst>
                <a:path w="2713355" h="1250315">
                  <a:moveTo>
                    <a:pt x="0" y="0"/>
                  </a:moveTo>
                  <a:lnTo>
                    <a:pt x="2713355" y="0"/>
                  </a:lnTo>
                  <a:lnTo>
                    <a:pt x="2713355" y="1250315"/>
                  </a:lnTo>
                  <a:lnTo>
                    <a:pt x="0" y="12503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257" b="-1258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0" name="AutoShape 20"/>
          <p:cNvSpPr/>
          <p:nvPr/>
        </p:nvSpPr>
        <p:spPr>
          <a:xfrm rot="3600">
            <a:off x="-6925" y="1069029"/>
            <a:ext cx="18301849" cy="0"/>
          </a:xfrm>
          <a:prstGeom prst="line">
            <a:avLst/>
          </a:prstGeom>
          <a:ln w="19050" cap="rnd">
            <a:solidFill>
              <a:srgbClr val="4F81B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480000" y="1180000"/>
            <a:ext cx="5200000" cy="40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0000" y="1360000"/>
            <a:ext cx="824456" cy="2616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DC2626"/>
                </a:solidFill>
                <a:latin typeface="Arial"/>
              </a:defRPr>
            </a:pPr>
            <a:r>
              <a:t>Problem:</a:t>
            </a:r>
            <a:endParaRPr sz="1700" b="1" dirty="0">
              <a:solidFill>
                <a:srgbClr val="0F172A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00000" y="1860000"/>
            <a:ext cx="4760000" cy="20005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DC2626"/>
                </a:solidFill>
                <a:latin typeface="Arial"/>
              </a:defRPr>
            </a:pPr>
            <a:r>
              <a:rPr sz="1200" b="1" dirty="0">
                <a:solidFill>
                  <a:srgbClr val="1E293B"/>
                </a:solidFill>
                <a:latin typeface="Arial"/>
              </a:rPr>
              <a:t>• Fragmented Three-Region Archives:</a:t>
            </a:r>
            <a:r>
              <a:rPr sz="1200" dirty="0">
                <a:solidFill>
                  <a:srgbClr val="1E293B"/>
                </a:solidFill>
                <a:latin typeface="Arial"/>
              </a:rPr>
              <a:t> Decades of expedition reports, datasets, 4K media, and historical logs are scattered across separate silos for Antarctica, the Arctic, and the Himalayas.</a:t>
            </a:r>
          </a:p>
          <a:p>
            <a:pPr>
              <a:spcAft>
                <a:spcPts val="600"/>
              </a:spcAft>
            </a:pPr>
            <a:r>
              <a:rPr sz="1200" b="1" dirty="0">
                <a:solidFill>
                  <a:srgbClr val="1E293B"/>
                </a:solidFill>
                <a:latin typeface="Arial"/>
              </a:rPr>
              <a:t>• Complex </a:t>
            </a:r>
            <a:r>
              <a:rPr sz="1200" b="1" dirty="0" err="1">
                <a:solidFill>
                  <a:srgbClr val="1E293B"/>
                </a:solidFill>
                <a:latin typeface="Arial"/>
              </a:rPr>
              <a:t>Cryospheric</a:t>
            </a:r>
            <a:r>
              <a:rPr sz="1200" b="1" dirty="0">
                <a:solidFill>
                  <a:srgbClr val="1E293B"/>
                </a:solidFill>
                <a:latin typeface="Arial"/>
              </a:rPr>
              <a:t> Science:</a:t>
            </a:r>
            <a:r>
              <a:rPr sz="1200" dirty="0">
                <a:solidFill>
                  <a:srgbClr val="1E293B"/>
                </a:solidFill>
                <a:latin typeface="Arial"/>
              </a:rPr>
              <a:t> Specialized glaciological, atmospheric, and oceanographic research is difficult for students, educators, and the public to discover and comprehend.</a:t>
            </a:r>
          </a:p>
          <a:p>
            <a:pPr>
              <a:spcAft>
                <a:spcPts val="600"/>
              </a:spcAft>
            </a:pPr>
            <a:r>
              <a:rPr sz="1200" b="1" dirty="0">
                <a:solidFill>
                  <a:srgbClr val="1E293B"/>
                </a:solidFill>
                <a:latin typeface="Arial"/>
              </a:rPr>
              <a:t>• Manual Outreach Preparation:</a:t>
            </a:r>
            <a:r>
              <a:rPr sz="1200" dirty="0">
                <a:solidFill>
                  <a:srgbClr val="1E293B"/>
                </a:solidFill>
                <a:latin typeface="Arial"/>
              </a:rPr>
              <a:t> Turning raw expedition data into bilingual (English + Hindi) web articles and press releases requires hours of repetitive manual drafting with risk of factual errors.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0000" y="4140000"/>
            <a:ext cx="1500000" cy="92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25400" rtlCol="0" anchor="ctr"/>
          <a:lstStyle/>
          <a:p>
            <a:pPr algn="ctr">
              <a:defRPr sz="2600" b="1">
                <a:solidFill>
                  <a:srgbClr val="38BDF8"/>
                </a:solidFill>
              </a:defRPr>
            </a:pPr>
            <a:r>
              <a:rPr sz="1600" b="1">
                <a:solidFill>
                  <a:srgbClr val="0284C7"/>
                </a:solidFill>
                <a:latin typeface="Segoe UI"/>
              </a:rPr>
              <a:t>40+ Years</a:t>
            </a:r>
          </a:p>
          <a:p>
            <a:pPr algn="ctr"/>
            <a:r>
              <a:rPr sz="1000" b="1">
                <a:solidFill>
                  <a:srgbClr val="0F172A"/>
                </a:solidFill>
                <a:latin typeface="Segoe UI"/>
              </a:rPr>
              <a:t>Expeditions</a:t>
            </a:r>
          </a:p>
          <a:p>
            <a:pPr algn="ctr"/>
            <a:r>
              <a:rPr sz="800">
                <a:solidFill>
                  <a:srgbClr val="64748B"/>
                </a:solidFill>
                <a:latin typeface="Segoe UI"/>
              </a:rPr>
              <a:t>Decades of Polar Science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30000" y="4140000"/>
            <a:ext cx="1500000" cy="92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25400" rtlCol="0" anchor="ctr"/>
          <a:lstStyle/>
          <a:p>
            <a:pPr algn="ctr">
              <a:defRPr sz="2600" b="1">
                <a:solidFill>
                  <a:srgbClr val="38BDF8"/>
                </a:solidFill>
              </a:defRPr>
            </a:pPr>
            <a:r>
              <a:rPr sz="1600" b="1">
                <a:solidFill>
                  <a:srgbClr val="0284C7"/>
                </a:solidFill>
                <a:latin typeface="Segoe UI"/>
              </a:rPr>
              <a:t>3 Regions</a:t>
            </a:r>
          </a:p>
          <a:p>
            <a:pPr algn="ctr"/>
            <a:r>
              <a:rPr sz="950" b="1">
                <a:solidFill>
                  <a:srgbClr val="0F172A"/>
                </a:solidFill>
                <a:latin typeface="Segoe UI"/>
              </a:rPr>
              <a:t>Stations &amp; Obs</a:t>
            </a:r>
          </a:p>
          <a:p>
            <a:pPr algn="ctr"/>
            <a:r>
              <a:rPr sz="750">
                <a:solidFill>
                  <a:srgbClr val="64748B"/>
                </a:solidFill>
                <a:latin typeface="Segoe UI"/>
              </a:rPr>
              <a:t>Maitri, Bharati, Himadri, IndARC*, Himansh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60000" y="4140000"/>
            <a:ext cx="1500000" cy="92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25400" rtlCol="0" anchor="ctr"/>
          <a:lstStyle/>
          <a:p>
            <a:pPr algn="ctr">
              <a:defRPr sz="2600" b="1">
                <a:solidFill>
                  <a:srgbClr val="10B981"/>
                </a:solidFill>
              </a:defRPr>
            </a:pPr>
            <a:r>
              <a:rPr sz="1500" b="1">
                <a:solidFill>
                  <a:srgbClr val="059669"/>
                </a:solidFill>
                <a:latin typeface="Segoe UI"/>
              </a:rPr>
              <a:t>Citation RAG</a:t>
            </a:r>
          </a:p>
          <a:p>
            <a:pPr algn="ctr"/>
            <a:r>
              <a:rPr sz="1000" b="1">
                <a:solidFill>
                  <a:srgbClr val="0F172A"/>
                </a:solidFill>
                <a:latin typeface="Segoe UI"/>
              </a:rPr>
              <a:t>Evidence-Based</a:t>
            </a:r>
          </a:p>
          <a:p>
            <a:pPr algn="ctr"/>
            <a:r>
              <a:rPr sz="800">
                <a:solidFill>
                  <a:srgbClr val="64748B"/>
                </a:solidFill>
                <a:latin typeface="Segoe UI"/>
              </a:rPr>
              <a:t>Source &amp; Page Citations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0000" y="5380000"/>
            <a:ext cx="5200000" cy="40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0000" y="5560000"/>
            <a:ext cx="2841355" cy="2616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6A34A"/>
                </a:solidFill>
                <a:latin typeface="Arial"/>
              </a:defRPr>
            </a:pPr>
            <a:r>
              <a:t>How It Addresses the Problem:</a:t>
            </a:r>
            <a:endParaRPr sz="1700" b="1" dirty="0">
              <a:solidFill>
                <a:srgbClr val="0F172A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00000" y="6060000"/>
            <a:ext cx="4760000" cy="30264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rPr sz="1200" b="1" dirty="0">
                <a:solidFill>
                  <a:srgbClr val="1E293B"/>
                </a:solidFill>
                <a:latin typeface="Arial"/>
              </a:rPr>
              <a:t>• Unified Three-Region Knowledge Lake:</a:t>
            </a:r>
            <a:r>
              <a:rPr sz="1200" dirty="0">
                <a:solidFill>
                  <a:srgbClr val="1E293B"/>
                </a:solidFill>
                <a:latin typeface="Arial"/>
              </a:rPr>
              <a:t> Consolidates expedition reports, datasets, 4K drone media, satellite rasters, and institutional activities across Antarctica, Arctic, and the Himalayas.</a:t>
            </a:r>
          </a:p>
          <a:p>
            <a:pPr>
              <a:spcAft>
                <a:spcPts val="500"/>
              </a:spcAft>
            </a:pPr>
            <a:r>
              <a:rPr sz="1200" b="1" dirty="0">
                <a:solidFill>
                  <a:srgbClr val="1E293B"/>
                </a:solidFill>
                <a:latin typeface="Arial"/>
              </a:rPr>
              <a:t>• Citation-Grounded RAG Assistant:</a:t>
            </a:r>
            <a:r>
              <a:rPr sz="1200" dirty="0">
                <a:solidFill>
                  <a:srgbClr val="1E293B"/>
                </a:solidFill>
                <a:latin typeface="Arial"/>
              </a:rPr>
              <a:t> POLAR AI answers science queries with retrieved evidence, exact document titles, section headers, and verbatim quotes; declines when evidence is missing.</a:t>
            </a:r>
          </a:p>
          <a:p>
            <a:pPr>
              <a:spcAft>
                <a:spcPts val="500"/>
              </a:spcAft>
            </a:pPr>
            <a:r>
              <a:rPr sz="1200" b="1" dirty="0">
                <a:solidFill>
                  <a:srgbClr val="1E293B"/>
                </a:solidFill>
                <a:latin typeface="Arial"/>
              </a:rPr>
              <a:t>• Interactive 3-Region Station GIS:</a:t>
            </a:r>
            <a:r>
              <a:rPr sz="1200" dirty="0">
                <a:solidFill>
                  <a:srgbClr val="1E293B"/>
                </a:solidFill>
                <a:latin typeface="Arial"/>
              </a:rPr>
              <a:t> Geospatial exploration of Maitri, Bharati, Himadri, </a:t>
            </a:r>
            <a:r>
              <a:rPr sz="1200" dirty="0" err="1">
                <a:solidFill>
                  <a:srgbClr val="1E293B"/>
                </a:solidFill>
                <a:latin typeface="Arial"/>
              </a:rPr>
              <a:t>IndARC</a:t>
            </a:r>
            <a:r>
              <a:rPr sz="1200" dirty="0">
                <a:solidFill>
                  <a:srgbClr val="1E293B"/>
                </a:solidFill>
                <a:latin typeface="Arial"/>
              </a:rPr>
              <a:t>*, and Himansh with interactive layers, cruise tracks, and environmental demo feeds.</a:t>
            </a:r>
          </a:p>
          <a:p>
            <a:pPr>
              <a:spcAft>
                <a:spcPts val="500"/>
              </a:spcAft>
            </a:pPr>
            <a:r>
              <a:rPr sz="1200" b="1" dirty="0">
                <a:solidFill>
                  <a:srgbClr val="1E293B"/>
                </a:solidFill>
                <a:latin typeface="Arial"/>
              </a:rPr>
              <a:t>• Multimodal Media &amp; Institutional Archive:</a:t>
            </a:r>
            <a:r>
              <a:rPr sz="1200" dirty="0">
                <a:solidFill>
                  <a:srgbClr val="1E293B"/>
                </a:solidFill>
                <a:latin typeface="Arial"/>
              </a:rPr>
              <a:t> Dedicated catalog for 4K expedition photography, research videos, </a:t>
            </a:r>
            <a:r>
              <a:rPr sz="1200" dirty="0" err="1">
                <a:solidFill>
                  <a:srgbClr val="1E293B"/>
                </a:solidFill>
                <a:latin typeface="Arial"/>
              </a:rPr>
              <a:t>MoES</a:t>
            </a:r>
            <a:r>
              <a:rPr sz="1200" dirty="0">
                <a:solidFill>
                  <a:srgbClr val="1E293B"/>
                </a:solidFill>
                <a:latin typeface="Arial"/>
              </a:rPr>
              <a:t> flag-offs, symposia, and historical milestone chronicles.</a:t>
            </a:r>
          </a:p>
          <a:p>
            <a:pPr>
              <a:spcAft>
                <a:spcPts val="500"/>
              </a:spcAft>
            </a:pPr>
            <a:r>
              <a:rPr sz="1200" b="1" dirty="0">
                <a:solidFill>
                  <a:srgbClr val="1E293B"/>
                </a:solidFill>
                <a:latin typeface="Arial"/>
              </a:rPr>
              <a:t>• Governed AI Outreach Studio:</a:t>
            </a:r>
            <a:r>
              <a:rPr sz="1200" dirty="0">
                <a:solidFill>
                  <a:srgbClr val="1E293B"/>
                </a:solidFill>
                <a:latin typeface="Arial"/>
              </a:rPr>
              <a:t> Generates bilingual (English + Hindi) articles, PIB press releases, and student quizzes backed by a mandatory Science Editor review gate.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97880" y="9137976"/>
            <a:ext cx="644652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0B2545"/>
                </a:solidFill>
                <a:latin typeface="Arial"/>
              </a:defRPr>
            </a:pPr>
            <a:r>
              <a:t>Three-Region Scientific Pipeline (Antarctica • Arctic • Himalayan Cryosphere) &amp; Relational Topology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828000" y="1360000"/>
            <a:ext cx="1715726" cy="2616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284C7"/>
                </a:solidFill>
                <a:latin typeface="Arial"/>
              </a:defRPr>
            </a:pPr>
            <a:r>
              <a:t>Proposed Solution:</a:t>
            </a:r>
            <a:endParaRPr sz="1700" b="1" dirty="0">
              <a:solidFill>
                <a:srgbClr val="0F172A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12828000" y="1859999"/>
            <a:ext cx="4760000" cy="997843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76200" rIns="127000" bIns="76200" rtlCol="0" anchor="ctr"/>
          <a:lstStyle/>
          <a:p>
            <a:pPr algn="l">
              <a:defRPr sz="980" b="1">
                <a:solidFill>
                  <a:srgbClr val="0B192C"/>
                </a:solidFill>
                <a:latin typeface="Arial"/>
              </a:defRPr>
            </a:pPr>
            <a:r>
              <a:rPr sz="1200" dirty="0"/>
              <a:t>POLARIS is a proposed integrated Three-Region knowledge repository and outreach intelligence platform connecting researchers, students, educators, and citizens with verified polar science data, evidence-grounded AI, interactive station GIS, and a governed bilingual outreach studio.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041469" y="2952607"/>
            <a:ext cx="4760000" cy="18158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rPr sz="1200" b="1" dirty="0">
                <a:solidFill>
                  <a:srgbClr val="1E293B"/>
                </a:solidFill>
                <a:latin typeface="Arial"/>
              </a:rPr>
              <a:t>• Researcher &amp; Admin Ingestion CMS:</a:t>
            </a:r>
            <a:r>
              <a:rPr sz="1200" dirty="0">
                <a:solidFill>
                  <a:srgbClr val="1E293B"/>
                </a:solidFill>
                <a:latin typeface="Arial"/>
              </a:rPr>
              <a:t> Standardized deposit portal with </a:t>
            </a:r>
            <a:r>
              <a:rPr sz="1200" dirty="0" err="1">
                <a:solidFill>
                  <a:srgbClr val="1E293B"/>
                </a:solidFill>
                <a:latin typeface="Arial"/>
              </a:rPr>
              <a:t>DataCite</a:t>
            </a:r>
            <a:r>
              <a:rPr sz="1200" dirty="0">
                <a:solidFill>
                  <a:srgbClr val="1E293B"/>
                </a:solidFill>
                <a:latin typeface="Arial"/>
              </a:rPr>
              <a:t>-compatible metadata, Dublin Core taxonomy, and flexible embargo management.</a:t>
            </a:r>
          </a:p>
          <a:p>
            <a:pPr>
              <a:spcAft>
                <a:spcPts val="600"/>
              </a:spcAft>
            </a:pPr>
            <a:r>
              <a:rPr sz="1200" b="1" dirty="0">
                <a:solidFill>
                  <a:srgbClr val="1E293B"/>
                </a:solidFill>
                <a:latin typeface="Arial"/>
              </a:rPr>
              <a:t>• FAIR Metadata &amp; Dense Vector Indexing:</a:t>
            </a:r>
            <a:r>
              <a:rPr sz="1200" dirty="0">
                <a:solidFill>
                  <a:srgbClr val="1E293B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E293B"/>
                </a:solidFill>
                <a:latin typeface="Arial"/>
              </a:rPr>
              <a:t>PyMuPDF</a:t>
            </a:r>
            <a:r>
              <a:rPr sz="1200" dirty="0">
                <a:solidFill>
                  <a:srgbClr val="1E293B"/>
                </a:solidFill>
                <a:latin typeface="Arial"/>
              </a:rPr>
              <a:t> text parsing, Tesseract OCR for scanned logs, Sentence Transformers embeddings, and </a:t>
            </a:r>
            <a:r>
              <a:rPr sz="1200" dirty="0" err="1">
                <a:solidFill>
                  <a:srgbClr val="1E293B"/>
                </a:solidFill>
                <a:latin typeface="Arial"/>
              </a:rPr>
              <a:t>pgvector</a:t>
            </a:r>
            <a:r>
              <a:rPr sz="1200" dirty="0">
                <a:solidFill>
                  <a:srgbClr val="1E293B"/>
                </a:solidFill>
                <a:latin typeface="Arial"/>
              </a:rPr>
              <a:t> dense semantic retrieval.</a:t>
            </a:r>
          </a:p>
          <a:p>
            <a:pPr>
              <a:spcAft>
                <a:spcPts val="600"/>
              </a:spcAft>
            </a:pPr>
            <a:r>
              <a:rPr sz="1200" b="1" dirty="0">
                <a:solidFill>
                  <a:srgbClr val="1E293B"/>
                </a:solidFill>
                <a:latin typeface="Arial"/>
              </a:rPr>
              <a:t>• Dual-Track Delivery Architecture:</a:t>
            </a:r>
            <a:r>
              <a:rPr sz="1200" dirty="0">
                <a:solidFill>
                  <a:srgbClr val="1E293B"/>
                </a:solidFill>
                <a:latin typeface="Arial"/>
              </a:rPr>
              <a:t> Direct unbuffered public discovery (search, GIS, media) coupled with a human-in-the-loop governed outreach studio for official releases.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828000" y="5560000"/>
            <a:ext cx="2605393" cy="2616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284C7"/>
                </a:solidFill>
                <a:latin typeface="Arial"/>
              </a:defRPr>
            </a:pPr>
            <a:r>
              <a:t>Innovation And Uniqueness:</a:t>
            </a:r>
            <a:endParaRPr sz="1700" b="1" dirty="0">
              <a:solidFill>
                <a:srgbClr val="0F172A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2828000" y="6060000"/>
            <a:ext cx="4760000" cy="2446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rPr sz="1200" b="1" dirty="0">
                <a:solidFill>
                  <a:srgbClr val="1E293B"/>
                </a:solidFill>
                <a:latin typeface="Arial"/>
              </a:rPr>
              <a:t>• Three-Region Knowledge Coverage:</a:t>
            </a:r>
            <a:r>
              <a:rPr sz="1200" dirty="0">
                <a:solidFill>
                  <a:srgbClr val="1E293B"/>
                </a:solidFill>
                <a:latin typeface="Arial"/>
              </a:rPr>
              <a:t> Unified discovery linking Antarctica (Maitri, Bharati), Arctic (Himadri, </a:t>
            </a:r>
            <a:r>
              <a:rPr sz="1200" dirty="0" err="1">
                <a:solidFill>
                  <a:srgbClr val="1E293B"/>
                </a:solidFill>
                <a:latin typeface="Arial"/>
              </a:rPr>
              <a:t>IndARC</a:t>
            </a:r>
            <a:r>
              <a:rPr sz="1200" dirty="0">
                <a:solidFill>
                  <a:srgbClr val="1E293B"/>
                </a:solidFill>
                <a:latin typeface="Arial"/>
              </a:rPr>
              <a:t>* marine </a:t>
            </a:r>
            <a:r>
              <a:rPr sz="1200" dirty="0" err="1">
                <a:solidFill>
                  <a:srgbClr val="1E293B"/>
                </a:solidFill>
                <a:latin typeface="Arial"/>
              </a:rPr>
              <a:t>obs</a:t>
            </a:r>
            <a:r>
              <a:rPr sz="1200" dirty="0">
                <a:solidFill>
                  <a:srgbClr val="1E293B"/>
                </a:solidFill>
                <a:latin typeface="Arial"/>
              </a:rPr>
              <a:t>), and the Himalayan Cryosphere (Himansh).</a:t>
            </a:r>
          </a:p>
          <a:p>
            <a:pPr>
              <a:spcAft>
                <a:spcPts val="600"/>
              </a:spcAft>
            </a:pPr>
            <a:r>
              <a:rPr sz="1200" b="1" dirty="0">
                <a:solidFill>
                  <a:srgbClr val="1E293B"/>
                </a:solidFill>
                <a:latin typeface="Arial"/>
              </a:rPr>
              <a:t>• Evidence-Grounded AI Assistant:</a:t>
            </a:r>
            <a:r>
              <a:rPr sz="1200" dirty="0">
                <a:solidFill>
                  <a:srgbClr val="1E293B"/>
                </a:solidFill>
                <a:latin typeface="Arial"/>
              </a:rPr>
              <a:t> Polar AI provides exact document titles, section headings, and verbatim quote citations; declines when evidence is missing.</a:t>
            </a:r>
          </a:p>
          <a:p>
            <a:pPr>
              <a:spcAft>
                <a:spcPts val="600"/>
              </a:spcAft>
            </a:pPr>
            <a:r>
              <a:rPr sz="1200" b="1" dirty="0">
                <a:solidFill>
                  <a:srgbClr val="1E293B"/>
                </a:solidFill>
                <a:latin typeface="Arial"/>
              </a:rPr>
              <a:t>• Governed Bilingual Outreach Studio:</a:t>
            </a:r>
            <a:r>
              <a:rPr sz="1200" dirty="0">
                <a:solidFill>
                  <a:srgbClr val="1E293B"/>
                </a:solidFill>
                <a:latin typeface="Arial"/>
              </a:rPr>
              <a:t> Drafts audience-tailored articles, PIB releases, and social threads in English &amp; Hindi with timestamped editorial approval and audit logging.</a:t>
            </a:r>
          </a:p>
          <a:p>
            <a:pPr>
              <a:spcAft>
                <a:spcPts val="600"/>
              </a:spcAft>
            </a:pPr>
            <a:r>
              <a:rPr sz="1200" b="1" dirty="0">
                <a:solidFill>
                  <a:srgbClr val="1E293B"/>
                </a:solidFill>
                <a:latin typeface="Arial"/>
              </a:rPr>
              <a:t>• Curriculum STEM Polar Academy:</a:t>
            </a:r>
            <a:r>
              <a:rPr sz="1200" dirty="0">
                <a:solidFill>
                  <a:srgbClr val="1E293B"/>
                </a:solidFill>
                <a:latin typeface="Arial"/>
              </a:rPr>
              <a:t> Generates syllabus-aligned educational modules, interactive timelines, and verified quizzes derived directly from primary literature.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97880" y="1097280"/>
            <a:ext cx="6217920" cy="393192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97880" y="5166360"/>
            <a:ext cx="621792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roup 2"/>
          <p:cNvGrpSpPr/>
          <p:nvPr/>
        </p:nvGrpSpPr>
        <p:grpSpPr>
          <a:xfrm>
            <a:off x="3209220" y="0"/>
            <a:ext cx="12332151" cy="879491"/>
            <a:chOff x="0" y="0"/>
            <a:chExt cx="16442868" cy="1172654"/>
          </a:xfrm>
        </p:grpSpPr>
        <p:sp>
          <p:nvSpPr>
            <p:cNvPr id="273" name="Freeform 3"/>
            <p:cNvSpPr/>
            <p:nvPr/>
          </p:nvSpPr>
          <p:spPr>
            <a:xfrm>
              <a:off x="0" y="0"/>
              <a:ext cx="16442817" cy="1172718"/>
            </a:xfrm>
            <a:custGeom>
              <a:avLst/>
              <a:gdLst/>
              <a:ahLst/>
              <a:cxnLst/>
              <a:rect l="l" t="t" r="r" b="b"/>
              <a:pathLst>
                <a:path w="16442817" h="1172718">
                  <a:moveTo>
                    <a:pt x="0" y="0"/>
                  </a:moveTo>
                  <a:lnTo>
                    <a:pt x="16442817" y="0"/>
                  </a:lnTo>
                  <a:lnTo>
                    <a:pt x="16442817" y="1172718"/>
                  </a:lnTo>
                  <a:lnTo>
                    <a:pt x="0" y="11727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3016" b="-223009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74" name="Group 4"/>
          <p:cNvGrpSpPr/>
          <p:nvPr/>
        </p:nvGrpSpPr>
        <p:grpSpPr>
          <a:xfrm>
            <a:off x="3209220" y="-14288"/>
            <a:ext cx="12332151" cy="893778"/>
            <a:chOff x="0" y="0"/>
            <a:chExt cx="16442868" cy="1191704"/>
          </a:xfrm>
        </p:grpSpPr>
        <p:sp>
          <p:nvSpPr>
            <p:cNvPr id="275" name="Freeform 5"/>
            <p:cNvSpPr/>
            <p:nvPr/>
          </p:nvSpPr>
          <p:spPr>
            <a:xfrm>
              <a:off x="0" y="0"/>
              <a:ext cx="16442868" cy="1191705"/>
            </a:xfrm>
            <a:custGeom>
              <a:avLst/>
              <a:gdLst/>
              <a:ahLst/>
              <a:cxnLst/>
              <a:rect l="l" t="t" r="r" b="b"/>
              <a:pathLst>
                <a:path w="16442868" h="1191705">
                  <a:moveTo>
                    <a:pt x="0" y="0"/>
                  </a:moveTo>
                  <a:lnTo>
                    <a:pt x="16442868" y="0"/>
                  </a:lnTo>
                  <a:lnTo>
                    <a:pt x="16442868" y="1191705"/>
                  </a:lnTo>
                  <a:lnTo>
                    <a:pt x="0" y="119170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8850" b="-218850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76" name="TextBox 6"/>
            <p:cNvSpPr txBox="1"/>
            <p:nvPr/>
          </p:nvSpPr>
          <p:spPr>
            <a:xfrm>
              <a:off x="0" y="-19050"/>
              <a:ext cx="16442868" cy="121075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040"/>
                </a:lnSpc>
                <a:defRPr>
                  <a:latin typeface="Segoe UI"/>
                </a:defRPr>
              </a:pPr>
              <a:r>
                <a:rPr lang="en-US" sz="4200" b="1">
                  <a:solidFill>
                    <a:srgbClr val="1F2933"/>
                  </a:solidFill>
                  <a:latin typeface="Segoe UI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id="277" name="Group 7"/>
          <p:cNvGrpSpPr/>
          <p:nvPr/>
        </p:nvGrpSpPr>
        <p:grpSpPr>
          <a:xfrm>
            <a:off x="16079562" y="2248"/>
            <a:ext cx="1965388" cy="879538"/>
            <a:chOff x="0" y="0"/>
            <a:chExt cx="2620518" cy="1172718"/>
          </a:xfrm>
        </p:grpSpPr>
        <p:sp>
          <p:nvSpPr>
            <p:cNvPr id="278" name="Freeform 8"/>
            <p:cNvSpPr/>
            <p:nvPr/>
          </p:nvSpPr>
          <p:spPr>
            <a:xfrm>
              <a:off x="0" y="0"/>
              <a:ext cx="2620518" cy="1172718"/>
            </a:xfrm>
            <a:custGeom>
              <a:avLst/>
              <a:gdLst/>
              <a:ahLst/>
              <a:cxnLst/>
              <a:rect l="l" t="t" r="r" b="b"/>
              <a:pathLst>
                <a:path w="2620518" h="1172718">
                  <a:moveTo>
                    <a:pt x="0" y="0"/>
                  </a:moveTo>
                  <a:lnTo>
                    <a:pt x="2620518" y="0"/>
                  </a:lnTo>
                  <a:lnTo>
                    <a:pt x="2620518" y="1172718"/>
                  </a:lnTo>
                  <a:lnTo>
                    <a:pt x="0" y="11727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779" b="-2779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71" name="TextBox 101"/>
          <p:cNvSpPr txBox="1"/>
          <p:nvPr/>
        </p:nvSpPr>
        <p:spPr>
          <a:xfrm>
            <a:off x="12252960" y="841248"/>
            <a:ext cx="5897880" cy="320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300" b="1">
                <a:solidFill>
                  <a:srgbClr val="0F172A"/>
                </a:solidFill>
                <a:latin typeface="Segoe UI"/>
              </a:rPr>
              <a:t>POLARIS System Interface &amp; Live Modules</a:t>
            </a:r>
          </a:p>
        </p:txBody>
      </p:sp>
      <p:sp>
        <p:nvSpPr>
          <p:cNvPr id="375" name="AutoShape 105"/>
          <p:cNvSpPr/>
          <p:nvPr/>
        </p:nvSpPr>
        <p:spPr>
          <a:xfrm>
            <a:off x="9144000" y="962025"/>
            <a:ext cx="0" cy="8496300"/>
          </a:xfrm>
          <a:prstGeom prst="line">
            <a:avLst/>
          </a:prstGeom>
          <a:ln w="9525" cap="flat">
            <a:solidFill>
              <a:srgbClr val="D6E0E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406" name="Group 136"/>
          <p:cNvGrpSpPr/>
          <p:nvPr/>
        </p:nvGrpSpPr>
        <p:grpSpPr>
          <a:xfrm>
            <a:off x="7429500" y="962025"/>
            <a:ext cx="4762500" cy="8267700"/>
            <a:chOff x="0" y="0"/>
            <a:chExt cx="6350000" cy="11023600"/>
          </a:xfrm>
        </p:grpSpPr>
        <p:sp>
          <p:nvSpPr>
            <p:cNvPr id="407" name="Freeform 137"/>
            <p:cNvSpPr/>
            <p:nvPr/>
          </p:nvSpPr>
          <p:spPr>
            <a:xfrm>
              <a:off x="0" y="0"/>
              <a:ext cx="6350000" cy="11023600"/>
            </a:xfrm>
            <a:custGeom>
              <a:avLst/>
              <a:gdLst/>
              <a:ahLst/>
              <a:cxnLst/>
              <a:rect l="l" t="t" r="r" b="b"/>
              <a:pathLst>
                <a:path w="6350000" h="11023600">
                  <a:moveTo>
                    <a:pt x="0" y="0"/>
                  </a:moveTo>
                  <a:lnTo>
                    <a:pt x="6350000" y="0"/>
                  </a:lnTo>
                  <a:lnTo>
                    <a:pt x="6350000" y="11023600"/>
                  </a:lnTo>
                  <a:lnTo>
                    <a:pt x="0" y="110236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6E0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08" name="TextBox 138"/>
            <p:cNvSpPr txBox="1"/>
            <p:nvPr/>
          </p:nvSpPr>
          <p:spPr>
            <a:xfrm>
              <a:off x="0" y="-38100"/>
              <a:ext cx="6350000" cy="11061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09" name="Group 139"/>
          <p:cNvGrpSpPr/>
          <p:nvPr/>
        </p:nvGrpSpPr>
        <p:grpSpPr>
          <a:xfrm>
            <a:off x="7429500" y="962025"/>
            <a:ext cx="1714500" cy="381000"/>
            <a:chOff x="0" y="0"/>
            <a:chExt cx="2286000" cy="508000"/>
          </a:xfrm>
        </p:grpSpPr>
        <p:sp>
          <p:nvSpPr>
            <p:cNvPr id="410" name="Freeform 140"/>
            <p:cNvSpPr/>
            <p:nvPr/>
          </p:nvSpPr>
          <p:spPr>
            <a:xfrm>
              <a:off x="0" y="0"/>
              <a:ext cx="2286000" cy="508000"/>
            </a:xfrm>
            <a:custGeom>
              <a:avLst/>
              <a:gdLst/>
              <a:ahLst/>
              <a:cxnLst/>
              <a:rect l="l" t="t" r="r" b="b"/>
              <a:pathLst>
                <a:path w="2286000" h="508000">
                  <a:moveTo>
                    <a:pt x="0" y="0"/>
                  </a:moveTo>
                  <a:lnTo>
                    <a:pt x="2286000" y="0"/>
                  </a:lnTo>
                  <a:lnTo>
                    <a:pt x="22860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EAF2F8"/>
            </a:solidFill>
            <a:ln w="9525" cap="sq">
              <a:solidFill>
                <a:srgbClr val="D6E0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1" name="TextBox 141"/>
            <p:cNvSpPr txBox="1"/>
            <p:nvPr/>
          </p:nvSpPr>
          <p:spPr>
            <a:xfrm>
              <a:off x="0" y="-38100"/>
              <a:ext cx="2286000" cy="54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12" name="TextBox 142"/>
          <p:cNvSpPr txBox="1"/>
          <p:nvPr/>
        </p:nvSpPr>
        <p:spPr>
          <a:xfrm>
            <a:off x="7486650" y="1000125"/>
            <a:ext cx="1600200" cy="204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1">
                <a:solidFill>
                  <a:srgbClr val="2962A7"/>
                </a:solidFill>
                <a:ea typeface="Times New Roman Bold"/>
                <a:cs typeface="Times New Roman Bold"/>
                <a:sym typeface="Times New Roman Bold"/>
              </a:rPr>
              <a:t>Technology Stack</a:t>
            </a:r>
          </a:p>
        </p:txBody>
      </p:sp>
      <p:grpSp>
        <p:nvGrpSpPr>
          <p:cNvPr id="413" name="Group 143"/>
          <p:cNvGrpSpPr/>
          <p:nvPr/>
        </p:nvGrpSpPr>
        <p:grpSpPr>
          <a:xfrm>
            <a:off x="9144000" y="962025"/>
            <a:ext cx="3048000" cy="381000"/>
            <a:chOff x="0" y="0"/>
            <a:chExt cx="4064000" cy="508000"/>
          </a:xfrm>
        </p:grpSpPr>
        <p:sp>
          <p:nvSpPr>
            <p:cNvPr id="414" name="Freeform 144"/>
            <p:cNvSpPr/>
            <p:nvPr/>
          </p:nvSpPr>
          <p:spPr>
            <a:xfrm>
              <a:off x="0" y="0"/>
              <a:ext cx="4064000" cy="508000"/>
            </a:xfrm>
            <a:custGeom>
              <a:avLst/>
              <a:gdLst/>
              <a:ahLst/>
              <a:cxnLst/>
              <a:rect l="l" t="t" r="r" b="b"/>
              <a:pathLst>
                <a:path w="4064000" h="508000">
                  <a:moveTo>
                    <a:pt x="0" y="0"/>
                  </a:moveTo>
                  <a:lnTo>
                    <a:pt x="4064000" y="0"/>
                  </a:lnTo>
                  <a:lnTo>
                    <a:pt x="40640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EAF2F8"/>
            </a:solidFill>
            <a:ln w="9525" cap="sq">
              <a:solidFill>
                <a:srgbClr val="D6E0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5" name="TextBox 145"/>
            <p:cNvSpPr txBox="1"/>
            <p:nvPr/>
          </p:nvSpPr>
          <p:spPr>
            <a:xfrm>
              <a:off x="0" y="-38100"/>
              <a:ext cx="4064000" cy="54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16" name="TextBox 146"/>
          <p:cNvSpPr txBox="1"/>
          <p:nvPr/>
        </p:nvSpPr>
        <p:spPr>
          <a:xfrm>
            <a:off x="9201150" y="1000125"/>
            <a:ext cx="2933700" cy="204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1">
                <a:solidFill>
                  <a:srgbClr val="2962A7"/>
                </a:solidFill>
                <a:ea typeface="Times New Roman Bold"/>
                <a:cs typeface="Times New Roman Bold"/>
                <a:sym typeface="Times New Roman Bold"/>
              </a:rPr>
              <a:t>Why this choice &amp; Role</a:t>
            </a:r>
          </a:p>
        </p:txBody>
      </p:sp>
      <p:grpSp>
        <p:nvGrpSpPr>
          <p:cNvPr id="417" name="Group 147"/>
          <p:cNvGrpSpPr/>
          <p:nvPr/>
        </p:nvGrpSpPr>
        <p:grpSpPr>
          <a:xfrm>
            <a:off x="7429500" y="1343025"/>
            <a:ext cx="4762500" cy="247650"/>
            <a:chOff x="0" y="0"/>
            <a:chExt cx="6350000" cy="330200"/>
          </a:xfrm>
        </p:grpSpPr>
        <p:sp>
          <p:nvSpPr>
            <p:cNvPr id="418" name="Freeform 148"/>
            <p:cNvSpPr/>
            <p:nvPr/>
          </p:nvSpPr>
          <p:spPr>
            <a:xfrm>
              <a:off x="0" y="0"/>
              <a:ext cx="6350000" cy="330200"/>
            </a:xfrm>
            <a:custGeom>
              <a:avLst/>
              <a:gdLst/>
              <a:ahLst/>
              <a:cxnLst/>
              <a:rect l="l" t="t" r="r" b="b"/>
              <a:pathLst>
                <a:path w="6350000" h="330200">
                  <a:moveTo>
                    <a:pt x="0" y="0"/>
                  </a:moveTo>
                  <a:lnTo>
                    <a:pt x="6350000" y="0"/>
                  </a:lnTo>
                  <a:lnTo>
                    <a:pt x="6350000" y="330200"/>
                  </a:lnTo>
                  <a:lnTo>
                    <a:pt x="0" y="330200"/>
                  </a:lnTo>
                  <a:close/>
                </a:path>
              </a:pathLst>
            </a:custGeom>
            <a:solidFill>
              <a:srgbClr val="EDF4FA"/>
            </a:solidFill>
            <a:ln w="9525" cap="sq">
              <a:solidFill>
                <a:srgbClr val="D6E0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9" name="TextBox 149"/>
            <p:cNvSpPr txBox="1"/>
            <p:nvPr/>
          </p:nvSpPr>
          <p:spPr>
            <a:xfrm>
              <a:off x="0" y="-38100"/>
              <a:ext cx="63500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20" name="TextBox 150"/>
          <p:cNvSpPr txBox="1"/>
          <p:nvPr/>
        </p:nvSpPr>
        <p:spPr>
          <a:xfrm>
            <a:off x="7486650" y="1343025"/>
            <a:ext cx="4648200" cy="184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200" b="1" dirty="0">
                <a:solidFill>
                  <a:srgbClr val="18324B"/>
                </a:solidFill>
                <a:ea typeface="Times New Roman Bold"/>
                <a:cs typeface="Times New Roman Bold"/>
                <a:sym typeface="Times New Roman Bold"/>
              </a:rPr>
              <a:t>Frontend</a:t>
            </a:r>
          </a:p>
        </p:txBody>
      </p:sp>
      <p:grpSp>
        <p:nvGrpSpPr>
          <p:cNvPr id="421" name="Group 151"/>
          <p:cNvGrpSpPr/>
          <p:nvPr/>
        </p:nvGrpSpPr>
        <p:grpSpPr>
          <a:xfrm>
            <a:off x="7429500" y="1590675"/>
            <a:ext cx="4762500" cy="304800"/>
            <a:chOff x="0" y="0"/>
            <a:chExt cx="6350000" cy="406400"/>
          </a:xfrm>
        </p:grpSpPr>
        <p:sp>
          <p:nvSpPr>
            <p:cNvPr id="422" name="Freeform 152"/>
            <p:cNvSpPr/>
            <p:nvPr/>
          </p:nvSpPr>
          <p:spPr>
            <a:xfrm>
              <a:off x="0" y="0"/>
              <a:ext cx="6350000" cy="406400"/>
            </a:xfrm>
            <a:custGeom>
              <a:avLst/>
              <a:gdLst/>
              <a:ahLst/>
              <a:cxnLst/>
              <a:rect l="l" t="t" r="r" b="b"/>
              <a:pathLst>
                <a:path w="6350000" h="406400">
                  <a:moveTo>
                    <a:pt x="0" y="0"/>
                  </a:moveTo>
                  <a:lnTo>
                    <a:pt x="6350000" y="0"/>
                  </a:lnTo>
                  <a:lnTo>
                    <a:pt x="63500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6E0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3" name="TextBox 153"/>
            <p:cNvSpPr txBox="1"/>
            <p:nvPr/>
          </p:nvSpPr>
          <p:spPr>
            <a:xfrm>
              <a:off x="0" y="-38100"/>
              <a:ext cx="63500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24" name="TextBox 154"/>
          <p:cNvSpPr txBox="1"/>
          <p:nvPr/>
        </p:nvSpPr>
        <p:spPr>
          <a:xfrm>
            <a:off x="7486650" y="1628775"/>
            <a:ext cx="1600200" cy="146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50">
                <a:solidFill>
                  <a:srgbClr val="FFFFFF"/>
                </a:solidFill>
                <a:latin typeface="Segoe UI"/>
              </a:defRPr>
            </a:pPr>
            <a:r>
              <a:rPr b="1">
                <a:solidFill>
                  <a:srgbClr val="182B3A"/>
                </a:solidFill>
              </a:rPr>
              <a:t>Next.js + TypeScript</a:t>
            </a:r>
          </a:p>
        </p:txBody>
      </p:sp>
      <p:sp>
        <p:nvSpPr>
          <p:cNvPr id="425" name="TextBox 155"/>
          <p:cNvSpPr txBox="1"/>
          <p:nvPr/>
        </p:nvSpPr>
        <p:spPr>
          <a:xfrm>
            <a:off x="9201150" y="1628775"/>
            <a:ext cx="2933700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00">
                <a:solidFill>
                  <a:srgbClr val="E0F2FE"/>
                </a:solidFill>
                <a:latin typeface="Segoe UI"/>
              </a:defRPr>
            </a:pPr>
            <a:r>
              <a:rPr>
                <a:solidFill>
                  <a:srgbClr val="182B3A"/>
                </a:solidFill>
              </a:rPr>
              <a:t>Modern, type-safe, server-rendered scientific web portal</a:t>
            </a:r>
          </a:p>
        </p:txBody>
      </p:sp>
      <p:grpSp>
        <p:nvGrpSpPr>
          <p:cNvPr id="426" name="Group 156"/>
          <p:cNvGrpSpPr/>
          <p:nvPr/>
        </p:nvGrpSpPr>
        <p:grpSpPr>
          <a:xfrm>
            <a:off x="7429500" y="1895475"/>
            <a:ext cx="4762500" cy="381000"/>
            <a:chOff x="0" y="0"/>
            <a:chExt cx="6350000" cy="508000"/>
          </a:xfrm>
        </p:grpSpPr>
        <p:sp>
          <p:nvSpPr>
            <p:cNvPr id="427" name="Freeform 157"/>
            <p:cNvSpPr/>
            <p:nvPr/>
          </p:nvSpPr>
          <p:spPr>
            <a:xfrm>
              <a:off x="0" y="0"/>
              <a:ext cx="6350000" cy="508000"/>
            </a:xfrm>
            <a:custGeom>
              <a:avLst/>
              <a:gdLst/>
              <a:ahLst/>
              <a:cxnLst/>
              <a:rect l="l" t="t" r="r" b="b"/>
              <a:pathLst>
                <a:path w="6350000" h="508000">
                  <a:moveTo>
                    <a:pt x="0" y="0"/>
                  </a:moveTo>
                  <a:lnTo>
                    <a:pt x="6350000" y="0"/>
                  </a:lnTo>
                  <a:lnTo>
                    <a:pt x="63500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F7FAFC"/>
            </a:solidFill>
            <a:ln w="9525" cap="sq">
              <a:solidFill>
                <a:srgbClr val="D6E0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8" name="TextBox 158"/>
            <p:cNvSpPr txBox="1"/>
            <p:nvPr/>
          </p:nvSpPr>
          <p:spPr>
            <a:xfrm>
              <a:off x="0" y="-38100"/>
              <a:ext cx="6350000" cy="54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29" name="TextBox 159"/>
          <p:cNvSpPr txBox="1"/>
          <p:nvPr/>
        </p:nvSpPr>
        <p:spPr>
          <a:xfrm>
            <a:off x="7486650" y="1933575"/>
            <a:ext cx="1600200" cy="146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50">
                <a:solidFill>
                  <a:srgbClr val="FFFFFF"/>
                </a:solidFill>
                <a:latin typeface="Segoe UI"/>
              </a:defRPr>
            </a:pPr>
            <a:r>
              <a:rPr b="1">
                <a:solidFill>
                  <a:srgbClr val="182B3A"/>
                </a:solidFill>
              </a:rPr>
              <a:t>Tailwind CSS + shadcn/ui</a:t>
            </a:r>
          </a:p>
        </p:txBody>
      </p:sp>
      <p:sp>
        <p:nvSpPr>
          <p:cNvPr id="430" name="TextBox 160"/>
          <p:cNvSpPr txBox="1"/>
          <p:nvPr/>
        </p:nvSpPr>
        <p:spPr>
          <a:xfrm>
            <a:off x="9201150" y="1933575"/>
            <a:ext cx="2933700" cy="286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00">
                <a:solidFill>
                  <a:srgbClr val="E0F2FE"/>
                </a:solidFill>
                <a:latin typeface="Segoe UI"/>
              </a:defRPr>
            </a:pPr>
            <a:r>
              <a:rPr>
                <a:solidFill>
                  <a:srgbClr val="182B3A"/>
                </a:solidFill>
              </a:rPr>
              <a:t>Accessible, responsive polar theme: deep navy, ice blue, cyan</a:t>
            </a:r>
          </a:p>
        </p:txBody>
      </p:sp>
      <p:grpSp>
        <p:nvGrpSpPr>
          <p:cNvPr id="431" name="Group 161"/>
          <p:cNvGrpSpPr/>
          <p:nvPr/>
        </p:nvGrpSpPr>
        <p:grpSpPr>
          <a:xfrm>
            <a:off x="7429500" y="2276475"/>
            <a:ext cx="4762500" cy="381000"/>
            <a:chOff x="0" y="0"/>
            <a:chExt cx="6350000" cy="508000"/>
          </a:xfrm>
        </p:grpSpPr>
        <p:sp>
          <p:nvSpPr>
            <p:cNvPr id="432" name="Freeform 162"/>
            <p:cNvSpPr/>
            <p:nvPr/>
          </p:nvSpPr>
          <p:spPr>
            <a:xfrm>
              <a:off x="0" y="0"/>
              <a:ext cx="6350000" cy="508000"/>
            </a:xfrm>
            <a:custGeom>
              <a:avLst/>
              <a:gdLst/>
              <a:ahLst/>
              <a:cxnLst/>
              <a:rect l="l" t="t" r="r" b="b"/>
              <a:pathLst>
                <a:path w="6350000" h="508000">
                  <a:moveTo>
                    <a:pt x="0" y="0"/>
                  </a:moveTo>
                  <a:lnTo>
                    <a:pt x="6350000" y="0"/>
                  </a:lnTo>
                  <a:lnTo>
                    <a:pt x="63500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6E0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33" name="TextBox 163"/>
            <p:cNvSpPr txBox="1"/>
            <p:nvPr/>
          </p:nvSpPr>
          <p:spPr>
            <a:xfrm>
              <a:off x="0" y="-38100"/>
              <a:ext cx="6350000" cy="54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34" name="TextBox 164"/>
          <p:cNvSpPr txBox="1"/>
          <p:nvPr/>
        </p:nvSpPr>
        <p:spPr>
          <a:xfrm>
            <a:off x="7486650" y="2314575"/>
            <a:ext cx="1600200" cy="146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50">
                <a:solidFill>
                  <a:srgbClr val="FFFFFF"/>
                </a:solidFill>
                <a:latin typeface="Segoe UI"/>
              </a:defRPr>
            </a:pPr>
            <a:r>
              <a:rPr b="1">
                <a:solidFill>
                  <a:srgbClr val="182B3A"/>
                </a:solidFill>
              </a:rPr>
              <a:t>Leaflet + OpenStreetMap</a:t>
            </a:r>
          </a:p>
        </p:txBody>
      </p:sp>
      <p:sp>
        <p:nvSpPr>
          <p:cNvPr id="435" name="TextBox 165"/>
          <p:cNvSpPr txBox="1"/>
          <p:nvPr/>
        </p:nvSpPr>
        <p:spPr>
          <a:xfrm>
            <a:off x="9201150" y="2314575"/>
            <a:ext cx="2933700" cy="286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00">
                <a:solidFill>
                  <a:srgbClr val="E0F2FE"/>
                </a:solidFill>
                <a:latin typeface="Segoe UI"/>
              </a:defRPr>
            </a:pPr>
            <a:r>
              <a:rPr>
                <a:solidFill>
                  <a:srgbClr val="182B3A"/>
                </a:solidFill>
              </a:rPr>
              <a:t>Interactive polar GIS station explorer &amp; geospatial tracking</a:t>
            </a:r>
          </a:p>
        </p:txBody>
      </p:sp>
      <p:grpSp>
        <p:nvGrpSpPr>
          <p:cNvPr id="436" name="Group 166"/>
          <p:cNvGrpSpPr/>
          <p:nvPr/>
        </p:nvGrpSpPr>
        <p:grpSpPr>
          <a:xfrm>
            <a:off x="7429500" y="2657475"/>
            <a:ext cx="4762500" cy="247650"/>
            <a:chOff x="0" y="0"/>
            <a:chExt cx="6350000" cy="330200"/>
          </a:xfrm>
        </p:grpSpPr>
        <p:sp>
          <p:nvSpPr>
            <p:cNvPr id="437" name="Freeform 167"/>
            <p:cNvSpPr/>
            <p:nvPr/>
          </p:nvSpPr>
          <p:spPr>
            <a:xfrm>
              <a:off x="0" y="0"/>
              <a:ext cx="6350000" cy="330200"/>
            </a:xfrm>
            <a:custGeom>
              <a:avLst/>
              <a:gdLst/>
              <a:ahLst/>
              <a:cxnLst/>
              <a:rect l="l" t="t" r="r" b="b"/>
              <a:pathLst>
                <a:path w="6350000" h="330200">
                  <a:moveTo>
                    <a:pt x="0" y="0"/>
                  </a:moveTo>
                  <a:lnTo>
                    <a:pt x="6350000" y="0"/>
                  </a:lnTo>
                  <a:lnTo>
                    <a:pt x="6350000" y="330200"/>
                  </a:lnTo>
                  <a:lnTo>
                    <a:pt x="0" y="330200"/>
                  </a:lnTo>
                  <a:close/>
                </a:path>
              </a:pathLst>
            </a:custGeom>
            <a:solidFill>
              <a:srgbClr val="EDF4FA"/>
            </a:solidFill>
            <a:ln w="9525" cap="sq">
              <a:solidFill>
                <a:srgbClr val="D6E0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38" name="TextBox 168"/>
            <p:cNvSpPr txBox="1"/>
            <p:nvPr/>
          </p:nvSpPr>
          <p:spPr>
            <a:xfrm>
              <a:off x="0" y="-38100"/>
              <a:ext cx="63500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39" name="TextBox 169"/>
          <p:cNvSpPr txBox="1"/>
          <p:nvPr/>
        </p:nvSpPr>
        <p:spPr>
          <a:xfrm>
            <a:off x="7486650" y="2657475"/>
            <a:ext cx="4648200" cy="184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200" b="1" dirty="0">
                <a:solidFill>
                  <a:srgbClr val="18324B"/>
                </a:solidFill>
                <a:ea typeface="Times New Roman Bold"/>
                <a:cs typeface="Times New Roman Bold"/>
                <a:sym typeface="Times New Roman Bold"/>
              </a:rPr>
              <a:t>Backend</a:t>
            </a:r>
          </a:p>
        </p:txBody>
      </p:sp>
      <p:grpSp>
        <p:nvGrpSpPr>
          <p:cNvPr id="440" name="Group 170"/>
          <p:cNvGrpSpPr/>
          <p:nvPr/>
        </p:nvGrpSpPr>
        <p:grpSpPr>
          <a:xfrm>
            <a:off x="7429500" y="2905125"/>
            <a:ext cx="4762500" cy="381000"/>
            <a:chOff x="0" y="0"/>
            <a:chExt cx="6350000" cy="508000"/>
          </a:xfrm>
        </p:grpSpPr>
        <p:sp>
          <p:nvSpPr>
            <p:cNvPr id="441" name="Freeform 171"/>
            <p:cNvSpPr/>
            <p:nvPr/>
          </p:nvSpPr>
          <p:spPr>
            <a:xfrm>
              <a:off x="0" y="0"/>
              <a:ext cx="6350000" cy="508000"/>
            </a:xfrm>
            <a:custGeom>
              <a:avLst/>
              <a:gdLst/>
              <a:ahLst/>
              <a:cxnLst/>
              <a:rect l="l" t="t" r="r" b="b"/>
              <a:pathLst>
                <a:path w="6350000" h="508000">
                  <a:moveTo>
                    <a:pt x="0" y="0"/>
                  </a:moveTo>
                  <a:lnTo>
                    <a:pt x="6350000" y="0"/>
                  </a:lnTo>
                  <a:lnTo>
                    <a:pt x="63500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F7FAFC"/>
            </a:solidFill>
            <a:ln w="9525" cap="sq">
              <a:solidFill>
                <a:srgbClr val="D6E0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42" name="TextBox 172"/>
            <p:cNvSpPr txBox="1"/>
            <p:nvPr/>
          </p:nvSpPr>
          <p:spPr>
            <a:xfrm>
              <a:off x="0" y="-38100"/>
              <a:ext cx="6350000" cy="54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43" name="TextBox 173"/>
          <p:cNvSpPr txBox="1"/>
          <p:nvPr/>
        </p:nvSpPr>
        <p:spPr>
          <a:xfrm>
            <a:off x="7486650" y="2943225"/>
            <a:ext cx="1600200" cy="146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50">
                <a:solidFill>
                  <a:srgbClr val="FFFFFF"/>
                </a:solidFill>
                <a:latin typeface="Segoe UI"/>
              </a:defRPr>
            </a:pPr>
            <a:r>
              <a:rPr b="1">
                <a:solidFill>
                  <a:srgbClr val="182B3A"/>
                </a:solidFill>
              </a:rPr>
              <a:t>Python + FastAPI</a:t>
            </a:r>
          </a:p>
        </p:txBody>
      </p:sp>
      <p:sp>
        <p:nvSpPr>
          <p:cNvPr id="444" name="TextBox 174"/>
          <p:cNvSpPr txBox="1"/>
          <p:nvPr/>
        </p:nvSpPr>
        <p:spPr>
          <a:xfrm>
            <a:off x="9201150" y="2943225"/>
            <a:ext cx="2933700" cy="286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00">
                <a:solidFill>
                  <a:srgbClr val="E0F2FE"/>
                </a:solidFill>
                <a:latin typeface="Segoe UI"/>
              </a:defRPr>
            </a:pPr>
            <a:r>
              <a:rPr>
                <a:solidFill>
                  <a:srgbClr val="182B3A"/>
                </a:solidFill>
              </a:rPr>
              <a:t>High-concurrency async REST API for RAG, search &amp; data ingestion</a:t>
            </a:r>
          </a:p>
        </p:txBody>
      </p:sp>
      <p:grpSp>
        <p:nvGrpSpPr>
          <p:cNvPr id="445" name="Group 175"/>
          <p:cNvGrpSpPr/>
          <p:nvPr/>
        </p:nvGrpSpPr>
        <p:grpSpPr>
          <a:xfrm>
            <a:off x="7429500" y="3286125"/>
            <a:ext cx="4762500" cy="381000"/>
            <a:chOff x="0" y="0"/>
            <a:chExt cx="6350000" cy="508000"/>
          </a:xfrm>
        </p:grpSpPr>
        <p:sp>
          <p:nvSpPr>
            <p:cNvPr id="446" name="Freeform 176"/>
            <p:cNvSpPr/>
            <p:nvPr/>
          </p:nvSpPr>
          <p:spPr>
            <a:xfrm>
              <a:off x="0" y="0"/>
              <a:ext cx="6350000" cy="508000"/>
            </a:xfrm>
            <a:custGeom>
              <a:avLst/>
              <a:gdLst/>
              <a:ahLst/>
              <a:cxnLst/>
              <a:rect l="l" t="t" r="r" b="b"/>
              <a:pathLst>
                <a:path w="6350000" h="508000">
                  <a:moveTo>
                    <a:pt x="0" y="0"/>
                  </a:moveTo>
                  <a:lnTo>
                    <a:pt x="6350000" y="0"/>
                  </a:lnTo>
                  <a:lnTo>
                    <a:pt x="63500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6E0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47" name="TextBox 177"/>
            <p:cNvSpPr txBox="1"/>
            <p:nvPr/>
          </p:nvSpPr>
          <p:spPr>
            <a:xfrm>
              <a:off x="0" y="-38100"/>
              <a:ext cx="6350000" cy="54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48" name="TextBox 178"/>
          <p:cNvSpPr txBox="1"/>
          <p:nvPr/>
        </p:nvSpPr>
        <p:spPr>
          <a:xfrm>
            <a:off x="7486650" y="3324225"/>
            <a:ext cx="1600200" cy="146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50">
                <a:solidFill>
                  <a:srgbClr val="FFFFFF"/>
                </a:solidFill>
                <a:latin typeface="Segoe UI"/>
              </a:defRPr>
            </a:pPr>
            <a:r>
              <a:rPr b="1">
                <a:solidFill>
                  <a:srgbClr val="182B3A"/>
                </a:solidFill>
              </a:rPr>
              <a:t>Pydantic v2</a:t>
            </a:r>
          </a:p>
        </p:txBody>
      </p:sp>
      <p:sp>
        <p:nvSpPr>
          <p:cNvPr id="449" name="TextBox 179"/>
          <p:cNvSpPr txBox="1"/>
          <p:nvPr/>
        </p:nvSpPr>
        <p:spPr>
          <a:xfrm>
            <a:off x="9201150" y="3324225"/>
            <a:ext cx="2933700" cy="286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00">
                <a:solidFill>
                  <a:srgbClr val="E0F2FE"/>
                </a:solidFill>
                <a:latin typeface="Segoe UI"/>
              </a:defRPr>
            </a:pPr>
            <a:r>
              <a:rPr>
                <a:solidFill>
                  <a:srgbClr val="182B3A"/>
                </a:solidFill>
              </a:rPr>
              <a:t>Strict schema validation for DataCite/Dublin Core metadata models</a:t>
            </a:r>
          </a:p>
        </p:txBody>
      </p:sp>
      <p:grpSp>
        <p:nvGrpSpPr>
          <p:cNvPr id="450" name="Group 180"/>
          <p:cNvGrpSpPr/>
          <p:nvPr/>
        </p:nvGrpSpPr>
        <p:grpSpPr>
          <a:xfrm>
            <a:off x="7429500" y="3667125"/>
            <a:ext cx="4762500" cy="304800"/>
            <a:chOff x="0" y="0"/>
            <a:chExt cx="6350000" cy="406400"/>
          </a:xfrm>
        </p:grpSpPr>
        <p:sp>
          <p:nvSpPr>
            <p:cNvPr id="451" name="Freeform 181"/>
            <p:cNvSpPr/>
            <p:nvPr/>
          </p:nvSpPr>
          <p:spPr>
            <a:xfrm>
              <a:off x="0" y="0"/>
              <a:ext cx="6350000" cy="406400"/>
            </a:xfrm>
            <a:custGeom>
              <a:avLst/>
              <a:gdLst/>
              <a:ahLst/>
              <a:cxnLst/>
              <a:rect l="l" t="t" r="r" b="b"/>
              <a:pathLst>
                <a:path w="6350000" h="406400">
                  <a:moveTo>
                    <a:pt x="0" y="0"/>
                  </a:moveTo>
                  <a:lnTo>
                    <a:pt x="6350000" y="0"/>
                  </a:lnTo>
                  <a:lnTo>
                    <a:pt x="63500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F7FAFC"/>
            </a:solidFill>
            <a:ln w="9525" cap="sq">
              <a:solidFill>
                <a:srgbClr val="D6E0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52" name="TextBox 182"/>
            <p:cNvSpPr txBox="1"/>
            <p:nvPr/>
          </p:nvSpPr>
          <p:spPr>
            <a:xfrm>
              <a:off x="0" y="-38100"/>
              <a:ext cx="63500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53" name="TextBox 183"/>
          <p:cNvSpPr txBox="1"/>
          <p:nvPr/>
        </p:nvSpPr>
        <p:spPr>
          <a:xfrm>
            <a:off x="7486650" y="3705225"/>
            <a:ext cx="1600200" cy="146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50">
                <a:solidFill>
                  <a:srgbClr val="FFFFFF"/>
                </a:solidFill>
                <a:latin typeface="Segoe UI"/>
              </a:defRPr>
            </a:pPr>
            <a:r>
              <a:rPr b="1">
                <a:solidFill>
                  <a:srgbClr val="182B3A"/>
                </a:solidFill>
              </a:rPr>
              <a:t>REST APIs</a:t>
            </a:r>
          </a:p>
        </p:txBody>
      </p:sp>
      <p:sp>
        <p:nvSpPr>
          <p:cNvPr id="454" name="TextBox 184"/>
          <p:cNvSpPr txBox="1"/>
          <p:nvPr/>
        </p:nvSpPr>
        <p:spPr>
          <a:xfrm>
            <a:off x="9201150" y="3705225"/>
            <a:ext cx="2933700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00">
                <a:solidFill>
                  <a:srgbClr val="E0F2FE"/>
                </a:solidFill>
                <a:latin typeface="Segoe UI"/>
              </a:defRPr>
            </a:pPr>
            <a:r>
              <a:rPr>
                <a:solidFill>
                  <a:srgbClr val="182B3A"/>
                </a:solidFill>
              </a:rPr>
              <a:t>Decoupled, modular communication between UI, RAG &amp; data services</a:t>
            </a:r>
          </a:p>
        </p:txBody>
      </p:sp>
      <p:grpSp>
        <p:nvGrpSpPr>
          <p:cNvPr id="455" name="Group 185"/>
          <p:cNvGrpSpPr/>
          <p:nvPr/>
        </p:nvGrpSpPr>
        <p:grpSpPr>
          <a:xfrm>
            <a:off x="7429500" y="3971925"/>
            <a:ext cx="4762500" cy="381000"/>
            <a:chOff x="0" y="0"/>
            <a:chExt cx="6350000" cy="508000"/>
          </a:xfrm>
        </p:grpSpPr>
        <p:sp>
          <p:nvSpPr>
            <p:cNvPr id="456" name="Freeform 186"/>
            <p:cNvSpPr/>
            <p:nvPr/>
          </p:nvSpPr>
          <p:spPr>
            <a:xfrm>
              <a:off x="0" y="0"/>
              <a:ext cx="6350000" cy="508000"/>
            </a:xfrm>
            <a:custGeom>
              <a:avLst/>
              <a:gdLst/>
              <a:ahLst/>
              <a:cxnLst/>
              <a:rect l="l" t="t" r="r" b="b"/>
              <a:pathLst>
                <a:path w="6350000" h="508000">
                  <a:moveTo>
                    <a:pt x="0" y="0"/>
                  </a:moveTo>
                  <a:lnTo>
                    <a:pt x="6350000" y="0"/>
                  </a:lnTo>
                  <a:lnTo>
                    <a:pt x="63500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6E0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57" name="TextBox 187"/>
            <p:cNvSpPr txBox="1"/>
            <p:nvPr/>
          </p:nvSpPr>
          <p:spPr>
            <a:xfrm>
              <a:off x="0" y="-38100"/>
              <a:ext cx="6350000" cy="54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58" name="TextBox 188"/>
          <p:cNvSpPr txBox="1"/>
          <p:nvPr/>
        </p:nvSpPr>
        <p:spPr>
          <a:xfrm>
            <a:off x="7486650" y="4010025"/>
            <a:ext cx="1600200" cy="146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50">
                <a:solidFill>
                  <a:srgbClr val="FFFFFF"/>
                </a:solidFill>
                <a:latin typeface="Segoe UI"/>
              </a:defRPr>
            </a:pPr>
            <a:r>
              <a:rPr b="1">
                <a:solidFill>
                  <a:srgbClr val="182B3A"/>
                </a:solidFill>
              </a:rPr>
              <a:t>Uvicorn ASGI</a:t>
            </a:r>
          </a:p>
        </p:txBody>
      </p:sp>
      <p:sp>
        <p:nvSpPr>
          <p:cNvPr id="459" name="TextBox 189"/>
          <p:cNvSpPr txBox="1"/>
          <p:nvPr/>
        </p:nvSpPr>
        <p:spPr>
          <a:xfrm>
            <a:off x="9201150" y="4010025"/>
            <a:ext cx="2933700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00">
                <a:solidFill>
                  <a:srgbClr val="E0F2FE"/>
                </a:solidFill>
                <a:latin typeface="Segoe UI"/>
              </a:defRPr>
            </a:pPr>
            <a:r>
              <a:rPr>
                <a:solidFill>
                  <a:srgbClr val="182B3A"/>
                </a:solidFill>
              </a:rPr>
              <a:t>Production-grade asynchronous web server with worker management</a:t>
            </a:r>
          </a:p>
        </p:txBody>
      </p:sp>
      <p:grpSp>
        <p:nvGrpSpPr>
          <p:cNvPr id="460" name="Group 190"/>
          <p:cNvGrpSpPr/>
          <p:nvPr/>
        </p:nvGrpSpPr>
        <p:grpSpPr>
          <a:xfrm>
            <a:off x="7429500" y="4352925"/>
            <a:ext cx="4762500" cy="247650"/>
            <a:chOff x="0" y="0"/>
            <a:chExt cx="6350000" cy="330200"/>
          </a:xfrm>
        </p:grpSpPr>
        <p:sp>
          <p:nvSpPr>
            <p:cNvPr id="461" name="Freeform 191"/>
            <p:cNvSpPr/>
            <p:nvPr/>
          </p:nvSpPr>
          <p:spPr>
            <a:xfrm>
              <a:off x="0" y="0"/>
              <a:ext cx="6350000" cy="330200"/>
            </a:xfrm>
            <a:custGeom>
              <a:avLst/>
              <a:gdLst/>
              <a:ahLst/>
              <a:cxnLst/>
              <a:rect l="l" t="t" r="r" b="b"/>
              <a:pathLst>
                <a:path w="6350000" h="330200">
                  <a:moveTo>
                    <a:pt x="0" y="0"/>
                  </a:moveTo>
                  <a:lnTo>
                    <a:pt x="6350000" y="0"/>
                  </a:lnTo>
                  <a:lnTo>
                    <a:pt x="6350000" y="330200"/>
                  </a:lnTo>
                  <a:lnTo>
                    <a:pt x="0" y="330200"/>
                  </a:lnTo>
                  <a:close/>
                </a:path>
              </a:pathLst>
            </a:custGeom>
            <a:solidFill>
              <a:srgbClr val="EDF4FA"/>
            </a:solidFill>
            <a:ln w="9525" cap="sq">
              <a:solidFill>
                <a:srgbClr val="D6E0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2" name="TextBox 192"/>
            <p:cNvSpPr txBox="1"/>
            <p:nvPr/>
          </p:nvSpPr>
          <p:spPr>
            <a:xfrm>
              <a:off x="0" y="-38100"/>
              <a:ext cx="63500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63" name="TextBox 193"/>
          <p:cNvSpPr txBox="1"/>
          <p:nvPr/>
        </p:nvSpPr>
        <p:spPr>
          <a:xfrm>
            <a:off x="7486650" y="4352925"/>
            <a:ext cx="4648200" cy="184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50">
                <a:solidFill>
                  <a:srgbClr val="FFFFFF"/>
                </a:solidFill>
                <a:latin typeface="Segoe UI"/>
              </a:defRPr>
            </a:pPr>
            <a:r>
              <a:rPr b="1">
                <a:solidFill>
                  <a:srgbClr val="18324B"/>
                </a:solidFill>
              </a:rPr>
              <a:t>AI &amp; Knowledge Retrieval</a:t>
            </a:r>
          </a:p>
        </p:txBody>
      </p:sp>
      <p:grpSp>
        <p:nvGrpSpPr>
          <p:cNvPr id="464" name="Group 194"/>
          <p:cNvGrpSpPr/>
          <p:nvPr/>
        </p:nvGrpSpPr>
        <p:grpSpPr>
          <a:xfrm>
            <a:off x="7429500" y="4600575"/>
            <a:ext cx="4762500" cy="438150"/>
            <a:chOff x="0" y="0"/>
            <a:chExt cx="6350000" cy="584200"/>
          </a:xfrm>
        </p:grpSpPr>
        <p:sp>
          <p:nvSpPr>
            <p:cNvPr id="465" name="Freeform 195"/>
            <p:cNvSpPr/>
            <p:nvPr/>
          </p:nvSpPr>
          <p:spPr>
            <a:xfrm>
              <a:off x="0" y="0"/>
              <a:ext cx="6350000" cy="584200"/>
            </a:xfrm>
            <a:custGeom>
              <a:avLst/>
              <a:gdLst/>
              <a:ahLst/>
              <a:cxnLst/>
              <a:rect l="l" t="t" r="r" b="b"/>
              <a:pathLst>
                <a:path w="6350000" h="584200">
                  <a:moveTo>
                    <a:pt x="0" y="0"/>
                  </a:moveTo>
                  <a:lnTo>
                    <a:pt x="6350000" y="0"/>
                  </a:lnTo>
                  <a:lnTo>
                    <a:pt x="6350000" y="584200"/>
                  </a:lnTo>
                  <a:lnTo>
                    <a:pt x="0" y="584200"/>
                  </a:lnTo>
                  <a:close/>
                </a:path>
              </a:pathLst>
            </a:custGeom>
            <a:solidFill>
              <a:srgbClr val="F7FAFC"/>
            </a:solidFill>
            <a:ln w="9525" cap="sq">
              <a:solidFill>
                <a:srgbClr val="D6E0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6" name="TextBox 196"/>
            <p:cNvSpPr txBox="1"/>
            <p:nvPr/>
          </p:nvSpPr>
          <p:spPr>
            <a:xfrm>
              <a:off x="0" y="-38100"/>
              <a:ext cx="63500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67" name="TextBox 197"/>
          <p:cNvSpPr txBox="1"/>
          <p:nvPr/>
        </p:nvSpPr>
        <p:spPr>
          <a:xfrm>
            <a:off x="7486650" y="4638675"/>
            <a:ext cx="1600200" cy="287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50">
                <a:solidFill>
                  <a:srgbClr val="FFFFFF"/>
                </a:solidFill>
                <a:latin typeface="Segoe UI"/>
              </a:defRPr>
            </a:pPr>
            <a:r>
              <a:rPr b="1">
                <a:solidFill>
                  <a:srgbClr val="182B3A"/>
                </a:solidFill>
              </a:rPr>
              <a:t>PyMuPDF + Tesseract</a:t>
            </a:r>
          </a:p>
        </p:txBody>
      </p:sp>
      <p:sp>
        <p:nvSpPr>
          <p:cNvPr id="468" name="TextBox 198"/>
          <p:cNvSpPr txBox="1"/>
          <p:nvPr/>
        </p:nvSpPr>
        <p:spPr>
          <a:xfrm>
            <a:off x="9201150" y="4638675"/>
            <a:ext cx="2933700" cy="286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00">
                <a:solidFill>
                  <a:srgbClr val="E0F2FE"/>
                </a:solidFill>
                <a:latin typeface="Segoe UI"/>
              </a:defRPr>
            </a:pPr>
            <a:r>
              <a:rPr>
                <a:solidFill>
                  <a:srgbClr val="182B3A"/>
                </a:solidFill>
              </a:rPr>
              <a:t>High-accuracy extraction from scanned expedition PDFs &amp; field logs</a:t>
            </a:r>
          </a:p>
        </p:txBody>
      </p:sp>
      <p:grpSp>
        <p:nvGrpSpPr>
          <p:cNvPr id="469" name="Group 199"/>
          <p:cNvGrpSpPr/>
          <p:nvPr/>
        </p:nvGrpSpPr>
        <p:grpSpPr>
          <a:xfrm>
            <a:off x="7429500" y="5038725"/>
            <a:ext cx="4762500" cy="438150"/>
            <a:chOff x="0" y="0"/>
            <a:chExt cx="6350000" cy="584200"/>
          </a:xfrm>
        </p:grpSpPr>
        <p:sp>
          <p:nvSpPr>
            <p:cNvPr id="470" name="Freeform 200"/>
            <p:cNvSpPr/>
            <p:nvPr/>
          </p:nvSpPr>
          <p:spPr>
            <a:xfrm>
              <a:off x="0" y="0"/>
              <a:ext cx="6350000" cy="584200"/>
            </a:xfrm>
            <a:custGeom>
              <a:avLst/>
              <a:gdLst/>
              <a:ahLst/>
              <a:cxnLst/>
              <a:rect l="l" t="t" r="r" b="b"/>
              <a:pathLst>
                <a:path w="6350000" h="584200">
                  <a:moveTo>
                    <a:pt x="0" y="0"/>
                  </a:moveTo>
                  <a:lnTo>
                    <a:pt x="6350000" y="0"/>
                  </a:lnTo>
                  <a:lnTo>
                    <a:pt x="6350000" y="584200"/>
                  </a:lnTo>
                  <a:lnTo>
                    <a:pt x="0" y="5842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6E0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1" name="TextBox 201"/>
            <p:cNvSpPr txBox="1"/>
            <p:nvPr/>
          </p:nvSpPr>
          <p:spPr>
            <a:xfrm>
              <a:off x="0" y="-38100"/>
              <a:ext cx="6350000" cy="622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72" name="TextBox 202"/>
          <p:cNvSpPr txBox="1"/>
          <p:nvPr/>
        </p:nvSpPr>
        <p:spPr>
          <a:xfrm>
            <a:off x="7486650" y="5076825"/>
            <a:ext cx="1600200" cy="146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50">
                <a:solidFill>
                  <a:srgbClr val="FFFFFF"/>
                </a:solidFill>
                <a:latin typeface="Segoe UI"/>
              </a:defRPr>
            </a:pPr>
            <a:r>
              <a:rPr b="1">
                <a:solidFill>
                  <a:srgbClr val="182B3A"/>
                </a:solidFill>
              </a:rPr>
              <a:t>Sentence Transformers</a:t>
            </a:r>
          </a:p>
        </p:txBody>
      </p:sp>
      <p:sp>
        <p:nvSpPr>
          <p:cNvPr id="473" name="TextBox 203"/>
          <p:cNvSpPr txBox="1"/>
          <p:nvPr/>
        </p:nvSpPr>
        <p:spPr>
          <a:xfrm>
            <a:off x="9201150" y="5076825"/>
            <a:ext cx="2933700" cy="286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00">
                <a:solidFill>
                  <a:srgbClr val="E0F2FE"/>
                </a:solidFill>
                <a:latin typeface="Segoe UI"/>
              </a:defRPr>
            </a:pPr>
            <a:r>
              <a:rPr>
                <a:solidFill>
                  <a:srgbClr val="182B3A"/>
                </a:solidFill>
              </a:rPr>
              <a:t>High-dimensional scientific embeddings for polar research corpus</a:t>
            </a:r>
          </a:p>
        </p:txBody>
      </p:sp>
      <p:grpSp>
        <p:nvGrpSpPr>
          <p:cNvPr id="474" name="Group 204"/>
          <p:cNvGrpSpPr/>
          <p:nvPr/>
        </p:nvGrpSpPr>
        <p:grpSpPr>
          <a:xfrm>
            <a:off x="7429500" y="5476875"/>
            <a:ext cx="4762500" cy="381000"/>
            <a:chOff x="0" y="0"/>
            <a:chExt cx="6350000" cy="508000"/>
          </a:xfrm>
        </p:grpSpPr>
        <p:sp>
          <p:nvSpPr>
            <p:cNvPr id="475" name="Freeform 205"/>
            <p:cNvSpPr/>
            <p:nvPr/>
          </p:nvSpPr>
          <p:spPr>
            <a:xfrm>
              <a:off x="0" y="0"/>
              <a:ext cx="6350000" cy="508000"/>
            </a:xfrm>
            <a:custGeom>
              <a:avLst/>
              <a:gdLst/>
              <a:ahLst/>
              <a:cxnLst/>
              <a:rect l="l" t="t" r="r" b="b"/>
              <a:pathLst>
                <a:path w="6350000" h="508000">
                  <a:moveTo>
                    <a:pt x="0" y="0"/>
                  </a:moveTo>
                  <a:lnTo>
                    <a:pt x="6350000" y="0"/>
                  </a:lnTo>
                  <a:lnTo>
                    <a:pt x="63500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F7FAFC"/>
            </a:solidFill>
            <a:ln w="9525" cap="sq">
              <a:solidFill>
                <a:srgbClr val="D6E0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6" name="TextBox 206"/>
            <p:cNvSpPr txBox="1"/>
            <p:nvPr/>
          </p:nvSpPr>
          <p:spPr>
            <a:xfrm>
              <a:off x="0" y="-38100"/>
              <a:ext cx="6350000" cy="54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77" name="TextBox 207"/>
          <p:cNvSpPr txBox="1"/>
          <p:nvPr/>
        </p:nvSpPr>
        <p:spPr>
          <a:xfrm>
            <a:off x="7486650" y="5514975"/>
            <a:ext cx="1600200" cy="146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50">
                <a:solidFill>
                  <a:srgbClr val="FFFFFF"/>
                </a:solidFill>
                <a:latin typeface="Segoe UI"/>
              </a:defRPr>
            </a:pPr>
            <a:r>
              <a:rPr b="1">
                <a:solidFill>
                  <a:srgbClr val="182B3A"/>
                </a:solidFill>
              </a:rPr>
              <a:t>POLAR AI RAG Engine</a:t>
            </a:r>
          </a:p>
        </p:txBody>
      </p:sp>
      <p:sp>
        <p:nvSpPr>
          <p:cNvPr id="478" name="TextBox 208"/>
          <p:cNvSpPr txBox="1"/>
          <p:nvPr/>
        </p:nvSpPr>
        <p:spPr>
          <a:xfrm>
            <a:off x="9201150" y="5514975"/>
            <a:ext cx="2933700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00">
                <a:solidFill>
                  <a:srgbClr val="E0F2FE"/>
                </a:solidFill>
                <a:latin typeface="Segoe UI"/>
              </a:defRPr>
            </a:pPr>
            <a:r>
              <a:rPr>
                <a:solidFill>
                  <a:srgbClr val="182B3A"/>
                </a:solidFill>
              </a:rPr>
              <a:t>Citation-grounded question answering with strict evidence verification</a:t>
            </a:r>
          </a:p>
        </p:txBody>
      </p:sp>
      <p:grpSp>
        <p:nvGrpSpPr>
          <p:cNvPr id="479" name="Group 209"/>
          <p:cNvGrpSpPr/>
          <p:nvPr/>
        </p:nvGrpSpPr>
        <p:grpSpPr>
          <a:xfrm>
            <a:off x="7429500" y="5857875"/>
            <a:ext cx="4762500" cy="381000"/>
            <a:chOff x="0" y="0"/>
            <a:chExt cx="6350000" cy="508000"/>
          </a:xfrm>
        </p:grpSpPr>
        <p:sp>
          <p:nvSpPr>
            <p:cNvPr id="480" name="Freeform 210"/>
            <p:cNvSpPr/>
            <p:nvPr/>
          </p:nvSpPr>
          <p:spPr>
            <a:xfrm>
              <a:off x="0" y="0"/>
              <a:ext cx="6350000" cy="508000"/>
            </a:xfrm>
            <a:custGeom>
              <a:avLst/>
              <a:gdLst/>
              <a:ahLst/>
              <a:cxnLst/>
              <a:rect l="l" t="t" r="r" b="b"/>
              <a:pathLst>
                <a:path w="6350000" h="508000">
                  <a:moveTo>
                    <a:pt x="0" y="0"/>
                  </a:moveTo>
                  <a:lnTo>
                    <a:pt x="6350000" y="0"/>
                  </a:lnTo>
                  <a:lnTo>
                    <a:pt x="63500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6E0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81" name="TextBox 211"/>
            <p:cNvSpPr txBox="1"/>
            <p:nvPr/>
          </p:nvSpPr>
          <p:spPr>
            <a:xfrm>
              <a:off x="0" y="-38100"/>
              <a:ext cx="6350000" cy="54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82" name="TextBox 212"/>
          <p:cNvSpPr txBox="1"/>
          <p:nvPr/>
        </p:nvSpPr>
        <p:spPr>
          <a:xfrm>
            <a:off x="7486650" y="5895975"/>
            <a:ext cx="1600200" cy="146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50">
                <a:solidFill>
                  <a:srgbClr val="FFFFFF"/>
                </a:solidFill>
                <a:latin typeface="Segoe UI"/>
              </a:defRPr>
            </a:pPr>
            <a:r>
              <a:rPr b="1">
                <a:solidFill>
                  <a:srgbClr val="182B3A"/>
                </a:solidFill>
              </a:rPr>
              <a:t>Outreach Generator</a:t>
            </a:r>
          </a:p>
        </p:txBody>
      </p:sp>
      <p:sp>
        <p:nvSpPr>
          <p:cNvPr id="483" name="TextBox 213"/>
          <p:cNvSpPr txBox="1"/>
          <p:nvPr/>
        </p:nvSpPr>
        <p:spPr>
          <a:xfrm>
            <a:off x="9201150" y="5895975"/>
            <a:ext cx="2933700" cy="286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00">
                <a:solidFill>
                  <a:srgbClr val="E0F2FE"/>
                </a:solidFill>
                <a:latin typeface="Segoe UI"/>
              </a:defRPr>
            </a:pPr>
            <a:r>
              <a:rPr>
                <a:solidFill>
                  <a:srgbClr val="182B3A"/>
                </a:solidFill>
              </a:rPr>
              <a:t>Multi-platform content synthesis: Web, Instagram, LinkedIn, Academy</a:t>
            </a:r>
          </a:p>
        </p:txBody>
      </p:sp>
      <p:grpSp>
        <p:nvGrpSpPr>
          <p:cNvPr id="484" name="Group 214"/>
          <p:cNvGrpSpPr/>
          <p:nvPr/>
        </p:nvGrpSpPr>
        <p:grpSpPr>
          <a:xfrm>
            <a:off x="7429500" y="6238875"/>
            <a:ext cx="4762500" cy="247650"/>
            <a:chOff x="0" y="0"/>
            <a:chExt cx="6350000" cy="330200"/>
          </a:xfrm>
        </p:grpSpPr>
        <p:sp>
          <p:nvSpPr>
            <p:cNvPr id="485" name="Freeform 215"/>
            <p:cNvSpPr/>
            <p:nvPr/>
          </p:nvSpPr>
          <p:spPr>
            <a:xfrm>
              <a:off x="0" y="0"/>
              <a:ext cx="6350000" cy="330200"/>
            </a:xfrm>
            <a:custGeom>
              <a:avLst/>
              <a:gdLst/>
              <a:ahLst/>
              <a:cxnLst/>
              <a:rect l="l" t="t" r="r" b="b"/>
              <a:pathLst>
                <a:path w="6350000" h="330200">
                  <a:moveTo>
                    <a:pt x="0" y="0"/>
                  </a:moveTo>
                  <a:lnTo>
                    <a:pt x="6350000" y="0"/>
                  </a:lnTo>
                  <a:lnTo>
                    <a:pt x="6350000" y="330200"/>
                  </a:lnTo>
                  <a:lnTo>
                    <a:pt x="0" y="330200"/>
                  </a:lnTo>
                  <a:close/>
                </a:path>
              </a:pathLst>
            </a:custGeom>
            <a:solidFill>
              <a:srgbClr val="EDF4FA"/>
            </a:solidFill>
            <a:ln w="9525" cap="sq">
              <a:solidFill>
                <a:srgbClr val="D6E0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86" name="TextBox 216"/>
            <p:cNvSpPr txBox="1"/>
            <p:nvPr/>
          </p:nvSpPr>
          <p:spPr>
            <a:xfrm>
              <a:off x="0" y="-38100"/>
              <a:ext cx="63500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87" name="TextBox 217"/>
          <p:cNvSpPr txBox="1"/>
          <p:nvPr/>
        </p:nvSpPr>
        <p:spPr>
          <a:xfrm>
            <a:off x="7486650" y="6238875"/>
            <a:ext cx="4648200" cy="184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50">
                <a:solidFill>
                  <a:srgbClr val="FFFFFF"/>
                </a:solidFill>
                <a:latin typeface="Segoe UI"/>
              </a:defRPr>
            </a:pPr>
            <a:r>
              <a:rPr b="1">
                <a:solidFill>
                  <a:srgbClr val="18324B"/>
                </a:solidFill>
              </a:rPr>
              <a:t>Data &amp; Security</a:t>
            </a:r>
          </a:p>
        </p:txBody>
      </p:sp>
      <p:grpSp>
        <p:nvGrpSpPr>
          <p:cNvPr id="488" name="Group 218"/>
          <p:cNvGrpSpPr/>
          <p:nvPr/>
        </p:nvGrpSpPr>
        <p:grpSpPr>
          <a:xfrm>
            <a:off x="7429500" y="6486525"/>
            <a:ext cx="4762500" cy="304800"/>
            <a:chOff x="0" y="0"/>
            <a:chExt cx="6350000" cy="406400"/>
          </a:xfrm>
        </p:grpSpPr>
        <p:sp>
          <p:nvSpPr>
            <p:cNvPr id="489" name="Freeform 219"/>
            <p:cNvSpPr/>
            <p:nvPr/>
          </p:nvSpPr>
          <p:spPr>
            <a:xfrm>
              <a:off x="0" y="0"/>
              <a:ext cx="6350000" cy="406400"/>
            </a:xfrm>
            <a:custGeom>
              <a:avLst/>
              <a:gdLst/>
              <a:ahLst/>
              <a:cxnLst/>
              <a:rect l="l" t="t" r="r" b="b"/>
              <a:pathLst>
                <a:path w="6350000" h="406400">
                  <a:moveTo>
                    <a:pt x="0" y="0"/>
                  </a:moveTo>
                  <a:lnTo>
                    <a:pt x="6350000" y="0"/>
                  </a:lnTo>
                  <a:lnTo>
                    <a:pt x="63500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F7FAFC"/>
            </a:solidFill>
            <a:ln w="9525" cap="sq">
              <a:solidFill>
                <a:srgbClr val="D6E0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90" name="TextBox 220"/>
            <p:cNvSpPr txBox="1"/>
            <p:nvPr/>
          </p:nvSpPr>
          <p:spPr>
            <a:xfrm>
              <a:off x="0" y="-38100"/>
              <a:ext cx="63500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91" name="TextBox 221"/>
          <p:cNvSpPr txBox="1"/>
          <p:nvPr/>
        </p:nvSpPr>
        <p:spPr>
          <a:xfrm>
            <a:off x="7486650" y="6524625"/>
            <a:ext cx="1600200" cy="146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50">
                <a:solidFill>
                  <a:srgbClr val="FFFFFF"/>
                </a:solidFill>
                <a:latin typeface="Segoe UI"/>
              </a:defRPr>
            </a:pPr>
            <a:r>
              <a:rPr b="1">
                <a:solidFill>
                  <a:srgbClr val="182B3A"/>
                </a:solidFill>
              </a:rPr>
              <a:t>PostgreSQL + pgvector</a:t>
            </a:r>
          </a:p>
        </p:txBody>
      </p:sp>
      <p:sp>
        <p:nvSpPr>
          <p:cNvPr id="492" name="TextBox 222"/>
          <p:cNvSpPr txBox="1"/>
          <p:nvPr/>
        </p:nvSpPr>
        <p:spPr>
          <a:xfrm>
            <a:off x="9201150" y="6524625"/>
            <a:ext cx="2933700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00">
                <a:solidFill>
                  <a:srgbClr val="E0F2FE"/>
                </a:solidFill>
                <a:latin typeface="Segoe UI"/>
              </a:defRPr>
            </a:pPr>
            <a:r>
              <a:rPr>
                <a:solidFill>
                  <a:srgbClr val="182B3A"/>
                </a:solidFill>
              </a:rPr>
              <a:t>Unified relational storage &amp; high-performance vector similarity search</a:t>
            </a:r>
          </a:p>
        </p:txBody>
      </p:sp>
      <p:grpSp>
        <p:nvGrpSpPr>
          <p:cNvPr id="493" name="Group 223"/>
          <p:cNvGrpSpPr/>
          <p:nvPr/>
        </p:nvGrpSpPr>
        <p:grpSpPr>
          <a:xfrm>
            <a:off x="7429500" y="6791325"/>
            <a:ext cx="4762500" cy="381000"/>
            <a:chOff x="0" y="0"/>
            <a:chExt cx="6350000" cy="508000"/>
          </a:xfrm>
        </p:grpSpPr>
        <p:sp>
          <p:nvSpPr>
            <p:cNvPr id="494" name="Freeform 224"/>
            <p:cNvSpPr/>
            <p:nvPr/>
          </p:nvSpPr>
          <p:spPr>
            <a:xfrm>
              <a:off x="0" y="0"/>
              <a:ext cx="6350000" cy="508000"/>
            </a:xfrm>
            <a:custGeom>
              <a:avLst/>
              <a:gdLst/>
              <a:ahLst/>
              <a:cxnLst/>
              <a:rect l="l" t="t" r="r" b="b"/>
              <a:pathLst>
                <a:path w="6350000" h="508000">
                  <a:moveTo>
                    <a:pt x="0" y="0"/>
                  </a:moveTo>
                  <a:lnTo>
                    <a:pt x="6350000" y="0"/>
                  </a:lnTo>
                  <a:lnTo>
                    <a:pt x="63500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6E0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95" name="TextBox 225"/>
            <p:cNvSpPr txBox="1"/>
            <p:nvPr/>
          </p:nvSpPr>
          <p:spPr>
            <a:xfrm>
              <a:off x="0" y="-38100"/>
              <a:ext cx="6350000" cy="54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96" name="TextBox 226"/>
          <p:cNvSpPr txBox="1"/>
          <p:nvPr/>
        </p:nvSpPr>
        <p:spPr>
          <a:xfrm>
            <a:off x="7486650" y="6829425"/>
            <a:ext cx="1600200" cy="146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50">
                <a:solidFill>
                  <a:srgbClr val="FFFFFF"/>
                </a:solidFill>
                <a:latin typeface="Segoe UI"/>
              </a:defRPr>
            </a:pPr>
            <a:r>
              <a:rPr b="1">
                <a:solidFill>
                  <a:srgbClr val="182B3A"/>
                </a:solidFill>
              </a:rPr>
              <a:t>JWT + PBKDF2 / Bcrypt</a:t>
            </a:r>
          </a:p>
        </p:txBody>
      </p:sp>
      <p:sp>
        <p:nvSpPr>
          <p:cNvPr id="497" name="TextBox 227"/>
          <p:cNvSpPr txBox="1"/>
          <p:nvPr/>
        </p:nvSpPr>
        <p:spPr>
          <a:xfrm>
            <a:off x="9201150" y="6829425"/>
            <a:ext cx="2933700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00">
                <a:solidFill>
                  <a:srgbClr val="E0F2FE"/>
                </a:solidFill>
                <a:latin typeface="Segoe UI"/>
              </a:defRPr>
            </a:pPr>
            <a:r>
              <a:rPr>
                <a:solidFill>
                  <a:srgbClr val="182B3A"/>
                </a:solidFill>
              </a:rPr>
              <a:t>Secure authentication with granular RBAC: Public, Researcher, Editor, Admin</a:t>
            </a:r>
          </a:p>
        </p:txBody>
      </p:sp>
      <p:grpSp>
        <p:nvGrpSpPr>
          <p:cNvPr id="498" name="Group 228"/>
          <p:cNvGrpSpPr/>
          <p:nvPr/>
        </p:nvGrpSpPr>
        <p:grpSpPr>
          <a:xfrm>
            <a:off x="7429500" y="7172325"/>
            <a:ext cx="4762500" cy="381000"/>
            <a:chOff x="0" y="0"/>
            <a:chExt cx="6350000" cy="508000"/>
          </a:xfrm>
        </p:grpSpPr>
        <p:sp>
          <p:nvSpPr>
            <p:cNvPr id="499" name="Freeform 229"/>
            <p:cNvSpPr/>
            <p:nvPr/>
          </p:nvSpPr>
          <p:spPr>
            <a:xfrm>
              <a:off x="0" y="0"/>
              <a:ext cx="6350000" cy="508000"/>
            </a:xfrm>
            <a:custGeom>
              <a:avLst/>
              <a:gdLst/>
              <a:ahLst/>
              <a:cxnLst/>
              <a:rect l="l" t="t" r="r" b="b"/>
              <a:pathLst>
                <a:path w="6350000" h="508000">
                  <a:moveTo>
                    <a:pt x="0" y="0"/>
                  </a:moveTo>
                  <a:lnTo>
                    <a:pt x="6350000" y="0"/>
                  </a:lnTo>
                  <a:lnTo>
                    <a:pt x="63500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F7FAFC"/>
            </a:solidFill>
            <a:ln w="9525" cap="sq">
              <a:solidFill>
                <a:srgbClr val="D6E0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00" name="TextBox 230"/>
            <p:cNvSpPr txBox="1"/>
            <p:nvPr/>
          </p:nvSpPr>
          <p:spPr>
            <a:xfrm>
              <a:off x="0" y="-38100"/>
              <a:ext cx="6350000" cy="54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01" name="TextBox 231"/>
          <p:cNvSpPr txBox="1"/>
          <p:nvPr/>
        </p:nvSpPr>
        <p:spPr>
          <a:xfrm>
            <a:off x="7486650" y="7210425"/>
            <a:ext cx="1600200" cy="146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50">
                <a:solidFill>
                  <a:srgbClr val="FFFFFF"/>
                </a:solidFill>
                <a:latin typeface="Segoe UI"/>
              </a:defRPr>
            </a:pPr>
            <a:r>
              <a:rPr b="1">
                <a:solidFill>
                  <a:srgbClr val="182B3A"/>
                </a:solidFill>
              </a:rPr>
              <a:t>Role-Based Access (RBAC)</a:t>
            </a:r>
          </a:p>
        </p:txBody>
      </p:sp>
      <p:sp>
        <p:nvSpPr>
          <p:cNvPr id="502" name="TextBox 232"/>
          <p:cNvSpPr txBox="1"/>
          <p:nvPr/>
        </p:nvSpPr>
        <p:spPr>
          <a:xfrm>
            <a:off x="9201150" y="7210425"/>
            <a:ext cx="2933700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00">
                <a:solidFill>
                  <a:srgbClr val="E0F2FE"/>
                </a:solidFill>
                <a:latin typeface="Segoe UI"/>
              </a:defRPr>
            </a:pPr>
            <a:r>
              <a:rPr>
                <a:solidFill>
                  <a:srgbClr val="182B3A"/>
                </a:solidFill>
              </a:rPr>
              <a:t>Granular permissions protecting unreleased datasets &amp; editorial workflows</a:t>
            </a:r>
          </a:p>
        </p:txBody>
      </p:sp>
      <p:grpSp>
        <p:nvGrpSpPr>
          <p:cNvPr id="503" name="Group 233"/>
          <p:cNvGrpSpPr/>
          <p:nvPr/>
        </p:nvGrpSpPr>
        <p:grpSpPr>
          <a:xfrm>
            <a:off x="7429500" y="7553325"/>
            <a:ext cx="4762500" cy="304800"/>
            <a:chOff x="0" y="0"/>
            <a:chExt cx="6350000" cy="406400"/>
          </a:xfrm>
        </p:grpSpPr>
        <p:sp>
          <p:nvSpPr>
            <p:cNvPr id="504" name="Freeform 234"/>
            <p:cNvSpPr/>
            <p:nvPr/>
          </p:nvSpPr>
          <p:spPr>
            <a:xfrm>
              <a:off x="0" y="0"/>
              <a:ext cx="6350000" cy="406400"/>
            </a:xfrm>
            <a:custGeom>
              <a:avLst/>
              <a:gdLst/>
              <a:ahLst/>
              <a:cxnLst/>
              <a:rect l="l" t="t" r="r" b="b"/>
              <a:pathLst>
                <a:path w="6350000" h="406400">
                  <a:moveTo>
                    <a:pt x="0" y="0"/>
                  </a:moveTo>
                  <a:lnTo>
                    <a:pt x="6350000" y="0"/>
                  </a:lnTo>
                  <a:lnTo>
                    <a:pt x="63500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6E0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05" name="TextBox 235"/>
            <p:cNvSpPr txBox="1"/>
            <p:nvPr/>
          </p:nvSpPr>
          <p:spPr>
            <a:xfrm>
              <a:off x="0" y="-38100"/>
              <a:ext cx="63500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06" name="TextBox 236"/>
          <p:cNvSpPr txBox="1"/>
          <p:nvPr/>
        </p:nvSpPr>
        <p:spPr>
          <a:xfrm>
            <a:off x="7486650" y="7591425"/>
            <a:ext cx="1600200" cy="146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50">
                <a:solidFill>
                  <a:srgbClr val="FFFFFF"/>
                </a:solidFill>
                <a:latin typeface="Segoe UI"/>
              </a:defRPr>
            </a:pPr>
            <a:r>
              <a:rPr b="1">
                <a:solidFill>
                  <a:srgbClr val="182B3A"/>
                </a:solidFill>
              </a:rPr>
              <a:t>Audit Logging</a:t>
            </a:r>
          </a:p>
        </p:txBody>
      </p:sp>
      <p:sp>
        <p:nvSpPr>
          <p:cNvPr id="507" name="TextBox 237"/>
          <p:cNvSpPr txBox="1"/>
          <p:nvPr/>
        </p:nvSpPr>
        <p:spPr>
          <a:xfrm>
            <a:off x="9201150" y="7591425"/>
            <a:ext cx="2933700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00">
                <a:solidFill>
                  <a:srgbClr val="E0F2FE"/>
                </a:solidFill>
                <a:latin typeface="Segoe UI"/>
              </a:defRPr>
            </a:pPr>
            <a:r>
              <a:rPr>
                <a:solidFill>
                  <a:srgbClr val="182B3A"/>
                </a:solidFill>
              </a:rPr>
              <a:t>Tamper-evident logs of all content edits, approvals &amp; dataset downloads</a:t>
            </a:r>
          </a:p>
        </p:txBody>
      </p:sp>
      <p:grpSp>
        <p:nvGrpSpPr>
          <p:cNvPr id="508" name="Group 238"/>
          <p:cNvGrpSpPr/>
          <p:nvPr/>
        </p:nvGrpSpPr>
        <p:grpSpPr>
          <a:xfrm>
            <a:off x="7429500" y="7858125"/>
            <a:ext cx="4762500" cy="247650"/>
            <a:chOff x="0" y="0"/>
            <a:chExt cx="6350000" cy="330200"/>
          </a:xfrm>
        </p:grpSpPr>
        <p:sp>
          <p:nvSpPr>
            <p:cNvPr id="509" name="Freeform 239"/>
            <p:cNvSpPr/>
            <p:nvPr/>
          </p:nvSpPr>
          <p:spPr>
            <a:xfrm>
              <a:off x="0" y="0"/>
              <a:ext cx="6350000" cy="330200"/>
            </a:xfrm>
            <a:custGeom>
              <a:avLst/>
              <a:gdLst/>
              <a:ahLst/>
              <a:cxnLst/>
              <a:rect l="l" t="t" r="r" b="b"/>
              <a:pathLst>
                <a:path w="6350000" h="330200">
                  <a:moveTo>
                    <a:pt x="0" y="0"/>
                  </a:moveTo>
                  <a:lnTo>
                    <a:pt x="6350000" y="0"/>
                  </a:lnTo>
                  <a:lnTo>
                    <a:pt x="6350000" y="330200"/>
                  </a:lnTo>
                  <a:lnTo>
                    <a:pt x="0" y="330200"/>
                  </a:lnTo>
                  <a:close/>
                </a:path>
              </a:pathLst>
            </a:custGeom>
            <a:solidFill>
              <a:srgbClr val="EDF4FA"/>
            </a:solidFill>
            <a:ln w="9525" cap="sq">
              <a:solidFill>
                <a:srgbClr val="D6E0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10" name="TextBox 240"/>
            <p:cNvSpPr txBox="1"/>
            <p:nvPr/>
          </p:nvSpPr>
          <p:spPr>
            <a:xfrm>
              <a:off x="0" y="-38100"/>
              <a:ext cx="63500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11" name="TextBox 241"/>
          <p:cNvSpPr txBox="1"/>
          <p:nvPr/>
        </p:nvSpPr>
        <p:spPr>
          <a:xfrm>
            <a:off x="7486650" y="7858125"/>
            <a:ext cx="4648200" cy="184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50">
                <a:solidFill>
                  <a:srgbClr val="FFFFFF"/>
                </a:solidFill>
                <a:latin typeface="Segoe UI"/>
              </a:defRPr>
            </a:pPr>
            <a:r>
              <a:rPr b="1">
                <a:solidFill>
                  <a:srgbClr val="18324B"/>
                </a:solidFill>
              </a:rPr>
              <a:t>Storage &amp; Cloud Deployment</a:t>
            </a:r>
          </a:p>
        </p:txBody>
      </p:sp>
      <p:grpSp>
        <p:nvGrpSpPr>
          <p:cNvPr id="512" name="Group 242"/>
          <p:cNvGrpSpPr/>
          <p:nvPr/>
        </p:nvGrpSpPr>
        <p:grpSpPr>
          <a:xfrm>
            <a:off x="7429500" y="8105775"/>
            <a:ext cx="4762500" cy="304800"/>
            <a:chOff x="0" y="0"/>
            <a:chExt cx="6350000" cy="406400"/>
          </a:xfrm>
        </p:grpSpPr>
        <p:sp>
          <p:nvSpPr>
            <p:cNvPr id="513" name="Freeform 243"/>
            <p:cNvSpPr/>
            <p:nvPr/>
          </p:nvSpPr>
          <p:spPr>
            <a:xfrm>
              <a:off x="0" y="0"/>
              <a:ext cx="6350000" cy="406400"/>
            </a:xfrm>
            <a:custGeom>
              <a:avLst/>
              <a:gdLst/>
              <a:ahLst/>
              <a:cxnLst/>
              <a:rect l="l" t="t" r="r" b="b"/>
              <a:pathLst>
                <a:path w="6350000" h="406400">
                  <a:moveTo>
                    <a:pt x="0" y="0"/>
                  </a:moveTo>
                  <a:lnTo>
                    <a:pt x="6350000" y="0"/>
                  </a:lnTo>
                  <a:lnTo>
                    <a:pt x="63500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F7FAFC"/>
            </a:solidFill>
            <a:ln w="9525" cap="sq">
              <a:solidFill>
                <a:srgbClr val="D6E0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14" name="TextBox 244"/>
            <p:cNvSpPr txBox="1"/>
            <p:nvPr/>
          </p:nvSpPr>
          <p:spPr>
            <a:xfrm>
              <a:off x="0" y="-38100"/>
              <a:ext cx="63500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15" name="TextBox 245"/>
          <p:cNvSpPr txBox="1"/>
          <p:nvPr/>
        </p:nvSpPr>
        <p:spPr>
          <a:xfrm>
            <a:off x="7486650" y="8143875"/>
            <a:ext cx="1600200" cy="146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50">
                <a:solidFill>
                  <a:srgbClr val="FFFFFF"/>
                </a:solidFill>
                <a:latin typeface="Segoe UI"/>
              </a:defRPr>
            </a:pPr>
            <a:r>
              <a:rPr b="1">
                <a:solidFill>
                  <a:srgbClr val="182B3A"/>
                </a:solidFill>
              </a:rPr>
              <a:t>MinIO / S3 Storage</a:t>
            </a:r>
          </a:p>
        </p:txBody>
      </p:sp>
      <p:sp>
        <p:nvSpPr>
          <p:cNvPr id="516" name="TextBox 246"/>
          <p:cNvSpPr txBox="1"/>
          <p:nvPr/>
        </p:nvSpPr>
        <p:spPr>
          <a:xfrm>
            <a:off x="9201150" y="8143875"/>
            <a:ext cx="2933700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00">
                <a:solidFill>
                  <a:srgbClr val="E0F2FE"/>
                </a:solidFill>
                <a:latin typeface="Segoe UI"/>
              </a:defRPr>
            </a:pPr>
            <a:r>
              <a:rPr>
                <a:solidFill>
                  <a:srgbClr val="182B3A"/>
                </a:solidFill>
              </a:rPr>
              <a:t>Scalable object store for expedition high-res imagery, video logs &amp; raw datasets</a:t>
            </a:r>
          </a:p>
        </p:txBody>
      </p:sp>
      <p:grpSp>
        <p:nvGrpSpPr>
          <p:cNvPr id="517" name="Group 247"/>
          <p:cNvGrpSpPr/>
          <p:nvPr/>
        </p:nvGrpSpPr>
        <p:grpSpPr>
          <a:xfrm>
            <a:off x="7429500" y="8410575"/>
            <a:ext cx="4762500" cy="381000"/>
            <a:chOff x="0" y="0"/>
            <a:chExt cx="6350000" cy="508000"/>
          </a:xfrm>
        </p:grpSpPr>
        <p:sp>
          <p:nvSpPr>
            <p:cNvPr id="518" name="Freeform 248"/>
            <p:cNvSpPr/>
            <p:nvPr/>
          </p:nvSpPr>
          <p:spPr>
            <a:xfrm>
              <a:off x="0" y="0"/>
              <a:ext cx="6350000" cy="508000"/>
            </a:xfrm>
            <a:custGeom>
              <a:avLst/>
              <a:gdLst/>
              <a:ahLst/>
              <a:cxnLst/>
              <a:rect l="l" t="t" r="r" b="b"/>
              <a:pathLst>
                <a:path w="6350000" h="508000">
                  <a:moveTo>
                    <a:pt x="0" y="0"/>
                  </a:moveTo>
                  <a:lnTo>
                    <a:pt x="6350000" y="0"/>
                  </a:lnTo>
                  <a:lnTo>
                    <a:pt x="63500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6E0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19" name="TextBox 249"/>
            <p:cNvSpPr txBox="1"/>
            <p:nvPr/>
          </p:nvSpPr>
          <p:spPr>
            <a:xfrm>
              <a:off x="0" y="-38100"/>
              <a:ext cx="6350000" cy="54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20" name="TextBox 250"/>
          <p:cNvSpPr txBox="1"/>
          <p:nvPr/>
        </p:nvSpPr>
        <p:spPr>
          <a:xfrm>
            <a:off x="7486650" y="8448675"/>
            <a:ext cx="1600200" cy="146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50">
                <a:solidFill>
                  <a:srgbClr val="FFFFFF"/>
                </a:solidFill>
                <a:latin typeface="Segoe UI"/>
              </a:defRPr>
            </a:pPr>
            <a:r>
              <a:rPr b="1">
                <a:solidFill>
                  <a:srgbClr val="182B3A"/>
                </a:solidFill>
              </a:rPr>
              <a:t>Recharts Analytics</a:t>
            </a:r>
          </a:p>
        </p:txBody>
      </p:sp>
      <p:sp>
        <p:nvSpPr>
          <p:cNvPr id="521" name="TextBox 251"/>
          <p:cNvSpPr txBox="1"/>
          <p:nvPr/>
        </p:nvSpPr>
        <p:spPr>
          <a:xfrm>
            <a:off x="9201150" y="8448675"/>
            <a:ext cx="2933700" cy="286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00">
                <a:solidFill>
                  <a:srgbClr val="E0F2FE"/>
                </a:solidFill>
                <a:latin typeface="Segoe UI"/>
              </a:defRPr>
            </a:pPr>
            <a:r>
              <a:rPr>
                <a:solidFill>
                  <a:srgbClr val="182B3A"/>
                </a:solidFill>
              </a:rPr>
              <a:t>Interactive visualization of polar dataset trends, publications &amp; outreach metrics</a:t>
            </a:r>
          </a:p>
        </p:txBody>
      </p:sp>
      <p:grpSp>
        <p:nvGrpSpPr>
          <p:cNvPr id="522" name="Group 252"/>
          <p:cNvGrpSpPr/>
          <p:nvPr/>
        </p:nvGrpSpPr>
        <p:grpSpPr>
          <a:xfrm>
            <a:off x="7429500" y="8791575"/>
            <a:ext cx="4762500" cy="304800"/>
            <a:chOff x="0" y="0"/>
            <a:chExt cx="6350000" cy="406400"/>
          </a:xfrm>
        </p:grpSpPr>
        <p:sp>
          <p:nvSpPr>
            <p:cNvPr id="523" name="Freeform 253"/>
            <p:cNvSpPr/>
            <p:nvPr/>
          </p:nvSpPr>
          <p:spPr>
            <a:xfrm>
              <a:off x="0" y="0"/>
              <a:ext cx="6350000" cy="406400"/>
            </a:xfrm>
            <a:custGeom>
              <a:avLst/>
              <a:gdLst/>
              <a:ahLst/>
              <a:cxnLst/>
              <a:rect l="l" t="t" r="r" b="b"/>
              <a:pathLst>
                <a:path w="6350000" h="406400">
                  <a:moveTo>
                    <a:pt x="0" y="0"/>
                  </a:moveTo>
                  <a:lnTo>
                    <a:pt x="6350000" y="0"/>
                  </a:lnTo>
                  <a:lnTo>
                    <a:pt x="63500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F7FAFC"/>
            </a:solidFill>
            <a:ln w="9525" cap="sq">
              <a:solidFill>
                <a:srgbClr val="D6E0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24" name="TextBox 254"/>
            <p:cNvSpPr txBox="1"/>
            <p:nvPr/>
          </p:nvSpPr>
          <p:spPr>
            <a:xfrm>
              <a:off x="0" y="-38100"/>
              <a:ext cx="63500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25" name="TextBox 255"/>
          <p:cNvSpPr txBox="1"/>
          <p:nvPr/>
        </p:nvSpPr>
        <p:spPr>
          <a:xfrm>
            <a:off x="7486650" y="8829675"/>
            <a:ext cx="1600200" cy="146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50">
                <a:solidFill>
                  <a:srgbClr val="FFFFFF"/>
                </a:solidFill>
                <a:latin typeface="Segoe UI"/>
              </a:defRPr>
            </a:pPr>
            <a:r>
              <a:rPr b="1">
                <a:solidFill>
                  <a:srgbClr val="182B3A"/>
                </a:solidFill>
              </a:rPr>
              <a:t>Docker &amp; Compose</a:t>
            </a:r>
          </a:p>
        </p:txBody>
      </p:sp>
      <p:sp>
        <p:nvSpPr>
          <p:cNvPr id="526" name="TextBox 256"/>
          <p:cNvSpPr txBox="1"/>
          <p:nvPr/>
        </p:nvSpPr>
        <p:spPr>
          <a:xfrm>
            <a:off x="9201150" y="8829675"/>
            <a:ext cx="2933700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00">
                <a:solidFill>
                  <a:srgbClr val="E0F2FE"/>
                </a:solidFill>
                <a:latin typeface="Segoe UI"/>
              </a:defRPr>
            </a:pPr>
            <a:r>
              <a:rPr>
                <a:solidFill>
                  <a:srgbClr val="182B3A"/>
                </a:solidFill>
              </a:rPr>
              <a:t>Containerized, reproducible one-command deployment across cloud &amp; on-premise</a:t>
            </a:r>
          </a:p>
        </p:txBody>
      </p:sp>
      <p:grpSp>
        <p:nvGrpSpPr>
          <p:cNvPr id="527" name="Group 257"/>
          <p:cNvGrpSpPr/>
          <p:nvPr/>
        </p:nvGrpSpPr>
        <p:grpSpPr>
          <a:xfrm>
            <a:off x="7429500" y="9096375"/>
            <a:ext cx="4762500" cy="304800"/>
            <a:chOff x="0" y="0"/>
            <a:chExt cx="6350000" cy="406400"/>
          </a:xfrm>
        </p:grpSpPr>
        <p:sp>
          <p:nvSpPr>
            <p:cNvPr id="528" name="Freeform 258"/>
            <p:cNvSpPr/>
            <p:nvPr/>
          </p:nvSpPr>
          <p:spPr>
            <a:xfrm>
              <a:off x="0" y="0"/>
              <a:ext cx="6350000" cy="406400"/>
            </a:xfrm>
            <a:custGeom>
              <a:avLst/>
              <a:gdLst/>
              <a:ahLst/>
              <a:cxnLst/>
              <a:rect l="l" t="t" r="r" b="b"/>
              <a:pathLst>
                <a:path w="6350000" h="406400">
                  <a:moveTo>
                    <a:pt x="0" y="0"/>
                  </a:moveTo>
                  <a:lnTo>
                    <a:pt x="6350000" y="0"/>
                  </a:lnTo>
                  <a:lnTo>
                    <a:pt x="63500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6E0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29" name="TextBox 259"/>
            <p:cNvSpPr txBox="1"/>
            <p:nvPr/>
          </p:nvSpPr>
          <p:spPr>
            <a:xfrm>
              <a:off x="0" y="-38100"/>
              <a:ext cx="63500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30" name="TextBox 260"/>
          <p:cNvSpPr txBox="1"/>
          <p:nvPr/>
        </p:nvSpPr>
        <p:spPr>
          <a:xfrm>
            <a:off x="7486650" y="9134475"/>
            <a:ext cx="1600200" cy="146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50">
                <a:solidFill>
                  <a:srgbClr val="FFFFFF"/>
                </a:solidFill>
                <a:latin typeface="Segoe UI"/>
              </a:defRPr>
            </a:pPr>
            <a:r>
              <a:rPr b="1">
                <a:solidFill>
                  <a:srgbClr val="182B3A"/>
                </a:solidFill>
              </a:rPr>
              <a:t>Git CI/CD</a:t>
            </a:r>
          </a:p>
        </p:txBody>
      </p:sp>
      <p:sp>
        <p:nvSpPr>
          <p:cNvPr id="531" name="TextBox 261"/>
          <p:cNvSpPr txBox="1"/>
          <p:nvPr/>
        </p:nvSpPr>
        <p:spPr>
          <a:xfrm>
            <a:off x="9201150" y="9134475"/>
            <a:ext cx="2933700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900">
                <a:solidFill>
                  <a:srgbClr val="E0F2FE"/>
                </a:solidFill>
                <a:latin typeface="Segoe UI"/>
              </a:defRPr>
            </a:pPr>
            <a:r>
              <a:rPr>
                <a:solidFill>
                  <a:srgbClr val="182B3A"/>
                </a:solidFill>
              </a:rPr>
              <a:t>Automated testing, version control, and multi-stage container builds</a:t>
            </a:r>
          </a:p>
        </p:txBody>
      </p:sp>
      <p:sp>
        <p:nvSpPr>
          <p:cNvPr id="532" name="AutoShape 262"/>
          <p:cNvSpPr/>
          <p:nvPr/>
        </p:nvSpPr>
        <p:spPr>
          <a:xfrm>
            <a:off x="9144000" y="962025"/>
            <a:ext cx="0" cy="8439150"/>
          </a:xfrm>
          <a:prstGeom prst="line">
            <a:avLst/>
          </a:prstGeom>
          <a:ln w="9525" cap="flat">
            <a:solidFill>
              <a:srgbClr val="D6E0E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539" name="TextBox 269"/>
          <p:cNvSpPr txBox="1"/>
          <p:nvPr/>
        </p:nvSpPr>
        <p:spPr>
          <a:xfrm>
            <a:off x="12252960" y="5166360"/>
            <a:ext cx="5897880" cy="2560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defRPr sz="900" b="1">
                <a:solidFill>
                  <a:srgbClr val="0B192C"/>
                </a:solidFill>
                <a:latin typeface="Arial"/>
              </a:defRPr>
            </a:pPr>
            <a:r>
              <a:rPr sz="1050" b="1">
                <a:solidFill>
                  <a:srgbClr val="0A192F"/>
                </a:solidFill>
                <a:latin typeface="Arial"/>
              </a:rPr>
              <a:t>Fig 1: POLARIS Interactive Station GIS &amp; Live Telemetry Explorer [REAL PROJECT OUTPUT]</a:t>
            </a:r>
          </a:p>
        </p:txBody>
      </p:sp>
      <p:sp>
        <p:nvSpPr>
          <p:cNvPr id="541" name="TextBox 271"/>
          <p:cNvSpPr txBox="1"/>
          <p:nvPr/>
        </p:nvSpPr>
        <p:spPr>
          <a:xfrm>
            <a:off x="12252960" y="9464040"/>
            <a:ext cx="5897880" cy="2560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defRPr sz="900" b="1">
                <a:solidFill>
                  <a:srgbClr val="0B192C"/>
                </a:solidFill>
                <a:latin typeface="Arial"/>
              </a:defRPr>
            </a:pPr>
            <a:r>
              <a:rPr sz="1050" b="1">
                <a:solidFill>
                  <a:srgbClr val="0A192F"/>
                </a:solidFill>
                <a:latin typeface="Arial"/>
              </a:rPr>
              <a:t>Fig 2: POLARIS Evidence-Grounded RAG Assistant &amp; Citation Engine [REAL PROJECT OUTPUT]</a:t>
            </a:r>
          </a:p>
        </p:txBody>
      </p:sp>
      <p:sp>
        <p:nvSpPr>
          <p:cNvPr id="3" name="Freeform 14" descr="Your startup LOGO">
            <a:extLst>
              <a:ext uri="{FF2B5EF4-FFF2-40B4-BE49-F238E27FC236}">
                <a16:creationId xmlns:a16="http://schemas.microsoft.com/office/drawing/2014/main" id="{B8FA48A1-86CB-1FC8-B9F9-020D17B9EA5D}"/>
              </a:ext>
            </a:extLst>
          </p:cNvPr>
          <p:cNvSpPr/>
          <p:nvPr/>
        </p:nvSpPr>
        <p:spPr>
          <a:xfrm>
            <a:off x="106594" y="22117"/>
            <a:ext cx="2010619" cy="685111"/>
          </a:xfrm>
          <a:custGeom>
            <a:avLst/>
            <a:gdLst/>
            <a:ahLst/>
            <a:cxnLst/>
            <a:rect l="l" t="t" r="r" b="b"/>
            <a:pathLst>
              <a:path w="2303431" h="1004506">
                <a:moveTo>
                  <a:pt x="0" y="0"/>
                </a:moveTo>
                <a:lnTo>
                  <a:pt x="2303431" y="0"/>
                </a:lnTo>
                <a:lnTo>
                  <a:pt x="2303431" y="1004507"/>
                </a:lnTo>
                <a:lnTo>
                  <a:pt x="0" y="10045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15">
            <a:extLst>
              <a:ext uri="{FF2B5EF4-FFF2-40B4-BE49-F238E27FC236}">
                <a16:creationId xmlns:a16="http://schemas.microsoft.com/office/drawing/2014/main" id="{5A348220-17DC-8133-4AC8-21270077DE89}"/>
              </a:ext>
            </a:extLst>
          </p:cNvPr>
          <p:cNvGrpSpPr/>
          <p:nvPr/>
        </p:nvGrpSpPr>
        <p:grpSpPr>
          <a:xfrm>
            <a:off x="147957" y="-5125"/>
            <a:ext cx="1985643" cy="694817"/>
            <a:chOff x="0" y="0"/>
            <a:chExt cx="3033090" cy="1358316"/>
          </a:xfrm>
        </p:grpSpPr>
        <p:sp>
          <p:nvSpPr>
            <p:cNvPr id="5" name="Freeform 16">
              <a:extLst>
                <a:ext uri="{FF2B5EF4-FFF2-40B4-BE49-F238E27FC236}">
                  <a16:creationId xmlns:a16="http://schemas.microsoft.com/office/drawing/2014/main" id="{25DEC676-0EA0-B914-76DA-5D14949C4FE4}"/>
                </a:ext>
              </a:extLst>
            </p:cNvPr>
            <p:cNvSpPr/>
            <p:nvPr/>
          </p:nvSpPr>
          <p:spPr>
            <a:xfrm>
              <a:off x="0" y="0"/>
              <a:ext cx="3033091" cy="1358315"/>
            </a:xfrm>
            <a:custGeom>
              <a:avLst/>
              <a:gdLst/>
              <a:ahLst/>
              <a:cxnLst/>
              <a:rect l="l" t="t" r="r" b="b"/>
              <a:pathLst>
                <a:path w="3033091" h="1358315">
                  <a:moveTo>
                    <a:pt x="0" y="0"/>
                  </a:moveTo>
                  <a:lnTo>
                    <a:pt x="3033091" y="0"/>
                  </a:lnTo>
                  <a:lnTo>
                    <a:pt x="3033091" y="1358315"/>
                  </a:lnTo>
                  <a:lnTo>
                    <a:pt x="0" y="13583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458" r="-7458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6" name="TextBox 17">
              <a:extLst>
                <a:ext uri="{FF2B5EF4-FFF2-40B4-BE49-F238E27FC236}">
                  <a16:creationId xmlns:a16="http://schemas.microsoft.com/office/drawing/2014/main" id="{D3BE97EB-B601-9430-33BB-67693570CC77}"/>
                </a:ext>
              </a:extLst>
            </p:cNvPr>
            <p:cNvSpPr txBox="1"/>
            <p:nvPr/>
          </p:nvSpPr>
          <p:spPr>
            <a:xfrm>
              <a:off x="0" y="-57150"/>
              <a:ext cx="3033090" cy="14154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defRPr sz="1300" b="1">
                  <a:solidFill>
                    <a:srgbClr val="0B192C"/>
                  </a:solidFill>
                  <a:latin typeface="Arial"/>
                </a:defRPr>
              </a:pPr>
              <a:r>
                <a:rPr lang="en-US" dirty="0"/>
                <a:t>NIRVANA</a:t>
              </a:r>
            </a:p>
          </p:txBody>
        </p:sp>
      </p:grpSp>
      <p:sp>
        <p:nvSpPr>
          <p:cNvPr id="551" name="TextBox 550"/>
          <p:cNvSpPr txBox="1"/>
          <p:nvPr/>
        </p:nvSpPr>
        <p:spPr>
          <a:xfrm>
            <a:off x="384048" y="960120"/>
            <a:ext cx="678484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19324A"/>
                </a:solidFill>
                <a:latin typeface="Arial"/>
              </a:defRPr>
            </a:pPr>
            <a:r>
              <a:t>SYSTEM ARCHITECTURE &amp; INFORMATION FLOW</a:t>
            </a:r>
          </a:p>
        </p:txBody>
      </p:sp>
      <p:sp>
        <p:nvSpPr>
          <p:cNvPr id="552" name="Rectangle 551"/>
          <p:cNvSpPr/>
          <p:nvPr/>
        </p:nvSpPr>
        <p:spPr>
          <a:xfrm>
            <a:off x="384048" y="1170432"/>
            <a:ext cx="6784848" cy="13716"/>
          </a:xfrm>
          <a:prstGeom prst="rect">
            <a:avLst/>
          </a:prstGeom>
          <a:solidFill>
            <a:srgbClr val="48B9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3" name="TextBox 552"/>
          <p:cNvSpPr txBox="1"/>
          <p:nvPr/>
        </p:nvSpPr>
        <p:spPr>
          <a:xfrm>
            <a:off x="384048" y="1216152"/>
            <a:ext cx="67848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19324A"/>
                </a:solidFill>
                <a:latin typeface="Arial"/>
              </a:defRPr>
            </a:pPr>
            <a:r>
              <a:t>1. POLAR DATA SOURCES  (Three-Region Scientific Archives &amp; In-Situ Feeds)</a:t>
            </a:r>
          </a:p>
        </p:txBody>
      </p:sp>
      <p:sp>
        <p:nvSpPr>
          <p:cNvPr id="554" name="Rectangle 553"/>
          <p:cNvSpPr/>
          <p:nvPr/>
        </p:nvSpPr>
        <p:spPr>
          <a:xfrm>
            <a:off x="384048" y="1417320"/>
            <a:ext cx="16002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19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bIns="18288" rtlCol="0" anchor="ctr"/>
          <a:lstStyle/>
          <a:p>
            <a:pPr algn="ctr">
              <a:defRPr sz="880" b="1">
                <a:solidFill>
                  <a:srgbClr val="19324A"/>
                </a:solidFill>
                <a:latin typeface="Arial"/>
              </a:defRPr>
            </a:pPr>
            <a:r>
              <a:t>ANTARCTICA</a:t>
            </a:r>
          </a:p>
          <a:p>
            <a:pPr algn="ctr">
              <a:defRPr sz="780" b="1">
                <a:solidFill>
                  <a:srgbClr val="19324A"/>
                </a:solidFill>
                <a:latin typeface="Arial"/>
              </a:defRPr>
            </a:pPr>
            <a:r>
              <a:t>Maitri • Bharati Stations</a:t>
            </a:r>
          </a:p>
          <a:p>
            <a:pPr algn="ctr">
              <a:defRPr sz="700">
                <a:solidFill>
                  <a:srgbClr val="5A738E"/>
                </a:solidFill>
                <a:latin typeface="Arial"/>
              </a:defRPr>
            </a:pPr>
            <a:r>
              <a:t>Logbooks, ice cores, rasters</a:t>
            </a:r>
          </a:p>
        </p:txBody>
      </p:sp>
      <p:sp>
        <p:nvSpPr>
          <p:cNvPr id="555" name="Rectangle 554"/>
          <p:cNvSpPr/>
          <p:nvPr/>
        </p:nvSpPr>
        <p:spPr>
          <a:xfrm>
            <a:off x="384048" y="1417320"/>
            <a:ext cx="1600200" cy="27432"/>
          </a:xfrm>
          <a:prstGeom prst="rect">
            <a:avLst/>
          </a:prstGeom>
          <a:solidFill>
            <a:srgbClr val="48B9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6" name="Rectangle 555"/>
          <p:cNvSpPr/>
          <p:nvPr/>
        </p:nvSpPr>
        <p:spPr>
          <a:xfrm>
            <a:off x="2112264" y="1417320"/>
            <a:ext cx="16002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19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bIns="18288" rtlCol="0" anchor="ctr"/>
          <a:lstStyle/>
          <a:p>
            <a:pPr algn="ctr">
              <a:defRPr sz="880" b="1">
                <a:solidFill>
                  <a:srgbClr val="19324A"/>
                </a:solidFill>
                <a:latin typeface="Arial"/>
              </a:defRPr>
            </a:pPr>
            <a:r>
              <a:t>ARCTIC</a:t>
            </a:r>
          </a:p>
          <a:p>
            <a:pPr algn="ctr">
              <a:defRPr sz="780" b="1">
                <a:solidFill>
                  <a:srgbClr val="19324A"/>
                </a:solidFill>
                <a:latin typeface="Arial"/>
              </a:defRPr>
            </a:pPr>
            <a:r>
              <a:t>Himadri Station • IndARC*</a:t>
            </a:r>
          </a:p>
          <a:p>
            <a:pPr algn="ctr">
              <a:defRPr sz="700">
                <a:solidFill>
                  <a:srgbClr val="5A738E"/>
                </a:solidFill>
                <a:latin typeface="Arial"/>
              </a:defRPr>
            </a:pPr>
            <a:r>
              <a:t>Marine mooring &amp; ocean logs</a:t>
            </a:r>
          </a:p>
        </p:txBody>
      </p:sp>
      <p:sp>
        <p:nvSpPr>
          <p:cNvPr id="557" name="Rectangle 556"/>
          <p:cNvSpPr/>
          <p:nvPr/>
        </p:nvSpPr>
        <p:spPr>
          <a:xfrm>
            <a:off x="2112264" y="1417320"/>
            <a:ext cx="1600200" cy="27432"/>
          </a:xfrm>
          <a:prstGeom prst="rect">
            <a:avLst/>
          </a:prstGeom>
          <a:solidFill>
            <a:srgbClr val="48B9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8" name="Rectangle 557"/>
          <p:cNvSpPr/>
          <p:nvPr/>
        </p:nvSpPr>
        <p:spPr>
          <a:xfrm>
            <a:off x="3840480" y="1417320"/>
            <a:ext cx="16002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19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bIns="18288" rtlCol="0" anchor="ctr"/>
          <a:lstStyle/>
          <a:p>
            <a:pPr algn="ctr">
              <a:defRPr sz="880" b="1">
                <a:solidFill>
                  <a:srgbClr val="19324A"/>
                </a:solidFill>
                <a:latin typeface="Arial"/>
              </a:defRPr>
            </a:pPr>
            <a:r>
              <a:t>HIMALAYAN CRYOSPHERE</a:t>
            </a:r>
          </a:p>
          <a:p>
            <a:pPr algn="ctr">
              <a:defRPr sz="780" b="1">
                <a:solidFill>
                  <a:srgbClr val="19324A"/>
                </a:solidFill>
                <a:latin typeface="Arial"/>
              </a:defRPr>
            </a:pPr>
            <a:r>
              <a:t>Himansh Station</a:t>
            </a:r>
          </a:p>
          <a:p>
            <a:pPr algn="ctr">
              <a:defRPr sz="700">
                <a:solidFill>
                  <a:srgbClr val="5A738E"/>
                </a:solidFill>
                <a:latin typeface="Arial"/>
              </a:defRPr>
            </a:pPr>
            <a:r>
              <a:t>Glacier melt &amp; mass balance</a:t>
            </a:r>
          </a:p>
        </p:txBody>
      </p:sp>
      <p:sp>
        <p:nvSpPr>
          <p:cNvPr id="559" name="Rectangle 558"/>
          <p:cNvSpPr/>
          <p:nvPr/>
        </p:nvSpPr>
        <p:spPr>
          <a:xfrm>
            <a:off x="3840480" y="1417320"/>
            <a:ext cx="1600200" cy="27432"/>
          </a:xfrm>
          <a:prstGeom prst="rect">
            <a:avLst/>
          </a:prstGeom>
          <a:solidFill>
            <a:srgbClr val="48B9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0" name="Rectangle 559"/>
          <p:cNvSpPr/>
          <p:nvPr/>
        </p:nvSpPr>
        <p:spPr>
          <a:xfrm>
            <a:off x="5568696" y="1417320"/>
            <a:ext cx="16002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19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bIns="18288" rtlCol="0" anchor="ctr"/>
          <a:lstStyle/>
          <a:p>
            <a:pPr algn="ctr">
              <a:defRPr sz="880" b="1">
                <a:solidFill>
                  <a:srgbClr val="19324A"/>
                </a:solidFill>
                <a:latin typeface="Arial"/>
              </a:defRPr>
            </a:pPr>
            <a:r>
              <a:t>SCIENTIFIC &amp; MEDIA</a:t>
            </a:r>
          </a:p>
          <a:p>
            <a:pPr algn="ctr">
              <a:defRPr sz="780" b="1">
                <a:solidFill>
                  <a:srgbClr val="19324A"/>
                </a:solidFill>
                <a:latin typeface="Arial"/>
              </a:defRPr>
            </a:pPr>
            <a:r>
              <a:t>Reports, Datasets &amp; Media</a:t>
            </a:r>
          </a:p>
          <a:p>
            <a:pPr algn="ctr">
              <a:defRPr sz="700">
                <a:solidFill>
                  <a:srgbClr val="5A738E"/>
                </a:solidFill>
                <a:latin typeface="Arial"/>
              </a:defRPr>
            </a:pPr>
            <a:r>
              <a:t>4K videos, photos, activities</a:t>
            </a:r>
          </a:p>
        </p:txBody>
      </p:sp>
      <p:sp>
        <p:nvSpPr>
          <p:cNvPr id="561" name="Rectangle 560"/>
          <p:cNvSpPr/>
          <p:nvPr/>
        </p:nvSpPr>
        <p:spPr>
          <a:xfrm>
            <a:off x="5568696" y="1417320"/>
            <a:ext cx="1600200" cy="27432"/>
          </a:xfrm>
          <a:prstGeom prst="rect">
            <a:avLst/>
          </a:prstGeom>
          <a:solidFill>
            <a:srgbClr val="48B9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2" name="Down Arrow 561"/>
          <p:cNvSpPr/>
          <p:nvPr/>
        </p:nvSpPr>
        <p:spPr>
          <a:xfrm>
            <a:off x="3712464" y="2075688"/>
            <a:ext cx="128016" cy="118872"/>
          </a:xfrm>
          <a:prstGeom prst="downArrow">
            <a:avLst/>
          </a:prstGeom>
          <a:solidFill>
            <a:srgbClr val="19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3" name="TextBox 562"/>
          <p:cNvSpPr txBox="1"/>
          <p:nvPr/>
        </p:nvSpPr>
        <p:spPr>
          <a:xfrm>
            <a:off x="384048" y="2231136"/>
            <a:ext cx="67848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19324A"/>
                </a:solidFill>
                <a:latin typeface="Arial"/>
              </a:defRPr>
            </a:pPr>
            <a:r>
              <a:t>2. RESEARCHER &amp; ADMIN INGESTION PIPELINE  (Authorized Ingestion &amp; Validation)</a:t>
            </a:r>
          </a:p>
        </p:txBody>
      </p:sp>
      <p:sp>
        <p:nvSpPr>
          <p:cNvPr id="564" name="Rectangle 563"/>
          <p:cNvSpPr/>
          <p:nvPr/>
        </p:nvSpPr>
        <p:spPr>
          <a:xfrm>
            <a:off x="384048" y="2441448"/>
            <a:ext cx="11887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19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defRPr sz="780" b="1">
                <a:solidFill>
                  <a:srgbClr val="19324A"/>
                </a:solidFill>
                <a:latin typeface="Arial"/>
              </a:defRPr>
            </a:pPr>
            <a:r>
              <a:t>MULTI-FORMAT UPLOAD</a:t>
            </a:r>
          </a:p>
          <a:p>
            <a:pPr algn="ctr">
              <a:defRPr sz="700">
                <a:solidFill>
                  <a:srgbClr val="5A738E"/>
                </a:solidFill>
                <a:latin typeface="Arial"/>
              </a:defRPr>
            </a:pPr>
            <a:r>
              <a:t>PDF, NetCDF, CSV, 4K</a:t>
            </a:r>
          </a:p>
        </p:txBody>
      </p:sp>
      <p:sp>
        <p:nvSpPr>
          <p:cNvPr id="565" name="Right Arrow 564"/>
          <p:cNvSpPr/>
          <p:nvPr/>
        </p:nvSpPr>
        <p:spPr>
          <a:xfrm>
            <a:off x="1609344" y="2670048"/>
            <a:ext cx="128016" cy="118872"/>
          </a:xfrm>
          <a:prstGeom prst="rightArrow">
            <a:avLst/>
          </a:prstGeom>
          <a:solidFill>
            <a:srgbClr val="19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6" name="Rectangle 565"/>
          <p:cNvSpPr/>
          <p:nvPr/>
        </p:nvSpPr>
        <p:spPr>
          <a:xfrm>
            <a:off x="1783080" y="2441448"/>
            <a:ext cx="11887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19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defRPr sz="780" b="1">
                <a:solidFill>
                  <a:srgbClr val="19324A"/>
                </a:solidFill>
                <a:latin typeface="Arial"/>
              </a:defRPr>
            </a:pPr>
            <a:r>
              <a:t>TEXT EXTRACTION</a:t>
            </a:r>
          </a:p>
          <a:p>
            <a:pPr algn="ctr">
              <a:defRPr sz="700">
                <a:solidFill>
                  <a:srgbClr val="5A738E"/>
                </a:solidFill>
                <a:latin typeface="Arial"/>
              </a:defRPr>
            </a:pPr>
            <a:r>
              <a:t>PyMuPDF Parser</a:t>
            </a:r>
          </a:p>
        </p:txBody>
      </p:sp>
      <p:sp>
        <p:nvSpPr>
          <p:cNvPr id="567" name="Right Arrow 566"/>
          <p:cNvSpPr/>
          <p:nvPr/>
        </p:nvSpPr>
        <p:spPr>
          <a:xfrm>
            <a:off x="3008376" y="2670048"/>
            <a:ext cx="128016" cy="118872"/>
          </a:xfrm>
          <a:prstGeom prst="rightArrow">
            <a:avLst/>
          </a:prstGeom>
          <a:solidFill>
            <a:srgbClr val="19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8" name="Rectangle 567"/>
          <p:cNvSpPr/>
          <p:nvPr/>
        </p:nvSpPr>
        <p:spPr>
          <a:xfrm>
            <a:off x="3182112" y="2441448"/>
            <a:ext cx="11887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19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defRPr sz="780" b="1">
                <a:solidFill>
                  <a:srgbClr val="19324A"/>
                </a:solidFill>
                <a:latin typeface="Arial"/>
              </a:defRPr>
            </a:pPr>
            <a:r>
              <a:t>OCR PIPELINE</a:t>
            </a:r>
          </a:p>
          <a:p>
            <a:pPr algn="ctr">
              <a:defRPr sz="700">
                <a:solidFill>
                  <a:srgbClr val="5A738E"/>
                </a:solidFill>
                <a:latin typeface="Arial"/>
              </a:defRPr>
            </a:pPr>
            <a:r>
              <a:t>Tesseract Scanned Logs</a:t>
            </a:r>
          </a:p>
        </p:txBody>
      </p:sp>
      <p:sp>
        <p:nvSpPr>
          <p:cNvPr id="569" name="Right Arrow 568"/>
          <p:cNvSpPr/>
          <p:nvPr/>
        </p:nvSpPr>
        <p:spPr>
          <a:xfrm>
            <a:off x="4407408" y="2670048"/>
            <a:ext cx="128016" cy="118872"/>
          </a:xfrm>
          <a:prstGeom prst="rightArrow">
            <a:avLst/>
          </a:prstGeom>
          <a:solidFill>
            <a:srgbClr val="19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0" name="Rectangle 569"/>
          <p:cNvSpPr/>
          <p:nvPr/>
        </p:nvSpPr>
        <p:spPr>
          <a:xfrm>
            <a:off x="4581144" y="2441448"/>
            <a:ext cx="11887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19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defRPr sz="780" b="1">
                <a:solidFill>
                  <a:srgbClr val="19324A"/>
                </a:solidFill>
                <a:latin typeface="Arial"/>
              </a:defRPr>
            </a:pPr>
            <a:r>
              <a:t>METADATA EXTRACT</a:t>
            </a:r>
          </a:p>
          <a:p>
            <a:pPr algn="ctr">
              <a:defRPr sz="700">
                <a:solidFill>
                  <a:srgbClr val="5A738E"/>
                </a:solidFill>
                <a:latin typeface="Arial"/>
              </a:defRPr>
            </a:pPr>
            <a:r>
              <a:t>Dublin Core Terms</a:t>
            </a:r>
          </a:p>
        </p:txBody>
      </p:sp>
      <p:sp>
        <p:nvSpPr>
          <p:cNvPr id="571" name="Right Arrow 570"/>
          <p:cNvSpPr/>
          <p:nvPr/>
        </p:nvSpPr>
        <p:spPr>
          <a:xfrm>
            <a:off x="5806440" y="2670048"/>
            <a:ext cx="128016" cy="118872"/>
          </a:xfrm>
          <a:prstGeom prst="rightArrow">
            <a:avLst/>
          </a:prstGeom>
          <a:solidFill>
            <a:srgbClr val="19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2" name="Rectangle 571"/>
          <p:cNvSpPr/>
          <p:nvPr/>
        </p:nvSpPr>
        <p:spPr>
          <a:xfrm>
            <a:off x="5980176" y="2441448"/>
            <a:ext cx="11887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19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defRPr sz="780" b="1">
                <a:solidFill>
                  <a:srgbClr val="19324A"/>
                </a:solidFill>
                <a:latin typeface="Arial"/>
              </a:defRPr>
            </a:pPr>
            <a:r>
              <a:t>SCHEMA VALIDATION</a:t>
            </a:r>
          </a:p>
          <a:p>
            <a:pPr algn="ctr">
              <a:defRPr sz="700">
                <a:solidFill>
                  <a:srgbClr val="5A738E"/>
                </a:solidFill>
                <a:latin typeface="Arial"/>
              </a:defRPr>
            </a:pPr>
            <a:r>
              <a:t>Pydantic v2 • DataCite</a:t>
            </a:r>
          </a:p>
        </p:txBody>
      </p:sp>
      <p:sp>
        <p:nvSpPr>
          <p:cNvPr id="573" name="Down Arrow 572"/>
          <p:cNvSpPr/>
          <p:nvPr/>
        </p:nvSpPr>
        <p:spPr>
          <a:xfrm>
            <a:off x="3712464" y="3063240"/>
            <a:ext cx="128016" cy="128016"/>
          </a:xfrm>
          <a:prstGeom prst="downArrow">
            <a:avLst/>
          </a:prstGeom>
          <a:solidFill>
            <a:srgbClr val="19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4" name="Rounded Rectangle 573"/>
          <p:cNvSpPr/>
          <p:nvPr/>
        </p:nvSpPr>
        <p:spPr>
          <a:xfrm>
            <a:off x="384048" y="3218688"/>
            <a:ext cx="6784848" cy="1389888"/>
          </a:xfrm>
          <a:prstGeom prst="roundRect">
            <a:avLst/>
          </a:prstGeom>
          <a:solidFill>
            <a:srgbClr val="F3F9FC"/>
          </a:solidFill>
          <a:ln w="12700">
            <a:solidFill>
              <a:srgbClr val="19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5" name="Rectangle 574"/>
          <p:cNvSpPr/>
          <p:nvPr/>
        </p:nvSpPr>
        <p:spPr>
          <a:xfrm>
            <a:off x="384048" y="3218688"/>
            <a:ext cx="6784848" cy="347472"/>
          </a:xfrm>
          <a:prstGeom prst="rect">
            <a:avLst/>
          </a:prstGeom>
          <a:solidFill>
            <a:srgbClr val="E5F3F8"/>
          </a:solidFill>
          <a:ln w="12700">
            <a:solidFill>
              <a:srgbClr val="19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80" b="1">
                <a:solidFill>
                  <a:srgbClr val="19324A"/>
                </a:solidFill>
                <a:latin typeface="Arial"/>
              </a:defRPr>
            </a:pPr>
            <a:r>
              <a:rPr dirty="0"/>
              <a:t>CENTRAL KNOWLEDGE REPOSITORY  (Unified Polar Scientific Data Lake)</a:t>
            </a:r>
          </a:p>
          <a:p>
            <a:pPr algn="ctr">
              <a:defRPr sz="740">
                <a:solidFill>
                  <a:srgbClr val="19324A"/>
                </a:solidFill>
                <a:latin typeface="Arial"/>
              </a:defRPr>
            </a:pPr>
            <a:r>
              <a:rPr dirty="0"/>
              <a:t>Structured • Searchable • Auditable   |   Unified </a:t>
            </a:r>
            <a:r>
              <a:rPr dirty="0" err="1"/>
              <a:t>Cryospheric</a:t>
            </a:r>
            <a:r>
              <a:rPr dirty="0"/>
              <a:t> Data Lake &amp; FAIR Metadata Registry</a:t>
            </a:r>
          </a:p>
        </p:txBody>
      </p:sp>
      <p:sp>
        <p:nvSpPr>
          <p:cNvPr id="576" name="Can 575"/>
          <p:cNvSpPr/>
          <p:nvPr/>
        </p:nvSpPr>
        <p:spPr>
          <a:xfrm>
            <a:off x="457200" y="3621024"/>
            <a:ext cx="2121408" cy="914400"/>
          </a:xfrm>
          <a:prstGeom prst="can">
            <a:avLst/>
          </a:prstGeom>
          <a:solidFill>
            <a:srgbClr val="FFFFFF"/>
          </a:solidFill>
          <a:ln w="12700">
            <a:solidFill>
              <a:srgbClr val="19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28016" rIns="54864" bIns="36576" rtlCol="0" anchor="ctr"/>
          <a:lstStyle/>
          <a:p>
            <a:pPr algn="ctr">
              <a:defRPr sz="850" b="1">
                <a:solidFill>
                  <a:srgbClr val="19324A"/>
                </a:solidFill>
                <a:latin typeface="Arial"/>
              </a:defRPr>
            </a:pPr>
            <a:r>
              <a:t>PostgreSQL 16 Engine</a:t>
            </a:r>
          </a:p>
          <a:p>
            <a:pPr algn="ctr">
              <a:defRPr sz="680">
                <a:solidFill>
                  <a:srgbClr val="5A738E"/>
                </a:solidFill>
                <a:latin typeface="Arial"/>
              </a:defRPr>
            </a:pPr>
            <a:r>
              <a:t>Relational metadata, expedition logbooks, user RBAC &amp; tamper-evident audit logs</a:t>
            </a:r>
          </a:p>
        </p:txBody>
      </p:sp>
      <p:sp>
        <p:nvSpPr>
          <p:cNvPr id="577" name="Can 576"/>
          <p:cNvSpPr/>
          <p:nvPr/>
        </p:nvSpPr>
        <p:spPr>
          <a:xfrm>
            <a:off x="2724912" y="3621024"/>
            <a:ext cx="2121408" cy="914400"/>
          </a:xfrm>
          <a:prstGeom prst="can">
            <a:avLst/>
          </a:prstGeom>
          <a:solidFill>
            <a:srgbClr val="FFFFFF"/>
          </a:solidFill>
          <a:ln w="12700">
            <a:solidFill>
              <a:srgbClr val="19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28016" rIns="54864" bIns="36576" rtlCol="0" anchor="ctr"/>
          <a:lstStyle/>
          <a:p>
            <a:pPr algn="ctr">
              <a:defRPr sz="850" b="1">
                <a:solidFill>
                  <a:srgbClr val="19324A"/>
                </a:solidFill>
                <a:latin typeface="Arial"/>
              </a:defRPr>
            </a:pPr>
            <a:r>
              <a:t>pgvector Vector Store</a:t>
            </a:r>
          </a:p>
          <a:p>
            <a:pPr algn="ctr">
              <a:defRPr sz="680">
                <a:solidFill>
                  <a:srgbClr val="5A738E"/>
                </a:solidFill>
                <a:latin typeface="Arial"/>
              </a:defRPr>
            </a:pPr>
            <a:r>
              <a:t>768-dimensional Sentence-BERT dense embeddings for scientific cryosphere retrieval</a:t>
            </a:r>
          </a:p>
        </p:txBody>
      </p:sp>
      <p:sp>
        <p:nvSpPr>
          <p:cNvPr id="578" name="Can 577"/>
          <p:cNvSpPr/>
          <p:nvPr/>
        </p:nvSpPr>
        <p:spPr>
          <a:xfrm>
            <a:off x="4992624" y="3621024"/>
            <a:ext cx="2121408" cy="914400"/>
          </a:xfrm>
          <a:prstGeom prst="can">
            <a:avLst/>
          </a:prstGeom>
          <a:solidFill>
            <a:srgbClr val="FFFFFF"/>
          </a:solidFill>
          <a:ln w="12700">
            <a:solidFill>
              <a:srgbClr val="19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28016" rIns="54864" bIns="36576" rtlCol="0" anchor="ctr"/>
          <a:lstStyle/>
          <a:p>
            <a:pPr algn="ctr">
              <a:defRPr sz="850" b="1">
                <a:solidFill>
                  <a:srgbClr val="19324A"/>
                </a:solidFill>
                <a:latin typeface="Arial"/>
              </a:defRPr>
            </a:pPr>
            <a:r>
              <a:t>MinIO / S3 Object Store</a:t>
            </a:r>
          </a:p>
          <a:p>
            <a:pPr algn="ctr">
              <a:defRPr sz="680">
                <a:solidFill>
                  <a:srgbClr val="5A738E"/>
                </a:solidFill>
                <a:latin typeface="Arial"/>
              </a:defRPr>
            </a:pPr>
            <a:r>
              <a:t>Scalable storage for 4K drone reels, satellite rasters &amp; DataCite-compatible metadata</a:t>
            </a:r>
          </a:p>
        </p:txBody>
      </p:sp>
      <p:sp>
        <p:nvSpPr>
          <p:cNvPr id="579" name="Down Arrow 578"/>
          <p:cNvSpPr/>
          <p:nvPr/>
        </p:nvSpPr>
        <p:spPr>
          <a:xfrm>
            <a:off x="3712464" y="4636008"/>
            <a:ext cx="128016" cy="128016"/>
          </a:xfrm>
          <a:prstGeom prst="downArrow">
            <a:avLst/>
          </a:prstGeom>
          <a:solidFill>
            <a:srgbClr val="19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0" name="Rounded Rectangle 579"/>
          <p:cNvSpPr/>
          <p:nvPr/>
        </p:nvSpPr>
        <p:spPr>
          <a:xfrm>
            <a:off x="384048" y="4791456"/>
            <a:ext cx="6784848" cy="713232"/>
          </a:xfrm>
          <a:prstGeom prst="roundRect">
            <a:avLst/>
          </a:prstGeom>
          <a:solidFill>
            <a:srgbClr val="F3F9FC"/>
          </a:solidFill>
          <a:ln w="12700">
            <a:solidFill>
              <a:srgbClr val="19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1" name="TextBox 580"/>
          <p:cNvSpPr txBox="1"/>
          <p:nvPr/>
        </p:nvSpPr>
        <p:spPr>
          <a:xfrm>
            <a:off x="384048" y="4818888"/>
            <a:ext cx="678484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 b="1">
                <a:solidFill>
                  <a:srgbClr val="19324A"/>
                </a:solidFill>
                <a:latin typeface="Arial"/>
              </a:defRPr>
            </a:pPr>
            <a:r>
              <a:t>4. HYBRID SEARCH ENGINE  (Dual-Mode Lexical &amp; Semantic Retrieval)</a:t>
            </a:r>
          </a:p>
        </p:txBody>
      </p:sp>
      <p:sp>
        <p:nvSpPr>
          <p:cNvPr id="582" name="Rectangle 581"/>
          <p:cNvSpPr/>
          <p:nvPr/>
        </p:nvSpPr>
        <p:spPr>
          <a:xfrm>
            <a:off x="475488" y="5047488"/>
            <a:ext cx="321868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19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>
              <a:defRPr sz="800" b="1">
                <a:solidFill>
                  <a:srgbClr val="19324A"/>
                </a:solidFill>
                <a:latin typeface="Arial"/>
              </a:defRPr>
            </a:pPr>
            <a:r>
              <a:t>Keyword / BM25 Search: Full-text filter by station, author &amp; year</a:t>
            </a:r>
          </a:p>
        </p:txBody>
      </p:sp>
      <p:sp>
        <p:nvSpPr>
          <p:cNvPr id="583" name="Rectangle 582"/>
          <p:cNvSpPr/>
          <p:nvPr/>
        </p:nvSpPr>
        <p:spPr>
          <a:xfrm>
            <a:off x="3840480" y="5047488"/>
            <a:ext cx="321868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19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>
              <a:defRPr sz="800" b="1">
                <a:solidFill>
                  <a:srgbClr val="19324A"/>
                </a:solidFill>
                <a:latin typeface="Arial"/>
              </a:defRPr>
            </a:pPr>
            <a:r>
              <a:t>Semantic Vector Search: pgvector cosine similarity on query embeddings</a:t>
            </a:r>
          </a:p>
        </p:txBody>
      </p:sp>
      <p:sp>
        <p:nvSpPr>
          <p:cNvPr id="584" name="Down Arrow 583"/>
          <p:cNvSpPr/>
          <p:nvPr/>
        </p:nvSpPr>
        <p:spPr>
          <a:xfrm>
            <a:off x="1440180" y="5532120"/>
            <a:ext cx="128016" cy="128016"/>
          </a:xfrm>
          <a:prstGeom prst="downArrow">
            <a:avLst/>
          </a:prstGeom>
          <a:solidFill>
            <a:srgbClr val="19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5" name="Down Arrow 584"/>
          <p:cNvSpPr/>
          <p:nvPr/>
        </p:nvSpPr>
        <p:spPr>
          <a:xfrm>
            <a:off x="3744468" y="5532120"/>
            <a:ext cx="128016" cy="128016"/>
          </a:xfrm>
          <a:prstGeom prst="downArrow">
            <a:avLst/>
          </a:prstGeom>
          <a:solidFill>
            <a:srgbClr val="19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6" name="Down Arrow 585"/>
          <p:cNvSpPr/>
          <p:nvPr/>
        </p:nvSpPr>
        <p:spPr>
          <a:xfrm>
            <a:off x="6048756" y="5532120"/>
            <a:ext cx="128016" cy="128016"/>
          </a:xfrm>
          <a:prstGeom prst="downArrow">
            <a:avLst/>
          </a:prstGeom>
          <a:solidFill>
            <a:srgbClr val="19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7" name="Rounded Rectangle 586"/>
          <p:cNvSpPr/>
          <p:nvPr/>
        </p:nvSpPr>
        <p:spPr>
          <a:xfrm>
            <a:off x="429768" y="5669280"/>
            <a:ext cx="2148840" cy="16093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9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8" name="Rectangle 587"/>
          <p:cNvSpPr/>
          <p:nvPr/>
        </p:nvSpPr>
        <p:spPr>
          <a:xfrm>
            <a:off x="429768" y="5669280"/>
            <a:ext cx="2148840" cy="256032"/>
          </a:xfrm>
          <a:prstGeom prst="rect">
            <a:avLst/>
          </a:prstGeom>
          <a:solidFill>
            <a:srgbClr val="E5F3F8"/>
          </a:solidFill>
          <a:ln w="10160">
            <a:solidFill>
              <a:srgbClr val="19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9324A"/>
                </a:solidFill>
                <a:latin typeface="Arial"/>
              </a:defRPr>
            </a:pPr>
            <a:r>
              <a:t>TRACK 1: PUBLIC DISCOVERY</a:t>
            </a:r>
          </a:p>
        </p:txBody>
      </p:sp>
      <p:sp>
        <p:nvSpPr>
          <p:cNvPr id="589" name="Rectangle 588"/>
          <p:cNvSpPr/>
          <p:nvPr/>
        </p:nvSpPr>
        <p:spPr>
          <a:xfrm>
            <a:off x="429768" y="5669280"/>
            <a:ext cx="2148840" cy="27432"/>
          </a:xfrm>
          <a:prstGeom prst="rect">
            <a:avLst/>
          </a:prstGeom>
          <a:solidFill>
            <a:srgbClr val="48B9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0" name="TextBox 589"/>
          <p:cNvSpPr txBox="1"/>
          <p:nvPr/>
        </p:nvSpPr>
        <p:spPr>
          <a:xfrm>
            <a:off x="457200" y="5961888"/>
            <a:ext cx="2093976" cy="914400"/>
          </a:xfrm>
          <a:prstGeom prst="rect">
            <a:avLst/>
          </a:prstGeom>
          <a:noFill/>
        </p:spPr>
        <p:txBody>
          <a:bodyPr wrap="square" lIns="18288" tIns="27432" rIns="18288">
            <a:spAutoFit/>
          </a:bodyPr>
          <a:lstStyle/>
          <a:p>
            <a:pPr>
              <a:defRPr sz="780">
                <a:solidFill>
                  <a:srgbClr val="19324A"/>
                </a:solidFill>
                <a:latin typeface="Arial"/>
              </a:defRPr>
            </a:pPr>
            <a:r>
              <a:t>• Faceted Keyword &amp; Geo Search</a:t>
            </a:r>
          </a:p>
          <a:p>
            <a:pPr>
              <a:defRPr sz="780">
                <a:solidFill>
                  <a:srgbClr val="19324A"/>
                </a:solidFill>
                <a:latin typeface="Arial"/>
              </a:defRPr>
            </a:pPr>
            <a:r>
              <a:t>• Leaflet Interactive Polar GIS</a:t>
            </a:r>
          </a:p>
          <a:p>
            <a:pPr>
              <a:defRPr sz="780">
                <a:solidFill>
                  <a:srgbClr val="19324A"/>
                </a:solidFill>
                <a:latin typeface="Arial"/>
              </a:defRPr>
            </a:pPr>
            <a:r>
              <a:t>• Station Timeline &amp; History</a:t>
            </a:r>
          </a:p>
          <a:p>
            <a:pPr>
              <a:defRPr sz="780">
                <a:solidFill>
                  <a:srgbClr val="19324A"/>
                </a:solidFill>
                <a:latin typeface="Arial"/>
              </a:defRPr>
            </a:pPr>
            <a:r>
              <a:t>• Multimodal Media Gallery</a:t>
            </a:r>
          </a:p>
        </p:txBody>
      </p:sp>
      <p:sp>
        <p:nvSpPr>
          <p:cNvPr id="591" name="Rounded Rectangle 590"/>
          <p:cNvSpPr/>
          <p:nvPr/>
        </p:nvSpPr>
        <p:spPr>
          <a:xfrm>
            <a:off x="475488" y="6912864"/>
            <a:ext cx="2057400" cy="292608"/>
          </a:xfrm>
          <a:prstGeom prst="roundRect">
            <a:avLst/>
          </a:prstGeom>
          <a:solidFill>
            <a:srgbClr val="F3F9FC"/>
          </a:solidFill>
          <a:ln w="10160">
            <a:solidFill>
              <a:srgbClr val="19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760" b="1">
                <a:solidFill>
                  <a:srgbClr val="19324A"/>
                </a:solidFill>
                <a:latin typeface="Arial"/>
              </a:defRPr>
            </a:pPr>
            <a:r>
              <a:t>✔ DIRECT PUBLIC ACCESS</a:t>
            </a:r>
          </a:p>
          <a:p>
            <a:pPr algn="ctr">
              <a:defRPr sz="680" i="1">
                <a:solidFill>
                  <a:srgbClr val="5A738E"/>
                </a:solidFill>
                <a:latin typeface="Arial"/>
              </a:defRPr>
            </a:pPr>
            <a:r>
              <a:t>[No Editorial Review Gate Required]</a:t>
            </a:r>
          </a:p>
        </p:txBody>
      </p:sp>
      <p:sp>
        <p:nvSpPr>
          <p:cNvPr id="592" name="Rounded Rectangle 591"/>
          <p:cNvSpPr/>
          <p:nvPr/>
        </p:nvSpPr>
        <p:spPr>
          <a:xfrm>
            <a:off x="2734056" y="5669280"/>
            <a:ext cx="2148840" cy="16093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9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3" name="Rectangle 592"/>
          <p:cNvSpPr/>
          <p:nvPr/>
        </p:nvSpPr>
        <p:spPr>
          <a:xfrm>
            <a:off x="2734056" y="5669280"/>
            <a:ext cx="2148840" cy="256032"/>
          </a:xfrm>
          <a:prstGeom prst="rect">
            <a:avLst/>
          </a:prstGeom>
          <a:solidFill>
            <a:srgbClr val="E5F3F8"/>
          </a:solidFill>
          <a:ln w="10160">
            <a:solidFill>
              <a:srgbClr val="19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9324A"/>
                </a:solidFill>
                <a:latin typeface="Arial"/>
              </a:defRPr>
            </a:pPr>
            <a:r>
              <a:t>TRACK 2: POLAR AI / RAG</a:t>
            </a:r>
          </a:p>
        </p:txBody>
      </p:sp>
      <p:sp>
        <p:nvSpPr>
          <p:cNvPr id="594" name="Rectangle 593"/>
          <p:cNvSpPr/>
          <p:nvPr/>
        </p:nvSpPr>
        <p:spPr>
          <a:xfrm>
            <a:off x="2734056" y="5669280"/>
            <a:ext cx="2148840" cy="27432"/>
          </a:xfrm>
          <a:prstGeom prst="rect">
            <a:avLst/>
          </a:prstGeom>
          <a:solidFill>
            <a:srgbClr val="48B9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5" name="TextBox 594"/>
          <p:cNvSpPr txBox="1"/>
          <p:nvPr/>
        </p:nvSpPr>
        <p:spPr>
          <a:xfrm>
            <a:off x="2761488" y="5961888"/>
            <a:ext cx="2093976" cy="914400"/>
          </a:xfrm>
          <a:prstGeom prst="rect">
            <a:avLst/>
          </a:prstGeom>
          <a:noFill/>
        </p:spPr>
        <p:txBody>
          <a:bodyPr wrap="square" lIns="18288" tIns="27432" rIns="18288">
            <a:spAutoFit/>
          </a:bodyPr>
          <a:lstStyle/>
          <a:p>
            <a:pPr>
              <a:defRPr sz="780">
                <a:solidFill>
                  <a:srgbClr val="19324A"/>
                </a:solidFill>
                <a:latin typeface="Arial"/>
              </a:defRPr>
            </a:pPr>
            <a:r>
              <a:t>• Semantic Document Retrieval</a:t>
            </a:r>
          </a:p>
          <a:p>
            <a:pPr>
              <a:defRPr sz="780">
                <a:solidFill>
                  <a:srgbClr val="19324A"/>
                </a:solidFill>
                <a:latin typeface="Arial"/>
              </a:defRPr>
            </a:pPr>
            <a:r>
              <a:t>• Cross-Encoder Evidence Rerank</a:t>
            </a:r>
          </a:p>
          <a:p>
            <a:pPr>
              <a:defRPr sz="780">
                <a:solidFill>
                  <a:srgbClr val="19324A"/>
                </a:solidFill>
                <a:latin typeface="Arial"/>
              </a:defRPr>
            </a:pPr>
            <a:r>
              <a:t>• Citation-Grounded Synthesis</a:t>
            </a:r>
          </a:p>
          <a:p>
            <a:pPr>
              <a:defRPr sz="780">
                <a:solidFill>
                  <a:srgbClr val="19324A"/>
                </a:solidFill>
                <a:latin typeface="Arial"/>
              </a:defRPr>
            </a:pPr>
            <a:r>
              <a:t>• Refusal on Insufficient Evidence</a:t>
            </a:r>
          </a:p>
        </p:txBody>
      </p:sp>
      <p:sp>
        <p:nvSpPr>
          <p:cNvPr id="596" name="Rounded Rectangle 595"/>
          <p:cNvSpPr/>
          <p:nvPr/>
        </p:nvSpPr>
        <p:spPr>
          <a:xfrm>
            <a:off x="2779776" y="6912864"/>
            <a:ext cx="2057400" cy="292608"/>
          </a:xfrm>
          <a:prstGeom prst="roundRect">
            <a:avLst/>
          </a:prstGeom>
          <a:solidFill>
            <a:srgbClr val="F3F9FC"/>
          </a:solidFill>
          <a:ln w="10160">
            <a:solidFill>
              <a:srgbClr val="19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780" b="1">
                <a:solidFill>
                  <a:srgbClr val="19324A"/>
                </a:solidFill>
                <a:latin typeface="Arial"/>
              </a:defRPr>
            </a:pPr>
            <a:r>
              <a:t>Evidence-Grounded AI Engine</a:t>
            </a:r>
          </a:p>
          <a:p>
            <a:pPr algn="ctr">
              <a:defRPr sz="680">
                <a:solidFill>
                  <a:srgbClr val="48B9D0"/>
                </a:solidFill>
                <a:latin typeface="Arial"/>
              </a:defRPr>
            </a:pPr>
            <a:r>
              <a:t>Document • Page/Section • Verifiable Cites</a:t>
            </a:r>
          </a:p>
        </p:txBody>
      </p:sp>
      <p:sp>
        <p:nvSpPr>
          <p:cNvPr id="597" name="Rounded Rectangle 596"/>
          <p:cNvSpPr/>
          <p:nvPr/>
        </p:nvSpPr>
        <p:spPr>
          <a:xfrm>
            <a:off x="5038344" y="5669280"/>
            <a:ext cx="2148840" cy="16093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9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8" name="Rectangle 597"/>
          <p:cNvSpPr/>
          <p:nvPr/>
        </p:nvSpPr>
        <p:spPr>
          <a:xfrm>
            <a:off x="5038344" y="5669280"/>
            <a:ext cx="2148840" cy="256032"/>
          </a:xfrm>
          <a:prstGeom prst="rect">
            <a:avLst/>
          </a:prstGeom>
          <a:solidFill>
            <a:srgbClr val="E5F3F8"/>
          </a:solidFill>
          <a:ln w="10160">
            <a:solidFill>
              <a:srgbClr val="19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9324A"/>
                </a:solidFill>
                <a:latin typeface="Arial"/>
              </a:defRPr>
            </a:pPr>
            <a:r>
              <a:t>TRACK 3: POLAR ACADEMY</a:t>
            </a:r>
          </a:p>
        </p:txBody>
      </p:sp>
      <p:sp>
        <p:nvSpPr>
          <p:cNvPr id="599" name="Rectangle 598"/>
          <p:cNvSpPr/>
          <p:nvPr/>
        </p:nvSpPr>
        <p:spPr>
          <a:xfrm>
            <a:off x="5038344" y="5669280"/>
            <a:ext cx="2148840" cy="27432"/>
          </a:xfrm>
          <a:prstGeom prst="rect">
            <a:avLst/>
          </a:prstGeom>
          <a:solidFill>
            <a:srgbClr val="69B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0" name="TextBox 599"/>
          <p:cNvSpPr txBox="1"/>
          <p:nvPr/>
        </p:nvSpPr>
        <p:spPr>
          <a:xfrm>
            <a:off x="5065776" y="5961888"/>
            <a:ext cx="2093976" cy="914400"/>
          </a:xfrm>
          <a:prstGeom prst="rect">
            <a:avLst/>
          </a:prstGeom>
          <a:noFill/>
        </p:spPr>
        <p:txBody>
          <a:bodyPr wrap="square" lIns="18288" tIns="27432" rIns="18288">
            <a:spAutoFit/>
          </a:bodyPr>
          <a:lstStyle/>
          <a:p>
            <a:pPr>
              <a:defRPr sz="780">
                <a:solidFill>
                  <a:srgbClr val="19324A"/>
                </a:solidFill>
                <a:latin typeface="Arial"/>
              </a:defRPr>
            </a:pPr>
            <a:r>
              <a:t>• Cryosphere Science Curriculum</a:t>
            </a:r>
          </a:p>
          <a:p>
            <a:pPr>
              <a:defRPr sz="780">
                <a:solidFill>
                  <a:srgbClr val="19324A"/>
                </a:solidFill>
                <a:latin typeface="Arial"/>
              </a:defRPr>
            </a:pPr>
            <a:r>
              <a:t>• Visual Climate Change Explainers</a:t>
            </a:r>
          </a:p>
          <a:p>
            <a:pPr>
              <a:defRPr sz="780">
                <a:solidFill>
                  <a:srgbClr val="19324A"/>
                </a:solidFill>
                <a:latin typeface="Arial"/>
              </a:defRPr>
            </a:pPr>
            <a:r>
              <a:t>• Interactive Quizzes &amp; Gamification</a:t>
            </a:r>
          </a:p>
          <a:p>
            <a:pPr>
              <a:defRPr sz="780">
                <a:solidFill>
                  <a:srgbClr val="19324A"/>
                </a:solidFill>
                <a:latin typeface="Arial"/>
              </a:defRPr>
            </a:pPr>
            <a:r>
              <a:t>• Teacher Syllabus Activity Packs</a:t>
            </a:r>
          </a:p>
        </p:txBody>
      </p:sp>
      <p:sp>
        <p:nvSpPr>
          <p:cNvPr id="601" name="Rounded Rectangle 600"/>
          <p:cNvSpPr/>
          <p:nvPr/>
        </p:nvSpPr>
        <p:spPr>
          <a:xfrm>
            <a:off x="5084064" y="6912864"/>
            <a:ext cx="2057400" cy="292608"/>
          </a:xfrm>
          <a:prstGeom prst="roundRect">
            <a:avLst/>
          </a:prstGeom>
          <a:solidFill>
            <a:srgbClr val="F3F9FC"/>
          </a:solidFill>
          <a:ln w="10160">
            <a:solidFill>
              <a:srgbClr val="19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defRPr sz="760" b="1">
                <a:solidFill>
                  <a:srgbClr val="19324A"/>
                </a:solidFill>
                <a:latin typeface="Arial"/>
              </a:defRPr>
            </a:pPr>
            <a:r>
              <a:t>Smart Education Dissemination</a:t>
            </a:r>
          </a:p>
          <a:p>
            <a:pPr algn="ctr">
              <a:defRPr sz="680">
                <a:solidFill>
                  <a:srgbClr val="5A738E"/>
                </a:solidFill>
                <a:latin typeface="Arial"/>
              </a:defRPr>
            </a:pPr>
            <a:r>
              <a:t>Public Schools &amp; University Modules</a:t>
            </a:r>
          </a:p>
        </p:txBody>
      </p:sp>
      <p:sp>
        <p:nvSpPr>
          <p:cNvPr id="602" name="Down Arrow 601"/>
          <p:cNvSpPr/>
          <p:nvPr/>
        </p:nvSpPr>
        <p:spPr>
          <a:xfrm>
            <a:off x="3744468" y="7306056"/>
            <a:ext cx="128016" cy="128016"/>
          </a:xfrm>
          <a:prstGeom prst="downArrow">
            <a:avLst/>
          </a:prstGeom>
          <a:solidFill>
            <a:srgbClr val="19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3" name="TextBox 602"/>
          <p:cNvSpPr txBox="1"/>
          <p:nvPr/>
        </p:nvSpPr>
        <p:spPr>
          <a:xfrm>
            <a:off x="384048" y="7479792"/>
            <a:ext cx="678484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19324A"/>
                </a:solidFill>
                <a:latin typeface="Arial"/>
              </a:defRPr>
            </a:pPr>
            <a:r>
              <a:t>5. GOVERNED OUTREACH STUDIO &amp; HUMAN SCIENCE EDITORIAL REVIEW GATE</a:t>
            </a:r>
          </a:p>
        </p:txBody>
      </p:sp>
      <p:sp>
        <p:nvSpPr>
          <p:cNvPr id="604" name="Rounded Rectangle 603"/>
          <p:cNvSpPr/>
          <p:nvPr/>
        </p:nvSpPr>
        <p:spPr>
          <a:xfrm>
            <a:off x="429768" y="7699248"/>
            <a:ext cx="2011680" cy="987552"/>
          </a:xfrm>
          <a:prstGeom prst="roundRect">
            <a:avLst/>
          </a:prstGeom>
          <a:solidFill>
            <a:srgbClr val="F3F9FC"/>
          </a:solidFill>
          <a:ln w="12700">
            <a:solidFill>
              <a:srgbClr val="19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rtlCol="0" anchor="ctr"/>
          <a:lstStyle/>
          <a:p>
            <a:pPr algn="ctr">
              <a:defRPr sz="880" b="1">
                <a:solidFill>
                  <a:srgbClr val="19324A"/>
                </a:solidFill>
                <a:latin typeface="Arial"/>
              </a:defRPr>
            </a:pPr>
            <a:r>
              <a:t>OUTREACH STUDIO</a:t>
            </a:r>
          </a:p>
          <a:p>
            <a:pPr algn="ctr">
              <a:defRPr sz="700">
                <a:solidFill>
                  <a:srgbClr val="19324A"/>
                </a:solidFill>
                <a:latin typeface="Arial"/>
              </a:defRPr>
            </a:pPr>
            <a:r>
              <a:t>Bilingual AI Draft Synthesis</a:t>
            </a:r>
            <a:br/>
            <a:r>
              <a:t>• Web Articles &amp; PIB Releases</a:t>
            </a:r>
            <a:br/>
            <a:r>
              <a:t>• Social Media (X/Insta Reels)</a:t>
            </a:r>
            <a:br/>
            <a:r>
              <a:t>• School Educational Summaries</a:t>
            </a:r>
          </a:p>
          <a:p>
            <a:pPr algn="ctr">
              <a:defRPr sz="680" b="1">
                <a:solidFill>
                  <a:srgbClr val="48B9D0"/>
                </a:solidFill>
                <a:latin typeface="Arial"/>
              </a:defRPr>
            </a:pPr>
            <a:r>
              <a:t>[Evidence-Grounded Only]</a:t>
            </a:r>
          </a:p>
        </p:txBody>
      </p:sp>
      <p:sp>
        <p:nvSpPr>
          <p:cNvPr id="605" name="Right Arrow 604"/>
          <p:cNvSpPr/>
          <p:nvPr/>
        </p:nvSpPr>
        <p:spPr>
          <a:xfrm>
            <a:off x="2468880" y="8138160"/>
            <a:ext cx="128016" cy="118872"/>
          </a:xfrm>
          <a:prstGeom prst="rightArrow">
            <a:avLst/>
          </a:prstGeom>
          <a:solidFill>
            <a:srgbClr val="19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6" name="Rectangle 605"/>
          <p:cNvSpPr/>
          <p:nvPr/>
        </p:nvSpPr>
        <p:spPr>
          <a:xfrm>
            <a:off x="2624328" y="7735824"/>
            <a:ext cx="1371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9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>
              <a:defRPr sz="819" b="1">
                <a:solidFill>
                  <a:srgbClr val="19324A"/>
                </a:solidFill>
                <a:latin typeface="Arial"/>
              </a:defRPr>
            </a:pPr>
            <a:r>
              <a:t>EVIDENCE &amp;</a:t>
            </a:r>
            <a:br/>
            <a:r>
              <a:t>CLAIM CHECK</a:t>
            </a:r>
          </a:p>
          <a:p>
            <a:pPr algn="ctr">
              <a:defRPr sz="680">
                <a:solidFill>
                  <a:srgbClr val="5A738E"/>
                </a:solidFill>
                <a:latin typeface="Arial"/>
              </a:defRPr>
            </a:pPr>
            <a:r>
              <a:t>Automated citation &amp; verbatim fact matching against retrieved papers</a:t>
            </a:r>
          </a:p>
        </p:txBody>
      </p:sp>
      <p:sp>
        <p:nvSpPr>
          <p:cNvPr id="607" name="Right Arrow 606"/>
          <p:cNvSpPr/>
          <p:nvPr/>
        </p:nvSpPr>
        <p:spPr>
          <a:xfrm>
            <a:off x="4023360" y="8138160"/>
            <a:ext cx="128016" cy="118872"/>
          </a:xfrm>
          <a:prstGeom prst="rightArrow">
            <a:avLst/>
          </a:prstGeom>
          <a:solidFill>
            <a:srgbClr val="19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8" name="Diamond 607"/>
          <p:cNvSpPr/>
          <p:nvPr/>
        </p:nvSpPr>
        <p:spPr>
          <a:xfrm>
            <a:off x="4178808" y="7680960"/>
            <a:ext cx="1280160" cy="1024128"/>
          </a:xfrm>
          <a:prstGeom prst="diamond">
            <a:avLst/>
          </a:prstGeom>
          <a:solidFill>
            <a:srgbClr val="FCF6EC"/>
          </a:solidFill>
          <a:ln w="17780">
            <a:solidFill>
              <a:srgbClr val="D8A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" tIns="9144" rIns="9144" bIns="9144" rtlCol="0" anchor="ctr"/>
          <a:lstStyle/>
          <a:p>
            <a:pPr algn="ctr">
              <a:defRPr sz="740" b="1">
                <a:solidFill>
                  <a:srgbClr val="19324A"/>
                </a:solidFill>
                <a:latin typeface="Arial"/>
              </a:defRPr>
            </a:pPr>
            <a:r>
              <a:t>Science Editor</a:t>
            </a:r>
            <a:br/>
            <a:r>
              <a:t>Review Gate</a:t>
            </a:r>
          </a:p>
          <a:p>
            <a:pPr algn="ctr">
              <a:defRPr sz="819" b="1">
                <a:solidFill>
                  <a:srgbClr val="19324A"/>
                </a:solidFill>
                <a:latin typeface="Arial"/>
              </a:defRPr>
            </a:pPr>
            <a:r>
              <a:t>Approved?</a:t>
            </a:r>
          </a:p>
        </p:txBody>
      </p:sp>
      <p:sp>
        <p:nvSpPr>
          <p:cNvPr id="609" name="Right Arrow 608"/>
          <p:cNvSpPr/>
          <p:nvPr/>
        </p:nvSpPr>
        <p:spPr>
          <a:xfrm>
            <a:off x="5486400" y="8138160"/>
            <a:ext cx="128016" cy="118872"/>
          </a:xfrm>
          <a:prstGeom prst="rightArrow">
            <a:avLst/>
          </a:prstGeom>
          <a:solidFill>
            <a:srgbClr val="75B7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0" name="TextBox 609"/>
          <p:cNvSpPr txBox="1"/>
          <p:nvPr/>
        </p:nvSpPr>
        <p:spPr>
          <a:xfrm>
            <a:off x="5468112" y="7936992"/>
            <a:ext cx="2011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00" b="1">
                <a:solidFill>
                  <a:srgbClr val="75B798"/>
                </a:solidFill>
                <a:latin typeface="Arial"/>
              </a:defRPr>
            </a:pPr>
            <a:r>
              <a:t>YES</a:t>
            </a:r>
          </a:p>
        </p:txBody>
      </p:sp>
      <p:sp>
        <p:nvSpPr>
          <p:cNvPr id="611" name="Rounded Rectangle 610"/>
          <p:cNvSpPr/>
          <p:nvPr/>
        </p:nvSpPr>
        <p:spPr>
          <a:xfrm>
            <a:off x="5641848" y="7699248"/>
            <a:ext cx="1536192" cy="987552"/>
          </a:xfrm>
          <a:prstGeom prst="roundRect">
            <a:avLst/>
          </a:prstGeom>
          <a:solidFill>
            <a:srgbClr val="F3F9FC"/>
          </a:solidFill>
          <a:ln w="12700">
            <a:solidFill>
              <a:srgbClr val="19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>
              <a:defRPr sz="850" b="1">
                <a:solidFill>
                  <a:srgbClr val="19324A"/>
                </a:solidFill>
                <a:latin typeface="Arial"/>
              </a:defRPr>
            </a:pPr>
            <a:r>
              <a:t>PUBLIC DISSEMINATION</a:t>
            </a:r>
          </a:p>
          <a:p>
            <a:pPr algn="ctr">
              <a:defRPr sz="700">
                <a:solidFill>
                  <a:srgbClr val="19324A"/>
                </a:solidFill>
                <a:latin typeface="Arial"/>
              </a:defRPr>
            </a:pPr>
            <a:r>
              <a:t>Published to Official MoES/NCPOR Outlets, Press Releases, Social Media &amp; Schools</a:t>
            </a:r>
          </a:p>
          <a:p>
            <a:pPr algn="ctr">
              <a:defRPr sz="680" b="1">
                <a:solidFill>
                  <a:srgbClr val="75B798"/>
                </a:solidFill>
                <a:latin typeface="Arial"/>
              </a:defRPr>
            </a:pPr>
            <a:r>
              <a:t>[Signed-off &amp; Audited]</a:t>
            </a:r>
          </a:p>
        </p:txBody>
      </p:sp>
      <p:sp>
        <p:nvSpPr>
          <p:cNvPr id="612" name="Down Arrow 611"/>
          <p:cNvSpPr/>
          <p:nvPr/>
        </p:nvSpPr>
        <p:spPr>
          <a:xfrm>
            <a:off x="4754880" y="8723376"/>
            <a:ext cx="128016" cy="109728"/>
          </a:xfrm>
          <a:prstGeom prst="downArrow">
            <a:avLst/>
          </a:prstGeom>
          <a:solidFill>
            <a:srgbClr val="D98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3" name="Rounded Rectangle 612"/>
          <p:cNvSpPr/>
          <p:nvPr/>
        </p:nvSpPr>
        <p:spPr>
          <a:xfrm>
            <a:off x="566928" y="8851392"/>
            <a:ext cx="6419088" cy="2377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9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80" b="1" dirty="0">
                <a:solidFill>
                  <a:srgbClr val="D98282"/>
                </a:solidFill>
                <a:latin typeface="Arial"/>
              </a:rPr>
              <a:t>◄ [NO: EDIT / REVISE] </a:t>
            </a:r>
            <a:r>
              <a:rPr sz="780" b="0" dirty="0">
                <a:solidFill>
                  <a:srgbClr val="19324A"/>
                </a:solidFill>
                <a:latin typeface="Arial"/>
              </a:rPr>
              <a:t>Returns to Outreach Studio with Timestamped Editorial Notes &amp; Guidance Loop</a:t>
            </a:r>
          </a:p>
        </p:txBody>
      </p:sp>
      <p:pic>
        <p:nvPicPr>
          <p:cNvPr id="614" name="Picture 613" descr="slide3_final_fig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52960" y="1234440"/>
            <a:ext cx="5897880" cy="3886200"/>
          </a:xfrm>
          <a:prstGeom prst="rect">
            <a:avLst/>
          </a:prstGeom>
        </p:spPr>
      </p:pic>
      <p:pic>
        <p:nvPicPr>
          <p:cNvPr id="615" name="Picture 614" descr="slide3_final_fig2_optionA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52960" y="5532120"/>
            <a:ext cx="589788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095500" y="66675"/>
            <a:ext cx="14097000" cy="505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sz="2000" b="1">
                <a:solidFill>
                  <a:srgbClr val="102A43"/>
                </a:solidFill>
                <a:latin typeface="Segoe UI"/>
              </a:rPr>
              <a:t>FEASIBILITY AND VIABILITY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342900" y="876300"/>
            <a:ext cx="17602200" cy="9525"/>
            <a:chOff x="0" y="0"/>
            <a:chExt cx="23469600" cy="127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469600" cy="12700"/>
            </a:xfrm>
            <a:custGeom>
              <a:avLst/>
              <a:gdLst/>
              <a:ahLst/>
              <a:cxnLst/>
              <a:rect l="l" t="t" r="r" b="b"/>
              <a:pathLst>
                <a:path w="23469600" h="12700">
                  <a:moveTo>
                    <a:pt x="0" y="0"/>
                  </a:moveTo>
                  <a:lnTo>
                    <a:pt x="23469600" y="0"/>
                  </a:lnTo>
                  <a:lnTo>
                    <a:pt x="234696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9E1E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3469600" cy="50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42900" y="1466850"/>
            <a:ext cx="5715000" cy="8439150"/>
            <a:chOff x="0" y="0"/>
            <a:chExt cx="7620000" cy="112522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620000" cy="11252200"/>
            </a:xfrm>
            <a:custGeom>
              <a:avLst/>
              <a:gdLst/>
              <a:ahLst/>
              <a:cxnLst/>
              <a:rect l="l" t="t" r="r" b="b"/>
              <a:pathLst>
                <a:path w="7620000" h="11252200">
                  <a:moveTo>
                    <a:pt x="101600" y="0"/>
                  </a:moveTo>
                  <a:lnTo>
                    <a:pt x="7518400" y="0"/>
                  </a:lnTo>
                  <a:cubicBezTo>
                    <a:pt x="7574512" y="0"/>
                    <a:pt x="7620000" y="45488"/>
                    <a:pt x="7620000" y="101600"/>
                  </a:cubicBezTo>
                  <a:lnTo>
                    <a:pt x="7620000" y="11150600"/>
                  </a:lnTo>
                  <a:cubicBezTo>
                    <a:pt x="7620000" y="11206712"/>
                    <a:pt x="7574512" y="11252200"/>
                    <a:pt x="7518400" y="11252200"/>
                  </a:cubicBezTo>
                  <a:lnTo>
                    <a:pt x="101600" y="11252200"/>
                  </a:lnTo>
                  <a:cubicBezTo>
                    <a:pt x="45488" y="11252200"/>
                    <a:pt x="0" y="11206712"/>
                    <a:pt x="0" y="11150600"/>
                  </a:cubicBezTo>
                  <a:lnTo>
                    <a:pt x="0" y="101600"/>
                  </a:ln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F3F7FA"/>
            </a:solidFill>
            <a:ln w="9525" cap="sq">
              <a:solidFill>
                <a:srgbClr val="C9D7E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7620000" cy="11290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685800" y="1554480"/>
            <a:ext cx="5029200" cy="3200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defRPr sz="1600" b="1">
                <a:solidFill>
                  <a:srgbClr val="0B2545"/>
                </a:solidFill>
                <a:latin typeface="Arial"/>
              </a:defRPr>
            </a:pPr>
            <a:r>
              <a:t>FEASIBILITY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286500" y="1466850"/>
            <a:ext cx="5715000" cy="8439150"/>
            <a:chOff x="0" y="0"/>
            <a:chExt cx="7620000" cy="11252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620000" cy="11252200"/>
            </a:xfrm>
            <a:custGeom>
              <a:avLst/>
              <a:gdLst/>
              <a:ahLst/>
              <a:cxnLst/>
              <a:rect l="l" t="t" r="r" b="b"/>
              <a:pathLst>
                <a:path w="7620000" h="11252200">
                  <a:moveTo>
                    <a:pt x="101600" y="0"/>
                  </a:moveTo>
                  <a:lnTo>
                    <a:pt x="7518400" y="0"/>
                  </a:lnTo>
                  <a:cubicBezTo>
                    <a:pt x="7574512" y="0"/>
                    <a:pt x="7620000" y="45488"/>
                    <a:pt x="7620000" y="101600"/>
                  </a:cubicBezTo>
                  <a:lnTo>
                    <a:pt x="7620000" y="11150600"/>
                  </a:lnTo>
                  <a:cubicBezTo>
                    <a:pt x="7620000" y="11206712"/>
                    <a:pt x="7574512" y="11252200"/>
                    <a:pt x="7518400" y="11252200"/>
                  </a:cubicBezTo>
                  <a:lnTo>
                    <a:pt x="101600" y="11252200"/>
                  </a:lnTo>
                  <a:cubicBezTo>
                    <a:pt x="45488" y="11252200"/>
                    <a:pt x="0" y="11206712"/>
                    <a:pt x="0" y="11150600"/>
                  </a:cubicBezTo>
                  <a:lnTo>
                    <a:pt x="0" y="101600"/>
                  </a:ln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F3F8F4"/>
            </a:solidFill>
            <a:ln w="9525" cap="sq">
              <a:solidFill>
                <a:srgbClr val="CBDCCC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7620000" cy="11290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629400" y="1554480"/>
            <a:ext cx="5029200" cy="3200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defRPr sz="1600" b="1">
                <a:solidFill>
                  <a:srgbClr val="0B2545"/>
                </a:solidFill>
                <a:latin typeface="Arial"/>
              </a:defRPr>
            </a:pPr>
            <a:r>
              <a:t>VIABILITY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2230100" y="1466850"/>
            <a:ext cx="5715000" cy="8439150"/>
            <a:chOff x="0" y="0"/>
            <a:chExt cx="7620000" cy="112522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620000" cy="11252200"/>
            </a:xfrm>
            <a:custGeom>
              <a:avLst/>
              <a:gdLst/>
              <a:ahLst/>
              <a:cxnLst/>
              <a:rect l="l" t="t" r="r" b="b"/>
              <a:pathLst>
                <a:path w="7620000" h="11252200">
                  <a:moveTo>
                    <a:pt x="101600" y="0"/>
                  </a:moveTo>
                  <a:lnTo>
                    <a:pt x="7518400" y="0"/>
                  </a:lnTo>
                  <a:cubicBezTo>
                    <a:pt x="7574512" y="0"/>
                    <a:pt x="7620000" y="45488"/>
                    <a:pt x="7620000" y="101600"/>
                  </a:cubicBezTo>
                  <a:lnTo>
                    <a:pt x="7620000" y="11150600"/>
                  </a:lnTo>
                  <a:cubicBezTo>
                    <a:pt x="7620000" y="11206712"/>
                    <a:pt x="7574512" y="11252200"/>
                    <a:pt x="7518400" y="11252200"/>
                  </a:cubicBezTo>
                  <a:lnTo>
                    <a:pt x="101600" y="11252200"/>
                  </a:lnTo>
                  <a:cubicBezTo>
                    <a:pt x="45488" y="11252200"/>
                    <a:pt x="0" y="11206712"/>
                    <a:pt x="0" y="11150600"/>
                  </a:cubicBezTo>
                  <a:lnTo>
                    <a:pt x="0" y="101600"/>
                  </a:ln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FFF8F8"/>
            </a:solidFill>
            <a:ln w="9525" cap="sq">
              <a:solidFill>
                <a:srgbClr val="EAD1D1"/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7620000" cy="11290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2573000" y="1554480"/>
            <a:ext cx="5029200" cy="3200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defRPr sz="1600" b="1">
                <a:solidFill>
                  <a:srgbClr val="0B2545"/>
                </a:solidFill>
                <a:latin typeface="Arial"/>
              </a:defRPr>
            </a:pPr>
            <a:r>
              <a:t>POTENTIAL CHALLENGES &amp; MITIGATIONS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514350" y="2133600"/>
            <a:ext cx="5372100" cy="2057400"/>
            <a:chOff x="0" y="0"/>
            <a:chExt cx="7162800" cy="2743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162800" cy="2743200"/>
            </a:xfrm>
            <a:custGeom>
              <a:avLst/>
              <a:gdLst/>
              <a:ahLst/>
              <a:cxnLst/>
              <a:rect l="l" t="t" r="r" b="b"/>
              <a:pathLst>
                <a:path w="7162800" h="2743200">
                  <a:moveTo>
                    <a:pt x="76200" y="0"/>
                  </a:moveTo>
                  <a:lnTo>
                    <a:pt x="7086600" y="0"/>
                  </a:lnTo>
                  <a:cubicBezTo>
                    <a:pt x="7128684" y="0"/>
                    <a:pt x="7162800" y="36753"/>
                    <a:pt x="7162800" y="82091"/>
                  </a:cubicBezTo>
                  <a:lnTo>
                    <a:pt x="7162800" y="2661109"/>
                  </a:lnTo>
                  <a:cubicBezTo>
                    <a:pt x="7162800" y="2706447"/>
                    <a:pt x="7128684" y="2743200"/>
                    <a:pt x="7086600" y="2743200"/>
                  </a:cubicBezTo>
                  <a:lnTo>
                    <a:pt x="76200" y="2743200"/>
                  </a:lnTo>
                  <a:cubicBezTo>
                    <a:pt x="34116" y="2743200"/>
                    <a:pt x="0" y="2706447"/>
                    <a:pt x="0" y="2661109"/>
                  </a:cubicBezTo>
                  <a:lnTo>
                    <a:pt x="0" y="82091"/>
                  </a:lnTo>
                  <a:cubicBezTo>
                    <a:pt x="0" y="36753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1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7162800" cy="2781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047750" y="2238375"/>
            <a:ext cx="4667250" cy="260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9"/>
              </a:lnSpc>
              <a:defRPr sz="1200" b="1">
                <a:solidFill>
                  <a:srgbClr val="0B2545"/>
                </a:solidFill>
                <a:latin typeface="Arial"/>
              </a:defRPr>
            </a:pPr>
            <a:r>
              <a:rPr sz="1050" b="1">
                <a:solidFill>
                  <a:srgbClr val="102A43"/>
                </a:solidFill>
                <a:latin typeface="Segoe UI"/>
              </a:rPr>
              <a:t>TECHNICAL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5800" y="2638425"/>
            <a:ext cx="5029200" cy="1393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Prototype Architecture: Built on FastAPI, Next.js, PostgreSQL/pgvector &amp; Leaflet. Designed for integration with authorized institutional archives.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Three-Region Sensor Support: Standardized ingestion of NetCDF telemetry, satellite rasters, 4K media, and scanned historical logs.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• Decoupled Microservices: Independent horizontal scaling of RAG retrieval, OCR workers, and media streaming services.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514350" y="4305300"/>
            <a:ext cx="5372100" cy="1752600"/>
            <a:chOff x="0" y="0"/>
            <a:chExt cx="7162800" cy="2336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7162800" cy="2336800"/>
            </a:xfrm>
            <a:custGeom>
              <a:avLst/>
              <a:gdLst/>
              <a:ahLst/>
              <a:cxnLst/>
              <a:rect l="l" t="t" r="r" b="b"/>
              <a:pathLst>
                <a:path w="7162800" h="2336800">
                  <a:moveTo>
                    <a:pt x="76200" y="0"/>
                  </a:moveTo>
                  <a:lnTo>
                    <a:pt x="7086600" y="0"/>
                  </a:lnTo>
                  <a:cubicBezTo>
                    <a:pt x="7128684" y="0"/>
                    <a:pt x="7162800" y="31308"/>
                    <a:pt x="7162800" y="69929"/>
                  </a:cubicBezTo>
                  <a:lnTo>
                    <a:pt x="7162800" y="2266871"/>
                  </a:lnTo>
                  <a:cubicBezTo>
                    <a:pt x="7162800" y="2305492"/>
                    <a:pt x="7128684" y="2336800"/>
                    <a:pt x="7086600" y="2336800"/>
                  </a:cubicBezTo>
                  <a:lnTo>
                    <a:pt x="76200" y="2336800"/>
                  </a:lnTo>
                  <a:cubicBezTo>
                    <a:pt x="34116" y="2336800"/>
                    <a:pt x="0" y="2305492"/>
                    <a:pt x="0" y="2266871"/>
                  </a:cubicBezTo>
                  <a:lnTo>
                    <a:pt x="0" y="69929"/>
                  </a:lnTo>
                  <a:cubicBezTo>
                    <a:pt x="0" y="31308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1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7162800" cy="2374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047750" y="4410075"/>
            <a:ext cx="4667250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9"/>
              </a:lnSpc>
              <a:defRPr sz="1200" b="1">
                <a:solidFill>
                  <a:srgbClr val="0B2545"/>
                </a:solidFill>
                <a:latin typeface="Arial"/>
              </a:defRPr>
            </a:pPr>
            <a:r>
              <a:rPr sz="1050" b="1">
                <a:solidFill>
                  <a:srgbClr val="102A43"/>
                </a:solidFill>
                <a:latin typeface="Segoe UI"/>
              </a:rPr>
              <a:t>OPERATIONAL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85800" y="4810125"/>
            <a:ext cx="5029200" cy="1142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Editorial Quality Gate: Mandatory Human-in-the-Loop review ensures factual accuracy before external publication.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Bilingual Dissemination: Turnkey generation of English and Hindi outreach materials, reducing repetitive administrative drafting effort.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• User-Friendly Interface: Intuitive self-service deposit UI requires no technical training for returning expedition scientists.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514350" y="6172200"/>
            <a:ext cx="5372100" cy="1752600"/>
            <a:chOff x="0" y="0"/>
            <a:chExt cx="7162800" cy="2336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7162800" cy="2336800"/>
            </a:xfrm>
            <a:custGeom>
              <a:avLst/>
              <a:gdLst/>
              <a:ahLst/>
              <a:cxnLst/>
              <a:rect l="l" t="t" r="r" b="b"/>
              <a:pathLst>
                <a:path w="7162800" h="2336800">
                  <a:moveTo>
                    <a:pt x="76200" y="0"/>
                  </a:moveTo>
                  <a:lnTo>
                    <a:pt x="7086600" y="0"/>
                  </a:lnTo>
                  <a:cubicBezTo>
                    <a:pt x="7128684" y="0"/>
                    <a:pt x="7162800" y="31308"/>
                    <a:pt x="7162800" y="69929"/>
                  </a:cubicBezTo>
                  <a:lnTo>
                    <a:pt x="7162800" y="2266871"/>
                  </a:lnTo>
                  <a:cubicBezTo>
                    <a:pt x="7162800" y="2305492"/>
                    <a:pt x="7128684" y="2336800"/>
                    <a:pt x="7086600" y="2336800"/>
                  </a:cubicBezTo>
                  <a:lnTo>
                    <a:pt x="76200" y="2336800"/>
                  </a:lnTo>
                  <a:cubicBezTo>
                    <a:pt x="34116" y="2336800"/>
                    <a:pt x="0" y="2305492"/>
                    <a:pt x="0" y="2266871"/>
                  </a:cubicBezTo>
                  <a:lnTo>
                    <a:pt x="0" y="69929"/>
                  </a:lnTo>
                  <a:cubicBezTo>
                    <a:pt x="0" y="31308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1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7162800" cy="2374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047750" y="6276975"/>
            <a:ext cx="4667250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9"/>
              </a:lnSpc>
              <a:defRPr sz="1200" b="1">
                <a:solidFill>
                  <a:srgbClr val="0B2545"/>
                </a:solidFill>
                <a:latin typeface="Arial"/>
              </a:defRPr>
            </a:pPr>
            <a:r>
              <a:rPr sz="1050" b="1">
                <a:solidFill>
                  <a:srgbClr val="102A43"/>
                </a:solidFill>
                <a:latin typeface="Segoe UI"/>
              </a:rPr>
              <a:t>LEGAL &amp; SECURITY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85800" y="6677025"/>
            <a:ext cx="5029200" cy="1164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Privacy &amp; Compliance: Designed with privacy and DPDP compliance considerations &amp; Antarctic Treaty data guidelines.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Enterprise Security: JWT tokens, PBKDF2 hashing, granular role-based RBAC, and automated embargo scheduling.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• Audit Logging: Timestamped audit logs record all uploads, RAG queries, inline edits, and editorial approvals.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514350" y="8039100"/>
            <a:ext cx="5372100" cy="1752600"/>
            <a:chOff x="0" y="0"/>
            <a:chExt cx="7162800" cy="2336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7162800" cy="2336800"/>
            </a:xfrm>
            <a:custGeom>
              <a:avLst/>
              <a:gdLst/>
              <a:ahLst/>
              <a:cxnLst/>
              <a:rect l="l" t="t" r="r" b="b"/>
              <a:pathLst>
                <a:path w="7162800" h="2336800">
                  <a:moveTo>
                    <a:pt x="76200" y="0"/>
                  </a:moveTo>
                  <a:lnTo>
                    <a:pt x="7086600" y="0"/>
                  </a:lnTo>
                  <a:cubicBezTo>
                    <a:pt x="7128684" y="0"/>
                    <a:pt x="7162800" y="31308"/>
                    <a:pt x="7162800" y="69929"/>
                  </a:cubicBezTo>
                  <a:lnTo>
                    <a:pt x="7162800" y="2266871"/>
                  </a:lnTo>
                  <a:cubicBezTo>
                    <a:pt x="7162800" y="2305492"/>
                    <a:pt x="7128684" y="2336800"/>
                    <a:pt x="7086600" y="2336800"/>
                  </a:cubicBezTo>
                  <a:lnTo>
                    <a:pt x="76200" y="2336800"/>
                  </a:lnTo>
                  <a:cubicBezTo>
                    <a:pt x="34116" y="2336800"/>
                    <a:pt x="0" y="2305492"/>
                    <a:pt x="0" y="2266871"/>
                  </a:cubicBezTo>
                  <a:lnTo>
                    <a:pt x="0" y="69929"/>
                  </a:lnTo>
                  <a:cubicBezTo>
                    <a:pt x="0" y="31308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1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7162800" cy="2374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047750" y="8143875"/>
            <a:ext cx="4667250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9"/>
              </a:lnSpc>
              <a:defRPr sz="1200" b="1">
                <a:solidFill>
                  <a:srgbClr val="0B2545"/>
                </a:solidFill>
                <a:latin typeface="Arial"/>
              </a:defRPr>
            </a:pPr>
            <a:r>
              <a:rPr sz="1050" b="1">
                <a:solidFill>
                  <a:srgbClr val="102A43"/>
                </a:solidFill>
                <a:latin typeface="Segoe UI"/>
              </a:rPr>
              <a:t>FINANCIAL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85800" y="8543925"/>
            <a:ext cx="5029200" cy="9310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Open-Source-First: Open-source-first technology stack (PostgreSQL, FastAPI, Next.js, Python) avoids proprietary license fees.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• Flexible Infrastructure: Containerized deployment using Docker runs seamlessly on existing on-prem servers or cloud.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6457950" y="2133600"/>
            <a:ext cx="5372100" cy="1752600"/>
            <a:chOff x="0" y="0"/>
            <a:chExt cx="7162800" cy="23368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7162800" cy="2336800"/>
            </a:xfrm>
            <a:custGeom>
              <a:avLst/>
              <a:gdLst/>
              <a:ahLst/>
              <a:cxnLst/>
              <a:rect l="l" t="t" r="r" b="b"/>
              <a:pathLst>
                <a:path w="7162800" h="2336800">
                  <a:moveTo>
                    <a:pt x="76200" y="0"/>
                  </a:moveTo>
                  <a:lnTo>
                    <a:pt x="7086600" y="0"/>
                  </a:lnTo>
                  <a:cubicBezTo>
                    <a:pt x="7128684" y="0"/>
                    <a:pt x="7162800" y="31308"/>
                    <a:pt x="7162800" y="69929"/>
                  </a:cubicBezTo>
                  <a:lnTo>
                    <a:pt x="7162800" y="2266871"/>
                  </a:lnTo>
                  <a:cubicBezTo>
                    <a:pt x="7162800" y="2305492"/>
                    <a:pt x="7128684" y="2336800"/>
                    <a:pt x="7086600" y="2336800"/>
                  </a:cubicBezTo>
                  <a:lnTo>
                    <a:pt x="76200" y="2336800"/>
                  </a:lnTo>
                  <a:cubicBezTo>
                    <a:pt x="34116" y="2336800"/>
                    <a:pt x="0" y="2305492"/>
                    <a:pt x="0" y="2266871"/>
                  </a:cubicBezTo>
                  <a:lnTo>
                    <a:pt x="0" y="69929"/>
                  </a:lnTo>
                  <a:cubicBezTo>
                    <a:pt x="0" y="31308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1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7162800" cy="2374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6991350" y="2238375"/>
            <a:ext cx="4667250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9"/>
              </a:lnSpc>
              <a:defRPr sz="1200" b="1">
                <a:solidFill>
                  <a:srgbClr val="0B2545"/>
                </a:solidFill>
                <a:latin typeface="Arial"/>
              </a:defRPr>
            </a:pPr>
            <a:r>
              <a:rPr sz="1050" b="1">
                <a:solidFill>
                  <a:srgbClr val="102A43"/>
                </a:solidFill>
                <a:latin typeface="Segoe UI"/>
              </a:rPr>
              <a:t>SCALABLE + SUSTAINABLE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629400" y="2638425"/>
            <a:ext cx="5029200" cy="913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Scalable Knowledge Lake: Enterprise PostgreSQL + pgvector cluster with MinIO S3 object storage handles multi-terabyte data.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• Long-Term Sustainability: Modular architecture supports future satellite constellations, IoT moorings, and UAV sensor arrays.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6457950" y="4000500"/>
            <a:ext cx="5372100" cy="1752600"/>
            <a:chOff x="0" y="0"/>
            <a:chExt cx="7162800" cy="2336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7162800" cy="2336800"/>
            </a:xfrm>
            <a:custGeom>
              <a:avLst/>
              <a:gdLst/>
              <a:ahLst/>
              <a:cxnLst/>
              <a:rect l="l" t="t" r="r" b="b"/>
              <a:pathLst>
                <a:path w="7162800" h="2336800">
                  <a:moveTo>
                    <a:pt x="76200" y="0"/>
                  </a:moveTo>
                  <a:lnTo>
                    <a:pt x="7086600" y="0"/>
                  </a:lnTo>
                  <a:cubicBezTo>
                    <a:pt x="7128684" y="0"/>
                    <a:pt x="7162800" y="31308"/>
                    <a:pt x="7162800" y="69929"/>
                  </a:cubicBezTo>
                  <a:lnTo>
                    <a:pt x="7162800" y="2266871"/>
                  </a:lnTo>
                  <a:cubicBezTo>
                    <a:pt x="7162800" y="2305492"/>
                    <a:pt x="7128684" y="2336800"/>
                    <a:pt x="7086600" y="2336800"/>
                  </a:cubicBezTo>
                  <a:lnTo>
                    <a:pt x="76200" y="2336800"/>
                  </a:lnTo>
                  <a:cubicBezTo>
                    <a:pt x="34116" y="2336800"/>
                    <a:pt x="0" y="2305492"/>
                    <a:pt x="0" y="2266871"/>
                  </a:cubicBezTo>
                  <a:lnTo>
                    <a:pt x="0" y="69929"/>
                  </a:lnTo>
                  <a:cubicBezTo>
                    <a:pt x="0" y="31308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1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7162800" cy="2374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6991350" y="4105275"/>
            <a:ext cx="4667250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9"/>
              </a:lnSpc>
              <a:defRPr sz="1200" b="1">
                <a:solidFill>
                  <a:srgbClr val="0B2545"/>
                </a:solidFill>
                <a:latin typeface="Arial"/>
              </a:defRPr>
            </a:pPr>
            <a:r>
              <a:rPr sz="1050" b="1">
                <a:solidFill>
                  <a:srgbClr val="102A43"/>
                </a:solidFill>
                <a:latin typeface="Segoe UI"/>
              </a:rPr>
              <a:t>EXTENSIBLE + DEPLOYABLE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629400" y="4505325"/>
            <a:ext cx="5029200" cy="913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Standardized Interoperability: Native REST APIs link directly to SCAR, WMO Global Cryosphere Watch, and DataCite-compatible registries.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• Containerized Deployment: Containerized deployment using Docker ensures reproducible, environment-independent setups.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6457950" y="5867400"/>
            <a:ext cx="5372100" cy="1752600"/>
            <a:chOff x="0" y="0"/>
            <a:chExt cx="7162800" cy="23368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7162800" cy="2336800"/>
            </a:xfrm>
            <a:custGeom>
              <a:avLst/>
              <a:gdLst/>
              <a:ahLst/>
              <a:cxnLst/>
              <a:rect l="l" t="t" r="r" b="b"/>
              <a:pathLst>
                <a:path w="7162800" h="2336800">
                  <a:moveTo>
                    <a:pt x="76200" y="0"/>
                  </a:moveTo>
                  <a:lnTo>
                    <a:pt x="7086600" y="0"/>
                  </a:lnTo>
                  <a:cubicBezTo>
                    <a:pt x="7128684" y="0"/>
                    <a:pt x="7162800" y="31308"/>
                    <a:pt x="7162800" y="69929"/>
                  </a:cubicBezTo>
                  <a:lnTo>
                    <a:pt x="7162800" y="2266871"/>
                  </a:lnTo>
                  <a:cubicBezTo>
                    <a:pt x="7162800" y="2305492"/>
                    <a:pt x="7128684" y="2336800"/>
                    <a:pt x="7086600" y="2336800"/>
                  </a:cubicBezTo>
                  <a:lnTo>
                    <a:pt x="76200" y="2336800"/>
                  </a:lnTo>
                  <a:cubicBezTo>
                    <a:pt x="34116" y="2336800"/>
                    <a:pt x="0" y="2305492"/>
                    <a:pt x="0" y="2266871"/>
                  </a:cubicBezTo>
                  <a:lnTo>
                    <a:pt x="0" y="69929"/>
                  </a:lnTo>
                  <a:cubicBezTo>
                    <a:pt x="0" y="31308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1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38100"/>
              <a:ext cx="7162800" cy="2374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6991350" y="5972175"/>
            <a:ext cx="4667250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9"/>
              </a:lnSpc>
              <a:defRPr sz="1200" b="1">
                <a:solidFill>
                  <a:srgbClr val="0B2545"/>
                </a:solidFill>
                <a:latin typeface="Arial"/>
              </a:defRPr>
            </a:pPr>
            <a:r>
              <a:rPr sz="1050" b="1">
                <a:solidFill>
                  <a:srgbClr val="102A43"/>
                </a:solidFill>
                <a:latin typeface="Segoe UI"/>
              </a:rPr>
              <a:t>TRUST-READY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629400" y="6372225"/>
            <a:ext cx="5029200" cy="65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t>• Verifiable Citations: Polar AI strictly cites document titles, page numbers &amp; verbatim quotes; declines if ungrounded.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• Institutional Oversight: Multi-tier editorial sign-off ensures public-facing press releases meet MoES scientific standards.</a:t>
            </a:r>
          </a:p>
        </p:txBody>
      </p:sp>
      <p:grpSp>
        <p:nvGrpSpPr>
          <p:cNvPr id="54" name="Group 54"/>
          <p:cNvGrpSpPr/>
          <p:nvPr/>
        </p:nvGrpSpPr>
        <p:grpSpPr>
          <a:xfrm>
            <a:off x="6457950" y="7734300"/>
            <a:ext cx="5372100" cy="1981200"/>
            <a:chOff x="0" y="0"/>
            <a:chExt cx="7162800" cy="233680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7162800" cy="2336800"/>
            </a:xfrm>
            <a:custGeom>
              <a:avLst/>
              <a:gdLst/>
              <a:ahLst/>
              <a:cxnLst/>
              <a:rect l="l" t="t" r="r" b="b"/>
              <a:pathLst>
                <a:path w="7162800" h="2336800">
                  <a:moveTo>
                    <a:pt x="76200" y="0"/>
                  </a:moveTo>
                  <a:lnTo>
                    <a:pt x="7086600" y="0"/>
                  </a:lnTo>
                  <a:cubicBezTo>
                    <a:pt x="7128684" y="0"/>
                    <a:pt x="7162800" y="31308"/>
                    <a:pt x="7162800" y="69929"/>
                  </a:cubicBezTo>
                  <a:lnTo>
                    <a:pt x="7162800" y="2266871"/>
                  </a:lnTo>
                  <a:cubicBezTo>
                    <a:pt x="7162800" y="2305492"/>
                    <a:pt x="7128684" y="2336800"/>
                    <a:pt x="7086600" y="2336800"/>
                  </a:cubicBezTo>
                  <a:lnTo>
                    <a:pt x="76200" y="2336800"/>
                  </a:lnTo>
                  <a:cubicBezTo>
                    <a:pt x="34116" y="2336800"/>
                    <a:pt x="0" y="2305492"/>
                    <a:pt x="0" y="2266871"/>
                  </a:cubicBezTo>
                  <a:lnTo>
                    <a:pt x="0" y="69929"/>
                  </a:lnTo>
                  <a:cubicBezTo>
                    <a:pt x="0" y="31308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1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38100"/>
              <a:ext cx="7162800" cy="2374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6991350" y="7839075"/>
            <a:ext cx="4667250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9"/>
              </a:lnSpc>
              <a:defRPr sz="1200" b="1">
                <a:solidFill>
                  <a:srgbClr val="0B2545"/>
                </a:solidFill>
                <a:latin typeface="Arial"/>
              </a:defRPr>
            </a:pPr>
            <a:r>
              <a:rPr sz="1050" b="1">
                <a:solidFill>
                  <a:srgbClr val="102A43"/>
                </a:solidFill>
                <a:latin typeface="Segoe UI"/>
              </a:rPr>
              <a:t>COST-EFFECTIVE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629400" y="8239125"/>
            <a:ext cx="5029200" cy="65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rPr dirty="0"/>
              <a:t>• Workflow Efficiency: Reduces repetitive multi-channel outreach drafting effort, freeing science communication officers for strategic institutional engagements.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rPr dirty="0"/>
              <a:t>• Zero Licensing Overhead: Built entirely on open-source production foundations (PostgreSQL, </a:t>
            </a:r>
            <a:r>
              <a:rPr dirty="0" err="1"/>
              <a:t>FastAPI</a:t>
            </a:r>
            <a:r>
              <a:rPr dirty="0"/>
              <a:t>, Next.js), eliminating expensive proprietary enterprise software fees.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rPr dirty="0"/>
              <a:t>• Sustainable Operational Footprint: Lightweight asynchronous architecture runs reliably on commodity cloud or existing institutional server infrastructure.</a:t>
            </a:r>
          </a:p>
        </p:txBody>
      </p:sp>
      <p:grpSp>
        <p:nvGrpSpPr>
          <p:cNvPr id="59" name="Group 59"/>
          <p:cNvGrpSpPr/>
          <p:nvPr/>
        </p:nvGrpSpPr>
        <p:grpSpPr>
          <a:xfrm>
            <a:off x="12401550" y="2133600"/>
            <a:ext cx="5372100" cy="1752600"/>
            <a:chOff x="0" y="0"/>
            <a:chExt cx="7162800" cy="233680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7162800" cy="2336800"/>
            </a:xfrm>
            <a:custGeom>
              <a:avLst/>
              <a:gdLst/>
              <a:ahLst/>
              <a:cxnLst/>
              <a:rect l="l" t="t" r="r" b="b"/>
              <a:pathLst>
                <a:path w="7162800" h="2336800">
                  <a:moveTo>
                    <a:pt x="76200" y="0"/>
                  </a:moveTo>
                  <a:lnTo>
                    <a:pt x="7086600" y="0"/>
                  </a:lnTo>
                  <a:cubicBezTo>
                    <a:pt x="7128684" y="0"/>
                    <a:pt x="7162800" y="31308"/>
                    <a:pt x="7162800" y="69929"/>
                  </a:cubicBezTo>
                  <a:lnTo>
                    <a:pt x="7162800" y="2266871"/>
                  </a:lnTo>
                  <a:cubicBezTo>
                    <a:pt x="7162800" y="2305492"/>
                    <a:pt x="7128684" y="2336800"/>
                    <a:pt x="7086600" y="2336800"/>
                  </a:cubicBezTo>
                  <a:lnTo>
                    <a:pt x="76200" y="2336800"/>
                  </a:lnTo>
                  <a:cubicBezTo>
                    <a:pt x="34116" y="2336800"/>
                    <a:pt x="0" y="2305492"/>
                    <a:pt x="0" y="2266871"/>
                  </a:cubicBezTo>
                  <a:lnTo>
                    <a:pt x="0" y="69929"/>
                  </a:lnTo>
                  <a:cubicBezTo>
                    <a:pt x="0" y="31308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1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-38100"/>
              <a:ext cx="7162800" cy="2374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62" name="TextBox 62"/>
          <p:cNvSpPr txBox="1"/>
          <p:nvPr/>
        </p:nvSpPr>
        <p:spPr>
          <a:xfrm>
            <a:off x="12934950" y="2238375"/>
            <a:ext cx="4667250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rPr sz="1050" b="1">
                <a:solidFill>
                  <a:srgbClr val="102A43"/>
                </a:solidFill>
                <a:latin typeface="Segoe UI"/>
              </a:rPr>
              <a:t>1. DATA HETEROGENEITY &amp; QUALITY</a:t>
            </a:r>
          </a:p>
        </p:txBody>
      </p:sp>
      <p:grpSp>
        <p:nvGrpSpPr>
          <p:cNvPr id="63" name="Group 63"/>
          <p:cNvGrpSpPr/>
          <p:nvPr/>
        </p:nvGrpSpPr>
        <p:grpSpPr>
          <a:xfrm>
            <a:off x="12401550" y="4000500"/>
            <a:ext cx="5372100" cy="1752600"/>
            <a:chOff x="0" y="0"/>
            <a:chExt cx="7162800" cy="233680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7162800" cy="2336800"/>
            </a:xfrm>
            <a:custGeom>
              <a:avLst/>
              <a:gdLst/>
              <a:ahLst/>
              <a:cxnLst/>
              <a:rect l="l" t="t" r="r" b="b"/>
              <a:pathLst>
                <a:path w="7162800" h="2336800">
                  <a:moveTo>
                    <a:pt x="76200" y="0"/>
                  </a:moveTo>
                  <a:lnTo>
                    <a:pt x="7086600" y="0"/>
                  </a:lnTo>
                  <a:cubicBezTo>
                    <a:pt x="7128684" y="0"/>
                    <a:pt x="7162800" y="31308"/>
                    <a:pt x="7162800" y="69929"/>
                  </a:cubicBezTo>
                  <a:lnTo>
                    <a:pt x="7162800" y="2266871"/>
                  </a:lnTo>
                  <a:cubicBezTo>
                    <a:pt x="7162800" y="2305492"/>
                    <a:pt x="7128684" y="2336800"/>
                    <a:pt x="7086600" y="2336800"/>
                  </a:cubicBezTo>
                  <a:lnTo>
                    <a:pt x="76200" y="2336800"/>
                  </a:lnTo>
                  <a:cubicBezTo>
                    <a:pt x="34116" y="2336800"/>
                    <a:pt x="0" y="2305492"/>
                    <a:pt x="0" y="2266871"/>
                  </a:cubicBezTo>
                  <a:lnTo>
                    <a:pt x="0" y="69929"/>
                  </a:lnTo>
                  <a:cubicBezTo>
                    <a:pt x="0" y="31308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1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0" y="-38100"/>
              <a:ext cx="7162800" cy="2374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66" name="TextBox 66"/>
          <p:cNvSpPr txBox="1"/>
          <p:nvPr/>
        </p:nvSpPr>
        <p:spPr>
          <a:xfrm>
            <a:off x="12934950" y="4105275"/>
            <a:ext cx="4667250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rPr sz="1050" b="1">
                <a:solidFill>
                  <a:srgbClr val="102A43"/>
                </a:solidFill>
                <a:latin typeface="Segoe UI"/>
              </a:rPr>
              <a:t>2. AI HALLUCINATION &amp; ACCURACY</a:t>
            </a:r>
          </a:p>
        </p:txBody>
      </p:sp>
      <p:grpSp>
        <p:nvGrpSpPr>
          <p:cNvPr id="67" name="Group 67"/>
          <p:cNvGrpSpPr/>
          <p:nvPr/>
        </p:nvGrpSpPr>
        <p:grpSpPr>
          <a:xfrm>
            <a:off x="12401550" y="5867400"/>
            <a:ext cx="5372100" cy="1752600"/>
            <a:chOff x="0" y="0"/>
            <a:chExt cx="7162800" cy="233680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7162800" cy="2336800"/>
            </a:xfrm>
            <a:custGeom>
              <a:avLst/>
              <a:gdLst/>
              <a:ahLst/>
              <a:cxnLst/>
              <a:rect l="l" t="t" r="r" b="b"/>
              <a:pathLst>
                <a:path w="7162800" h="2336800">
                  <a:moveTo>
                    <a:pt x="76200" y="0"/>
                  </a:moveTo>
                  <a:lnTo>
                    <a:pt x="7086600" y="0"/>
                  </a:lnTo>
                  <a:cubicBezTo>
                    <a:pt x="7128684" y="0"/>
                    <a:pt x="7162800" y="31308"/>
                    <a:pt x="7162800" y="69929"/>
                  </a:cubicBezTo>
                  <a:lnTo>
                    <a:pt x="7162800" y="2266871"/>
                  </a:lnTo>
                  <a:cubicBezTo>
                    <a:pt x="7162800" y="2305492"/>
                    <a:pt x="7128684" y="2336800"/>
                    <a:pt x="7086600" y="2336800"/>
                  </a:cubicBezTo>
                  <a:lnTo>
                    <a:pt x="76200" y="2336800"/>
                  </a:lnTo>
                  <a:cubicBezTo>
                    <a:pt x="34116" y="2336800"/>
                    <a:pt x="0" y="2305492"/>
                    <a:pt x="0" y="2266871"/>
                  </a:cubicBezTo>
                  <a:lnTo>
                    <a:pt x="0" y="69929"/>
                  </a:lnTo>
                  <a:cubicBezTo>
                    <a:pt x="0" y="31308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1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0" y="-38100"/>
              <a:ext cx="7162800" cy="2374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0" name="TextBox 70"/>
          <p:cNvSpPr txBox="1"/>
          <p:nvPr/>
        </p:nvSpPr>
        <p:spPr>
          <a:xfrm>
            <a:off x="12934950" y="5972175"/>
            <a:ext cx="4667250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rPr sz="1050" b="1">
                <a:solidFill>
                  <a:srgbClr val="102A43"/>
                </a:solidFill>
                <a:latin typeface="Segoe UI"/>
              </a:rPr>
              <a:t>3. MULTIMODAL MEDIA VOLUME</a:t>
            </a:r>
          </a:p>
        </p:txBody>
      </p:sp>
      <p:grpSp>
        <p:nvGrpSpPr>
          <p:cNvPr id="71" name="Group 71"/>
          <p:cNvGrpSpPr/>
          <p:nvPr/>
        </p:nvGrpSpPr>
        <p:grpSpPr>
          <a:xfrm>
            <a:off x="12401550" y="7734300"/>
            <a:ext cx="5372100" cy="1752600"/>
            <a:chOff x="0" y="0"/>
            <a:chExt cx="7162800" cy="233680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7162800" cy="2336800"/>
            </a:xfrm>
            <a:custGeom>
              <a:avLst/>
              <a:gdLst/>
              <a:ahLst/>
              <a:cxnLst/>
              <a:rect l="l" t="t" r="r" b="b"/>
              <a:pathLst>
                <a:path w="7162800" h="2336800">
                  <a:moveTo>
                    <a:pt x="76200" y="0"/>
                  </a:moveTo>
                  <a:lnTo>
                    <a:pt x="7086600" y="0"/>
                  </a:lnTo>
                  <a:cubicBezTo>
                    <a:pt x="7128684" y="0"/>
                    <a:pt x="7162800" y="31308"/>
                    <a:pt x="7162800" y="69929"/>
                  </a:cubicBezTo>
                  <a:lnTo>
                    <a:pt x="7162800" y="2266871"/>
                  </a:lnTo>
                  <a:cubicBezTo>
                    <a:pt x="7162800" y="2305492"/>
                    <a:pt x="7128684" y="2336800"/>
                    <a:pt x="7086600" y="2336800"/>
                  </a:cubicBezTo>
                  <a:lnTo>
                    <a:pt x="76200" y="2336800"/>
                  </a:lnTo>
                  <a:cubicBezTo>
                    <a:pt x="34116" y="2336800"/>
                    <a:pt x="0" y="2305492"/>
                    <a:pt x="0" y="2266871"/>
                  </a:cubicBezTo>
                  <a:lnTo>
                    <a:pt x="0" y="69929"/>
                  </a:lnTo>
                  <a:cubicBezTo>
                    <a:pt x="0" y="31308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9E1E8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0" y="-38100"/>
              <a:ext cx="7162800" cy="2374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4" name="TextBox 74"/>
          <p:cNvSpPr txBox="1"/>
          <p:nvPr/>
        </p:nvSpPr>
        <p:spPr>
          <a:xfrm>
            <a:off x="12934950" y="7839075"/>
            <a:ext cx="4667250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rPr sz="1050" b="1">
                <a:solidFill>
                  <a:srgbClr val="102A43"/>
                </a:solidFill>
                <a:latin typeface="Segoe UI"/>
              </a:rPr>
              <a:t>4. UNAPPROVED CONTENT DISSEMINATION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2573000" y="2638425"/>
            <a:ext cx="5029200" cy="707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DC2626"/>
                </a:solidFill>
                <a:latin typeface="Arial"/>
              </a:defRPr>
            </a:pPr>
            <a:r>
              <a:t>RISK: Decades of heterogeneous records across papers, logs, CSVs, and 4K media.</a:t>
            </a:r>
          </a:p>
          <a:p>
            <a:pPr>
              <a:defRPr sz="950" b="1">
                <a:solidFill>
                  <a:srgbClr val="059669"/>
                </a:solidFill>
                <a:latin typeface="Arial"/>
              </a:defRPr>
            </a:pPr>
            <a:r>
              <a:t>STRATEGY: Automated PyMuPDF OCR + CLIP multimodal embeddings + strict DataCite 4.4 validation.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2573000" y="4505325"/>
            <a:ext cx="5029200" cy="707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DC2626"/>
                </a:solidFill>
                <a:latin typeface="Arial"/>
              </a:defRPr>
            </a:pPr>
            <a:r>
              <a:t>RISK: AI hallucinating incorrect polar station coordinates or unverified conclusions.</a:t>
            </a:r>
          </a:p>
          <a:p>
            <a:pPr>
              <a:defRPr sz="950" b="1">
                <a:solidFill>
                  <a:srgbClr val="059669"/>
                </a:solidFill>
                <a:latin typeface="Arial"/>
              </a:defRPr>
            </a:pPr>
            <a:r>
              <a:t>STRATEGY: Dense pgvector retrieval + mandatory verbatim quotes + explicit refusal fallback when ungrounded.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2573000" y="6372225"/>
            <a:ext cx="5029200" cy="707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DC2626"/>
                </a:solidFill>
                <a:latin typeface="Arial"/>
              </a:defRPr>
            </a:pPr>
            <a:r>
              <a:t>RISK: Storage &amp; bandwidth bottlenecks from 4K drone footage, satellite rasters, and video logs.</a:t>
            </a:r>
          </a:p>
          <a:p>
            <a:pPr>
              <a:defRPr sz="950" b="1">
                <a:solidFill>
                  <a:srgbClr val="059669"/>
                </a:solidFill>
                <a:latin typeface="Arial"/>
              </a:defRPr>
            </a:pPr>
            <a:r>
              <a:t>STRATEGY: MinIO / S3 chunked object storage + optimized CDN delivery + automated multi-resolution streaming.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12573000" y="8239125"/>
            <a:ext cx="5029200" cy="707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DC2626"/>
                </a:solidFill>
                <a:latin typeface="Arial"/>
              </a:defRPr>
            </a:pPr>
            <a:r>
              <a:t>RISK: Unverified AI drafts accidentally published to public channels, impacting credibility.</a:t>
            </a:r>
          </a:p>
          <a:p>
            <a:pPr>
              <a:defRPr sz="950" b="1">
                <a:solidFill>
                  <a:srgbClr val="059669"/>
                </a:solidFill>
                <a:latin typeface="Arial"/>
              </a:defRPr>
            </a:pPr>
            <a:r>
              <a:t>STRATEGY: Enforced Human-in-the-Loop review gate; initial state strictly locked as Draft until authorized sign-off.</a:t>
            </a:r>
          </a:p>
        </p:txBody>
      </p:sp>
      <p:sp>
        <p:nvSpPr>
          <p:cNvPr id="116" name="Freeform 14" descr="Your startup LOGO">
            <a:extLst>
              <a:ext uri="{FF2B5EF4-FFF2-40B4-BE49-F238E27FC236}">
                <a16:creationId xmlns:a16="http://schemas.microsoft.com/office/drawing/2014/main" id="{89D352D7-F996-408C-D44F-52C7C26EC3C7}"/>
              </a:ext>
            </a:extLst>
          </p:cNvPr>
          <p:cNvSpPr/>
          <p:nvPr/>
        </p:nvSpPr>
        <p:spPr>
          <a:xfrm>
            <a:off x="106594" y="22117"/>
            <a:ext cx="2115193" cy="779324"/>
          </a:xfrm>
          <a:custGeom>
            <a:avLst/>
            <a:gdLst/>
            <a:ahLst/>
            <a:cxnLst/>
            <a:rect l="l" t="t" r="r" b="b"/>
            <a:pathLst>
              <a:path w="2303431" h="1004506">
                <a:moveTo>
                  <a:pt x="0" y="0"/>
                </a:moveTo>
                <a:lnTo>
                  <a:pt x="2303431" y="0"/>
                </a:lnTo>
                <a:lnTo>
                  <a:pt x="2303431" y="1004507"/>
                </a:lnTo>
                <a:lnTo>
                  <a:pt x="0" y="10045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8" name="TextBox 117"/>
          <p:cNvSpPr txBox="1"/>
          <p:nvPr/>
        </p:nvSpPr>
        <p:spPr>
          <a:xfrm>
            <a:off x="137160" y="182880"/>
            <a:ext cx="2057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B192C"/>
                </a:solidFill>
                <a:latin typeface="Arial"/>
              </a:defRPr>
            </a:pPr>
            <a:r>
              <a:rPr lang="en-US" dirty="0"/>
              <a:t>NIRVANA</a:t>
            </a:r>
          </a:p>
        </p:txBody>
      </p:sp>
      <p:pic>
        <p:nvPicPr>
          <p:cNvPr id="119" name="Picture 1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10559" y="73152"/>
            <a:ext cx="2103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898513"/>
            <a:ext cx="18288000" cy="456343"/>
            <a:chOff x="0" y="0"/>
            <a:chExt cx="24384000" cy="6084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608457"/>
            </a:xfrm>
            <a:custGeom>
              <a:avLst/>
              <a:gdLst/>
              <a:ahLst/>
              <a:cxnLst/>
              <a:rect l="l" t="t" r="r" b="b"/>
              <a:pathLst>
                <a:path w="24384000" h="608457">
                  <a:moveTo>
                    <a:pt x="0" y="0"/>
                  </a:moveTo>
                  <a:lnTo>
                    <a:pt x="24384000" y="0"/>
                  </a:lnTo>
                  <a:lnTo>
                    <a:pt x="24384000" y="608457"/>
                  </a:lnTo>
                  <a:lnTo>
                    <a:pt x="0" y="608457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07612" y="-362445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6926" b="-13692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07612" y="-383877"/>
            <a:ext cx="16459200" cy="1735931"/>
            <a:chOff x="0" y="0"/>
            <a:chExt cx="21945600" cy="231457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945600" cy="2314575"/>
            </a:xfrm>
            <a:custGeom>
              <a:avLst/>
              <a:gdLst/>
              <a:ahLst/>
              <a:cxnLst/>
              <a:rect l="l" t="t" r="r" b="b"/>
              <a:pathLst>
                <a:path w="21945600" h="2314575">
                  <a:moveTo>
                    <a:pt x="0" y="0"/>
                  </a:moveTo>
                  <a:lnTo>
                    <a:pt x="21945600" y="0"/>
                  </a:lnTo>
                  <a:lnTo>
                    <a:pt x="21945600" y="2314575"/>
                  </a:lnTo>
                  <a:lnTo>
                    <a:pt x="0" y="23145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4747" b="-134747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21945600" cy="23431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707" b="-101709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106400" y="9520238"/>
            <a:ext cx="4267200" cy="561975"/>
            <a:chOff x="0" y="0"/>
            <a:chExt cx="5689600" cy="7493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689600" cy="749301"/>
            </a:xfrm>
            <a:custGeom>
              <a:avLst/>
              <a:gdLst/>
              <a:ahLst/>
              <a:cxnLst/>
              <a:rect l="l" t="t" r="r" b="b"/>
              <a:pathLst>
                <a:path w="5689600" h="749301">
                  <a:moveTo>
                    <a:pt x="0" y="0"/>
                  </a:moveTo>
                  <a:lnTo>
                    <a:pt x="5689600" y="0"/>
                  </a:lnTo>
                  <a:lnTo>
                    <a:pt x="5689600" y="749301"/>
                  </a:lnTo>
                  <a:lnTo>
                    <a:pt x="0" y="7493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7954" b="-97954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568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ea typeface="Times New Roman Bold"/>
                  <a:cs typeface="Times New Roman Bold"/>
                  <a:sym typeface="Times New Roman Bold"/>
                </a:rPr>
                <a:t>5</a:t>
              </a:r>
            </a:p>
          </p:txBody>
        </p:sp>
      </p:grpSp>
      <p:sp>
        <p:nvSpPr>
          <p:cNvPr id="14" name="Freeform 14" descr="Your startup LOGO"/>
          <p:cNvSpPr/>
          <p:nvPr/>
        </p:nvSpPr>
        <p:spPr>
          <a:xfrm>
            <a:off x="209760" y="10801"/>
            <a:ext cx="2740057" cy="968026"/>
          </a:xfrm>
          <a:custGeom>
            <a:avLst/>
            <a:gdLst/>
            <a:ahLst/>
            <a:cxnLst/>
            <a:rect l="l" t="t" r="r" b="b"/>
            <a:pathLst>
              <a:path w="2740057" h="968026">
                <a:moveTo>
                  <a:pt x="0" y="0"/>
                </a:moveTo>
                <a:lnTo>
                  <a:pt x="2740056" y="0"/>
                </a:lnTo>
                <a:lnTo>
                  <a:pt x="2740056" y="968026"/>
                </a:lnTo>
                <a:lnTo>
                  <a:pt x="0" y="9680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5" name="Group 15"/>
          <p:cNvGrpSpPr/>
          <p:nvPr/>
        </p:nvGrpSpPr>
        <p:grpSpPr>
          <a:xfrm>
            <a:off x="224047" y="10801"/>
            <a:ext cx="2711463" cy="953719"/>
            <a:chOff x="0" y="0"/>
            <a:chExt cx="3615284" cy="127162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615284" cy="1271626"/>
            </a:xfrm>
            <a:custGeom>
              <a:avLst/>
              <a:gdLst/>
              <a:ahLst/>
              <a:cxnLst/>
              <a:rect l="l" t="t" r="r" b="b"/>
              <a:pathLst>
                <a:path w="3615284" h="1271626">
                  <a:moveTo>
                    <a:pt x="0" y="0"/>
                  </a:moveTo>
                  <a:lnTo>
                    <a:pt x="3615284" y="0"/>
                  </a:lnTo>
                  <a:lnTo>
                    <a:pt x="3615284" y="1271626"/>
                  </a:lnTo>
                  <a:lnTo>
                    <a:pt x="0" y="127162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396" b="-5396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3615284" cy="129067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defRPr sz="1300" b="1">
                  <a:solidFill>
                    <a:srgbClr val="0B192C"/>
                  </a:solidFill>
                  <a:latin typeface="Arial"/>
                </a:defRPr>
              </a:pPr>
              <a:r>
                <a:rPr lang="en-US" dirty="0"/>
                <a:t>NIRVANA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6019755" y="2248"/>
            <a:ext cx="2025110" cy="754856"/>
            <a:chOff x="0" y="0"/>
            <a:chExt cx="2700147" cy="100647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700147" cy="1006475"/>
            </a:xfrm>
            <a:custGeom>
              <a:avLst/>
              <a:gdLst/>
              <a:ahLst/>
              <a:cxnLst/>
              <a:rect l="l" t="t" r="r" b="b"/>
              <a:pathLst>
                <a:path w="2700147" h="1006475">
                  <a:moveTo>
                    <a:pt x="0" y="0"/>
                  </a:moveTo>
                  <a:lnTo>
                    <a:pt x="2700147" y="0"/>
                  </a:lnTo>
                  <a:lnTo>
                    <a:pt x="2700147" y="1006475"/>
                  </a:lnTo>
                  <a:lnTo>
                    <a:pt x="0" y="1006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3366" b="-1336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0" name="AutoShape 20"/>
          <p:cNvSpPr/>
          <p:nvPr/>
        </p:nvSpPr>
        <p:spPr>
          <a:xfrm rot="3540">
            <a:off x="-47682" y="983932"/>
            <a:ext cx="18345255" cy="0"/>
          </a:xfrm>
          <a:prstGeom prst="line">
            <a:avLst/>
          </a:prstGeom>
          <a:ln w="19050" cap="rnd">
            <a:solidFill>
              <a:srgbClr val="4F81B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000" y="1180000"/>
            <a:ext cx="380000" cy="380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370000" y="1160000"/>
            <a:ext cx="7399000" cy="42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rPr sz="1500" b="1">
                <a:solidFill>
                  <a:srgbClr val="0F172A"/>
                </a:solidFill>
              </a:rPr>
              <a:t>DIRECT IMPACT ON TARGET USERS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19000" y="1180000"/>
            <a:ext cx="380000" cy="380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039000" y="1160000"/>
            <a:ext cx="7399000" cy="42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rPr sz="1500" b="1">
                <a:solidFill>
                  <a:srgbClr val="0F172A"/>
                </a:solidFill>
              </a:rPr>
              <a:t>BENEFITS OF THE SOLUTION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0000" y="1750000"/>
            <a:ext cx="7919000" cy="172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4BA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540000" y="1900000"/>
            <a:ext cx="6989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B192C"/>
                </a:solidFill>
                <a:latin typeface="Arial"/>
              </a:defRPr>
            </a:pPr>
            <a:r>
              <a:t>RESEARCHERS: DISCOVER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0000" y="2325000"/>
            <a:ext cx="7439000" cy="106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Unified 3-Region Discovery: Centralized search across decades of expedition reports, NetCDF datasets, and station logs across Antarctica, Arctic, and the Himalayas in one query.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• Self-Service Researcher CMS: Standardized deposit portal with DataCite-compatible metadata and embargo management accelerates new discoveries.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19000" y="1750000"/>
            <a:ext cx="7919000" cy="172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209000" y="1900000"/>
            <a:ext cx="6989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B192C"/>
                </a:solidFill>
                <a:latin typeface="Arial"/>
              </a:defRPr>
            </a:pPr>
            <a:r>
              <a:t>THREE-REGION KNOWLEDGE SCOPE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59000" y="2325000"/>
            <a:ext cx="7439000" cy="106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Three-Region Knowledge Lake: Unifies fragmented expedition archives, research papers, and environmental datasets across Antarctica, Arctic, and the Himalayan Third Pole.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• FAIR Preservation: Preserves India's rich polar scientific heritage and guarantees FAIR-compliant accessibility for the scientific community.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0000" y="3810000"/>
            <a:ext cx="7919000" cy="172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4BA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540000" y="3960000"/>
            <a:ext cx="6989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B192C"/>
                </a:solidFill>
                <a:latin typeface="Arial"/>
              </a:defRPr>
            </a:pPr>
            <a:r>
              <a:t>STUDENTS: LEARN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0000" y="4385000"/>
            <a:ext cx="7439000" cy="106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STEM Polar Academy: Interactive timelines, simplified climate explainers, and gamified quizzes generated directly from verified peer-reviewed polar science.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• Career Inspiration: Inspires next-generation STEM careers in glaciology, oceanography, polar physics, and Himalayan cryosphere research.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519000" y="3810000"/>
            <a:ext cx="7919000" cy="172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209000" y="3960000"/>
            <a:ext cx="6989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B192C"/>
                </a:solidFill>
                <a:latin typeface="Arial"/>
              </a:defRPr>
            </a:pPr>
            <a:r>
              <a:t>PUBLIC: UNDERSTAND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59000" y="4385000"/>
            <a:ext cx="7439000" cy="106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Expanding Polar Access: Expands access to polar science for students and learners, translating complex cryospheric and sea-ice data into engaging stories.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• Strategic Awareness: Fosters public awareness of India's strategic research stations &amp; observatories (Maitri, Bharati, Himadri, IndARC*, Himansh).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50000" y="5870000"/>
            <a:ext cx="7919000" cy="172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4BA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540000" y="6020000"/>
            <a:ext cx="6989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B192C"/>
                </a:solidFill>
                <a:latin typeface="Arial"/>
              </a:defRPr>
            </a:pPr>
            <a:r>
              <a:t>EDUCATORS: TEACH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0000" y="6445000"/>
            <a:ext cx="7439000" cy="106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Verifiable Classroom Resources: Curated syllabus-aligned learning paths, ready-to-teach polar milestones, and direct primary literature citations.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• Source-Linked Learning: Eliminates hours spent cross-referencing informal, unreliable internet claims with 1-click evidence links.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519000" y="5870000"/>
            <a:ext cx="7919000" cy="172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209000" y="6020000"/>
            <a:ext cx="6989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B192C"/>
                </a:solidFill>
                <a:latin typeface="Arial"/>
              </a:defRPr>
            </a:pPr>
            <a:r>
              <a:t>OPERATIONAL EFFICIENCY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59000" y="6445000"/>
            <a:ext cx="7439000" cy="106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Inter-Agency Workflow: Eliminates redundant data requests and manual cross-referencing between research divisions and MoES communication cells.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• Faster Discovery: Enables faster discovery and retrieval of relevant information across decades of archived records.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50000" y="7930000"/>
            <a:ext cx="7919000" cy="172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4BA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540000" y="8080000"/>
            <a:ext cx="6989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B192C"/>
                </a:solidFill>
                <a:latin typeface="Arial"/>
              </a:defRPr>
            </a:pPr>
            <a:r>
              <a:t>OUTREACH TEAMS: COMMUNICATE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0000" y="8505000"/>
            <a:ext cx="7439000" cy="106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Bilingual Multi-Channel AI: Automated generation of website articles, PIB press releases, X threads, and student explainers in both English and Hindi.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• Workflow Efficiency: Reduces repetitive multi-platform content preparation while enforcing mandatory human-in-the-loop editorial approval.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519000" y="7930000"/>
            <a:ext cx="7919000" cy="172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209000" y="8080000"/>
            <a:ext cx="6989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B192C"/>
                </a:solidFill>
                <a:latin typeface="Arial"/>
              </a:defRPr>
            </a:pPr>
            <a:r>
              <a:t>EVIDENCE-GROUNDED AI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759000" y="8505000"/>
            <a:ext cx="7439000" cy="106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• Verifiable Citations: Retrieved sources and citations help users verify AI-generated responses with verbatim quotes and exact page references.</a:t>
            </a:r>
          </a:p>
          <a:p>
            <a:pPr>
              <a:defRPr sz="950">
                <a:solidFill>
                  <a:srgbClr val="1E293B"/>
                </a:solidFill>
                <a:latin typeface="Arial"/>
              </a:defRPr>
            </a:pPr>
            <a:r>
              <a:t>• Evidence Check: Can decline to answer when sufficient supporting evidence is not retrieved, safeguarding institutional credibility.</a:t>
            </a:r>
          </a:p>
        </p:txBody>
      </p:sp>
      <p:pic>
        <p:nvPicPr>
          <p:cNvPr id="81" name="Picture 2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0000" y="1920000"/>
            <a:ext cx="320000" cy="320000"/>
          </a:xfrm>
          <a:prstGeom prst="rect">
            <a:avLst/>
          </a:prstGeom>
        </p:spPr>
      </p:pic>
      <p:pic>
        <p:nvPicPr>
          <p:cNvPr id="82" name="Picture 2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59000" y="1920000"/>
            <a:ext cx="320000" cy="320000"/>
          </a:xfrm>
          <a:prstGeom prst="rect">
            <a:avLst/>
          </a:prstGeom>
        </p:spPr>
      </p:pic>
      <p:pic>
        <p:nvPicPr>
          <p:cNvPr id="83" name="Picture 3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0000" y="3980000"/>
            <a:ext cx="320000" cy="320000"/>
          </a:xfrm>
          <a:prstGeom prst="rect">
            <a:avLst/>
          </a:prstGeom>
        </p:spPr>
      </p:pic>
      <p:pic>
        <p:nvPicPr>
          <p:cNvPr id="84" name="Picture 3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59000" y="3980000"/>
            <a:ext cx="320000" cy="320000"/>
          </a:xfrm>
          <a:prstGeom prst="rect">
            <a:avLst/>
          </a:prstGeom>
        </p:spPr>
      </p:pic>
      <p:pic>
        <p:nvPicPr>
          <p:cNvPr id="85" name="Picture 4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90000" y="6040000"/>
            <a:ext cx="320000" cy="320000"/>
          </a:xfrm>
          <a:prstGeom prst="rect">
            <a:avLst/>
          </a:prstGeom>
        </p:spPr>
      </p:pic>
      <p:pic>
        <p:nvPicPr>
          <p:cNvPr id="86" name="Picture 4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759000" y="6040000"/>
            <a:ext cx="320000" cy="320000"/>
          </a:xfrm>
          <a:prstGeom prst="rect">
            <a:avLst/>
          </a:prstGeom>
        </p:spPr>
      </p:pic>
      <p:pic>
        <p:nvPicPr>
          <p:cNvPr id="87" name="Picture 4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90000" y="8100000"/>
            <a:ext cx="320000" cy="320000"/>
          </a:xfrm>
          <a:prstGeom prst="rect">
            <a:avLst/>
          </a:prstGeom>
        </p:spPr>
      </p:pic>
      <p:pic>
        <p:nvPicPr>
          <p:cNvPr id="88" name="Picture 53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759000" y="8100000"/>
            <a:ext cx="320000" cy="32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32">
            <a:extLst>
              <a:ext uri="{FF2B5EF4-FFF2-40B4-BE49-F238E27FC236}">
                <a16:creationId xmlns:a16="http://schemas.microsoft.com/office/drawing/2014/main" id="{53DDE4CA-85D6-2CD3-ED65-808047A11A6A}"/>
              </a:ext>
            </a:extLst>
          </p:cNvPr>
          <p:cNvSpPr/>
          <p:nvPr/>
        </p:nvSpPr>
        <p:spPr>
          <a:xfrm>
            <a:off x="8772050" y="5732290"/>
            <a:ext cx="8372949" cy="349542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4BA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4" name="Group 4"/>
          <p:cNvGrpSpPr/>
          <p:nvPr/>
        </p:nvGrpSpPr>
        <p:grpSpPr>
          <a:xfrm>
            <a:off x="914400" y="-3800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6926" b="-13692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4400" y="-401469"/>
            <a:ext cx="16459200" cy="1735931"/>
            <a:chOff x="0" y="0"/>
            <a:chExt cx="21945600" cy="231457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945600" cy="2314575"/>
            </a:xfrm>
            <a:custGeom>
              <a:avLst/>
              <a:gdLst/>
              <a:ahLst/>
              <a:cxnLst/>
              <a:rect l="l" t="t" r="r" b="b"/>
              <a:pathLst>
                <a:path w="21945600" h="2314575">
                  <a:moveTo>
                    <a:pt x="0" y="0"/>
                  </a:moveTo>
                  <a:lnTo>
                    <a:pt x="21945600" y="0"/>
                  </a:lnTo>
                  <a:lnTo>
                    <a:pt x="21945600" y="2314575"/>
                  </a:lnTo>
                  <a:lnTo>
                    <a:pt x="0" y="23145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4747" b="-134747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21945600" cy="23431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707" b="-101709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106400" y="9520238"/>
            <a:ext cx="4267200" cy="561975"/>
            <a:chOff x="0" y="0"/>
            <a:chExt cx="5689600" cy="7493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689600" cy="749301"/>
            </a:xfrm>
            <a:custGeom>
              <a:avLst/>
              <a:gdLst/>
              <a:ahLst/>
              <a:cxnLst/>
              <a:rect l="l" t="t" r="r" b="b"/>
              <a:pathLst>
                <a:path w="5689600" h="749301">
                  <a:moveTo>
                    <a:pt x="0" y="0"/>
                  </a:moveTo>
                  <a:lnTo>
                    <a:pt x="5689600" y="0"/>
                  </a:lnTo>
                  <a:lnTo>
                    <a:pt x="5689600" y="749301"/>
                  </a:lnTo>
                  <a:lnTo>
                    <a:pt x="0" y="7493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7954" b="-97954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568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sp>
        <p:nvSpPr>
          <p:cNvPr id="14" name="Freeform 14" descr="Your startup LOGO"/>
          <p:cNvSpPr/>
          <p:nvPr/>
        </p:nvSpPr>
        <p:spPr>
          <a:xfrm>
            <a:off x="81124" y="5563"/>
            <a:ext cx="2791682" cy="1016508"/>
          </a:xfrm>
          <a:custGeom>
            <a:avLst/>
            <a:gdLst/>
            <a:ahLst/>
            <a:cxnLst/>
            <a:rect l="l" t="t" r="r" b="b"/>
            <a:pathLst>
              <a:path w="2791682" h="1016508">
                <a:moveTo>
                  <a:pt x="0" y="0"/>
                </a:moveTo>
                <a:lnTo>
                  <a:pt x="2791683" y="0"/>
                </a:lnTo>
                <a:lnTo>
                  <a:pt x="2791683" y="1016508"/>
                </a:lnTo>
                <a:lnTo>
                  <a:pt x="0" y="10165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5" name="Group 15"/>
          <p:cNvGrpSpPr/>
          <p:nvPr/>
        </p:nvGrpSpPr>
        <p:grpSpPr>
          <a:xfrm>
            <a:off x="95412" y="5563"/>
            <a:ext cx="2763088" cy="1002306"/>
            <a:chOff x="0" y="0"/>
            <a:chExt cx="3684118" cy="133640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684117" cy="1336409"/>
            </a:xfrm>
            <a:custGeom>
              <a:avLst/>
              <a:gdLst/>
              <a:ahLst/>
              <a:cxnLst/>
              <a:rect l="l" t="t" r="r" b="b"/>
              <a:pathLst>
                <a:path w="3684117" h="1336409">
                  <a:moveTo>
                    <a:pt x="0" y="0"/>
                  </a:moveTo>
                  <a:lnTo>
                    <a:pt x="3684117" y="0"/>
                  </a:lnTo>
                  <a:lnTo>
                    <a:pt x="3684117" y="1336409"/>
                  </a:lnTo>
                  <a:lnTo>
                    <a:pt x="0" y="133640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714" b="-3714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3684118" cy="13554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defRPr sz="1300" b="1">
                  <a:solidFill>
                    <a:srgbClr val="0B192C"/>
                  </a:solidFill>
                  <a:latin typeface="Arial"/>
                </a:defRPr>
              </a:pPr>
              <a:r>
                <a:rPr lang="en-US" dirty="0"/>
                <a:t>NIRVANA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6271510" y="-12944"/>
            <a:ext cx="1773364" cy="754856"/>
            <a:chOff x="0" y="0"/>
            <a:chExt cx="2364486" cy="100647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364486" cy="1006475"/>
            </a:xfrm>
            <a:custGeom>
              <a:avLst/>
              <a:gdLst/>
              <a:ahLst/>
              <a:cxnLst/>
              <a:rect l="l" t="t" r="r" b="b"/>
              <a:pathLst>
                <a:path w="2364486" h="1006475">
                  <a:moveTo>
                    <a:pt x="0" y="0"/>
                  </a:moveTo>
                  <a:lnTo>
                    <a:pt x="2364486" y="0"/>
                  </a:lnTo>
                  <a:lnTo>
                    <a:pt x="2364486" y="1006475"/>
                  </a:lnTo>
                  <a:lnTo>
                    <a:pt x="0" y="1006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5488" b="-5488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0" name="AutoShape 20"/>
          <p:cNvSpPr/>
          <p:nvPr/>
        </p:nvSpPr>
        <p:spPr>
          <a:xfrm rot="3540">
            <a:off x="-47654" y="1056780"/>
            <a:ext cx="18345198" cy="0"/>
          </a:xfrm>
          <a:prstGeom prst="line">
            <a:avLst/>
          </a:prstGeom>
          <a:ln w="19050" cap="rnd">
            <a:solidFill>
              <a:srgbClr val="4F81B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endParaRPr lang="en-IN"/>
          </a:p>
        </p:txBody>
      </p:sp>
      <p:sp>
        <p:nvSpPr>
          <p:cNvPr id="23" name="TextBox 22"/>
          <p:cNvSpPr txBox="1"/>
          <p:nvPr/>
        </p:nvSpPr>
        <p:spPr>
          <a:xfrm>
            <a:off x="550000" y="1700000"/>
            <a:ext cx="84124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  <a:defRPr sz="950" b="1">
                <a:solidFill>
                  <a:srgbClr val="0B192C"/>
                </a:solidFill>
                <a:latin typeface="Arial"/>
              </a:defRPr>
            </a:pPr>
            <a:r>
              <a:t>01. SIH26063 Problem Statement — Ministry of Earth Sciences (MoES) / NCPOR (2026)</a:t>
            </a:r>
          </a:p>
          <a:p>
            <a:pPr>
              <a:defRPr sz="850">
                <a:solidFill>
                  <a:srgbClr val="1E293B"/>
                </a:solidFill>
                <a:latin typeface="Arial"/>
              </a:defRPr>
            </a:pPr>
            <a:r>
              <a:t>Role: Official government mandate for integrated polar science outreach &amp; knowledge repository.</a:t>
            </a:r>
          </a:p>
          <a:p>
            <a:pPr>
              <a:defRPr sz="850" b="1">
                <a:solidFill>
                  <a:srgbClr val="0284C7"/>
                </a:solidFill>
                <a:latin typeface="Arial"/>
              </a:defRPr>
            </a:pPr>
            <a:r>
              <a:t>Verified Link: https://sih.gov.in | https://moes.gov.in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0000" y="2410000"/>
            <a:ext cx="7260000" cy="10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950" b="1">
                <a:solidFill>
                  <a:srgbClr val="0B192C"/>
                </a:solidFill>
                <a:latin typeface="Arial"/>
              </a:defRPr>
            </a:pPr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50000" y="2470000"/>
            <a:ext cx="84124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  <a:defRPr sz="950" b="1">
                <a:solidFill>
                  <a:srgbClr val="0B192C"/>
                </a:solidFill>
                <a:latin typeface="Arial"/>
              </a:defRPr>
            </a:pPr>
            <a:r>
              <a:t>02. NCPOR National Polar Data Center &amp; Cryospheric Archives — MoES / NCPOR (2024)</a:t>
            </a:r>
          </a:p>
          <a:p>
            <a:pPr>
              <a:defRPr sz="850">
                <a:solidFill>
                  <a:srgbClr val="1E293B"/>
                </a:solidFill>
                <a:latin typeface="Arial"/>
              </a:defRPr>
            </a:pPr>
            <a:r>
              <a:t>Role: Baseline metadata &amp; telemetry records for Antarctica (Maitri, Bharati), Arctic (Himadri, IndARC*), Himalaya (Himansh).</a:t>
            </a:r>
          </a:p>
          <a:p>
            <a:pPr>
              <a:defRPr sz="850" b="1">
                <a:solidFill>
                  <a:srgbClr val="0284C7"/>
                </a:solidFill>
                <a:latin typeface="Arial"/>
              </a:defRPr>
            </a:pPr>
            <a:r>
              <a:t>Verified Link: https://data.ncpor.res.in | https://ncpor.res.in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0000" y="3180000"/>
            <a:ext cx="7260000" cy="10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950" b="1">
                <a:solidFill>
                  <a:srgbClr val="0B192C"/>
                </a:solidFill>
                <a:latin typeface="Arial"/>
              </a:defRPr>
            </a:pP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50000" y="3240000"/>
            <a:ext cx="84124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  <a:defRPr sz="950" b="1">
                <a:solidFill>
                  <a:srgbClr val="0B192C"/>
                </a:solidFill>
                <a:latin typeface="Arial"/>
              </a:defRPr>
            </a:pPr>
            <a:r>
              <a:t>03. Retrieval-Augmented Generation for Knowledge-Intensive NLP — Lewis et al. (NeurIPS 2020)</a:t>
            </a:r>
          </a:p>
          <a:p>
            <a:pPr>
              <a:defRPr sz="850">
                <a:solidFill>
                  <a:srgbClr val="1E293B"/>
                </a:solidFill>
                <a:latin typeface="Arial"/>
              </a:defRPr>
            </a:pPr>
            <a:r>
              <a:t>Role: Foundational architecture grounding POLAR AI answers strictly in retrieved repository evidence.</a:t>
            </a:r>
          </a:p>
          <a:p>
            <a:pPr>
              <a:defRPr sz="850" b="1">
                <a:solidFill>
                  <a:srgbClr val="0284C7"/>
                </a:solidFill>
                <a:latin typeface="Arial"/>
              </a:defRPr>
            </a:pPr>
            <a:r>
              <a:t>Verified Link: https://arxiv.org/abs/2005.11401 | https://doi.org/10.48550/arXiv.2005.11401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0000" y="3950000"/>
            <a:ext cx="7260000" cy="10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950" b="1">
                <a:solidFill>
                  <a:srgbClr val="0B192C"/>
                </a:solidFill>
                <a:latin typeface="Arial"/>
              </a:defRPr>
            </a:pPr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50000" y="4010000"/>
            <a:ext cx="84124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  <a:defRPr sz="950" b="1">
                <a:solidFill>
                  <a:srgbClr val="0B192C"/>
                </a:solidFill>
                <a:latin typeface="Arial"/>
              </a:defRPr>
            </a:pPr>
            <a:r>
              <a:t>04. DataCite Metadata Schema 4.4 for Research Datasets — DataCite Working Group (2021)</a:t>
            </a:r>
          </a:p>
          <a:p>
            <a:pPr>
              <a:defRPr sz="850">
                <a:solidFill>
                  <a:srgbClr val="1E293B"/>
                </a:solidFill>
                <a:latin typeface="Arial"/>
              </a:defRPr>
            </a:pPr>
            <a:r>
              <a:t>Role: Standardized schema for research datasets, expedition reports, DOIs, and creator relationships.</a:t>
            </a:r>
          </a:p>
          <a:p>
            <a:pPr>
              <a:defRPr sz="850" b="1">
                <a:solidFill>
                  <a:srgbClr val="0284C7"/>
                </a:solidFill>
                <a:latin typeface="Arial"/>
              </a:defRPr>
            </a:pPr>
            <a:r>
              <a:t>Verified Link: https://schema.datacite.org/meta/kernel-4.4/ | https://datacite.org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0000" y="4720000"/>
            <a:ext cx="7260000" cy="10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950" b="1">
                <a:solidFill>
                  <a:srgbClr val="0B192C"/>
                </a:solidFill>
                <a:latin typeface="Arial"/>
              </a:defRPr>
            </a:pPr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50000" y="4780000"/>
            <a:ext cx="84124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  <a:defRPr sz="950" b="1">
                <a:solidFill>
                  <a:srgbClr val="0B192C"/>
                </a:solidFill>
                <a:latin typeface="Arial"/>
              </a:defRPr>
            </a:pPr>
            <a:r>
              <a:t>05. Dublin Core Metadata Terms (DCMI) — ISO Standard 15836-1:2017 (2017)</a:t>
            </a:r>
          </a:p>
          <a:p>
            <a:pPr>
              <a:defRPr sz="850">
                <a:solidFill>
                  <a:srgbClr val="1E293B"/>
                </a:solidFill>
                <a:latin typeface="Arial"/>
              </a:defRPr>
            </a:pPr>
            <a:r>
              <a:t>Role: Multidisciplinary metadata taxonomy for polar publications, media archives &amp; institutional activities.</a:t>
            </a:r>
          </a:p>
          <a:p>
            <a:pPr>
              <a:defRPr sz="850" b="1">
                <a:solidFill>
                  <a:srgbClr val="0284C7"/>
                </a:solidFill>
                <a:latin typeface="Arial"/>
              </a:defRPr>
            </a:pPr>
            <a:r>
              <a:t>Verified Link: https://www.dublincore.org/specifications/dublin-core/dcmi-terms/ | https://iso.org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0000" y="5490000"/>
            <a:ext cx="7260000" cy="10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950" b="1">
                <a:solidFill>
                  <a:srgbClr val="0B192C"/>
                </a:solidFill>
                <a:latin typeface="Arial"/>
              </a:defRPr>
            </a:pPr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50000" y="5550000"/>
            <a:ext cx="84124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  <a:defRPr sz="950" b="1">
                <a:solidFill>
                  <a:srgbClr val="0B192C"/>
                </a:solidFill>
                <a:latin typeface="Arial"/>
              </a:defRPr>
            </a:pPr>
            <a:r>
              <a:t>06. CLIP: Learning Transferable Visual Models — Radford et al. (ICML 2021)</a:t>
            </a:r>
          </a:p>
          <a:p>
            <a:pPr>
              <a:defRPr sz="850">
                <a:solidFill>
                  <a:srgbClr val="1E293B"/>
                </a:solidFill>
                <a:latin typeface="Arial"/>
              </a:defRPr>
            </a:pPr>
            <a:r>
              <a:t>Role: Natural-language cross-modal semantic discovery across polar photography, satellite rasters &amp; drone videos.</a:t>
            </a:r>
          </a:p>
          <a:p>
            <a:pPr>
              <a:defRPr sz="850" b="1">
                <a:solidFill>
                  <a:srgbClr val="0284C7"/>
                </a:solidFill>
                <a:latin typeface="Arial"/>
              </a:defRPr>
            </a:pPr>
            <a:r>
              <a:t>Verified Link: https://arxiv.org/abs/2103.00020 | https://github.com/openai/CLIP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0000" y="6260000"/>
            <a:ext cx="7260000" cy="10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50000" y="6320000"/>
            <a:ext cx="84124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  <a:defRPr sz="950" b="1">
                <a:solidFill>
                  <a:srgbClr val="0B192C"/>
                </a:solidFill>
                <a:latin typeface="Arial"/>
              </a:defRPr>
            </a:pPr>
            <a:r>
              <a:t>07. Sentence-BERT: Sentence Embeddings using Siamese Networks — Reimers &amp; Gurevych (EMNLP 2019)</a:t>
            </a:r>
          </a:p>
          <a:p>
            <a:pPr>
              <a:defRPr sz="850">
                <a:solidFill>
                  <a:srgbClr val="1E293B"/>
                </a:solidFill>
                <a:latin typeface="Arial"/>
              </a:defRPr>
            </a:pPr>
            <a:r>
              <a:t>Role: Powers fast, dense vector indexing and hybrid semantic retrieval across polar research corpus.</a:t>
            </a:r>
          </a:p>
          <a:p>
            <a:pPr>
              <a:defRPr sz="850" b="1">
                <a:solidFill>
                  <a:srgbClr val="0284C7"/>
                </a:solidFill>
                <a:latin typeface="Arial"/>
              </a:defRPr>
            </a:pPr>
            <a:r>
              <a:t>Verified Link: https://arxiv.org/abs/1908.10084 | https://www.sbert.net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0000" y="7030000"/>
            <a:ext cx="7260000" cy="10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50000" y="7090000"/>
            <a:ext cx="84124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  <a:defRPr sz="950" b="1">
                <a:solidFill>
                  <a:srgbClr val="0B192C"/>
                </a:solidFill>
                <a:latin typeface="Arial"/>
              </a:defRPr>
            </a:pPr>
            <a:r>
              <a:t>08. WMO Global Cryosphere Watch (GCW) Data Standards &amp; Formats — WMO (2023)</a:t>
            </a:r>
          </a:p>
          <a:p>
            <a:pPr>
              <a:defRPr sz="850">
                <a:solidFill>
                  <a:srgbClr val="1E293B"/>
                </a:solidFill>
                <a:latin typeface="Arial"/>
              </a:defRPr>
            </a:pPr>
            <a:r>
              <a:t>Role: Cryospheric observation standards, sea-ice data formatting &amp; polar weather telemetry integration.</a:t>
            </a:r>
          </a:p>
          <a:p>
            <a:pPr>
              <a:defRPr sz="850" b="1">
                <a:solidFill>
                  <a:srgbClr val="0284C7"/>
                </a:solidFill>
                <a:latin typeface="Arial"/>
              </a:defRPr>
            </a:pPr>
            <a:r>
              <a:t>Verified Link: https://globalcryospherewatch.org | https://wmo.int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0000" y="7800000"/>
            <a:ext cx="7260000" cy="10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50000" y="7860000"/>
            <a:ext cx="84124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  <a:defRPr sz="950" b="1">
                <a:solidFill>
                  <a:srgbClr val="0B192C"/>
                </a:solidFill>
                <a:latin typeface="Arial"/>
              </a:defRPr>
            </a:pPr>
            <a:r>
              <a:t>09. Leaflet &amp; EPSG:3031 / EPSG:3995 Polar Projections — EPSG / OpenStreetMap (2023)</a:t>
            </a:r>
          </a:p>
          <a:p>
            <a:pPr>
              <a:defRPr sz="850">
                <a:solidFill>
                  <a:srgbClr val="1E293B"/>
                </a:solidFill>
                <a:latin typeface="Arial"/>
              </a:defRPr>
            </a:pPr>
            <a:r>
              <a:t>Role: Interactive geospatial rendering of polar research stations, expedition cruise tracks &amp; sensor sites.</a:t>
            </a:r>
          </a:p>
          <a:p>
            <a:pPr>
              <a:defRPr sz="850" b="1">
                <a:solidFill>
                  <a:srgbClr val="0284C7"/>
                </a:solidFill>
                <a:latin typeface="Arial"/>
              </a:defRPr>
            </a:pPr>
            <a:r>
              <a:t>Verified Link: https://leafletjs.com | https://epsg.io/3031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50000" y="8570000"/>
            <a:ext cx="7260000" cy="10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50000" y="8630000"/>
            <a:ext cx="84124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  <a:defRPr sz="950" b="1">
                <a:solidFill>
                  <a:srgbClr val="0B192C"/>
                </a:solidFill>
                <a:latin typeface="Arial"/>
              </a:defRPr>
            </a:pPr>
            <a:r>
              <a:t>10. FastAPI Asynchronous Framework &amp; pgvector PostgreSQL Extension — Tiangolo (2024)</a:t>
            </a:r>
          </a:p>
          <a:p>
            <a:pPr>
              <a:defRPr sz="850">
                <a:solidFill>
                  <a:srgbClr val="1E293B"/>
                </a:solidFill>
                <a:latin typeface="Arial"/>
              </a:defRPr>
            </a:pPr>
            <a:r>
              <a:t>Role: Ultra-low-latency vector similarity search and scalable asynchronous REST API microservices.</a:t>
            </a:r>
          </a:p>
          <a:p>
            <a:pPr>
              <a:defRPr sz="850" b="1">
                <a:solidFill>
                  <a:srgbClr val="0284C7"/>
                </a:solidFill>
                <a:latin typeface="Arial"/>
              </a:defRPr>
            </a:pPr>
            <a:r>
              <a:t>Verified Link: https://fastapi.tiangolo.com | https://github.com/pgvector/pgvector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0000" y="9340000"/>
            <a:ext cx="7260000" cy="10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960000" y="5860000"/>
            <a:ext cx="5500000" cy="3300000"/>
          </a:xfrm>
          <a:prstGeom prst="rect">
            <a:avLst/>
          </a:prstGeom>
          <a:noFill/>
        </p:spPr>
        <p:txBody>
          <a:bodyPr wrap="square" lIns="100000" tIns="100000" rIns="100000" bIns="10000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0B2545"/>
                </a:solidFill>
                <a:latin typeface="Arial"/>
              </a:defRPr>
            </a:pPr>
            <a:r>
              <a:rPr b="1" sz="1350">
                <a:solidFill>
                  <a:srgbClr val="0A192F"/>
                </a:solidFill>
                <a:latin typeface="Arial"/>
              </a:rPr>
              <a:t>PROTOTYPE STATUS &amp; EVALUATION ROADMAP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A192F"/>
                </a:solidFill>
                <a:latin typeface="Arial"/>
              </a:rPr>
              <a:t>• SIH26063 Prototype Platform: </a:t>
            </a:r>
            <a:r>
              <a:rPr b="0" sz="1000">
                <a:solidFill>
                  <a:srgbClr val="232D3C"/>
                </a:solidFill>
                <a:latin typeface="Arial"/>
              </a:rPr>
              <a:t>POLARIS is presented as a functional prototype proposal for SIH 2026, fully addressing MoES / NCPOR problem specifications.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A192F"/>
                </a:solidFill>
                <a:latin typeface="Arial"/>
              </a:rPr>
              <a:t>• Standards-Backed Architecture: </a:t>
            </a:r>
            <a:r>
              <a:rPr b="0" sz="1000">
                <a:solidFill>
                  <a:srgbClr val="232D3C"/>
                </a:solidFill>
                <a:latin typeface="Arial"/>
              </a:rPr>
              <a:t>Production stack (Next.js, FastAPI, PostgreSQL, pgvector, PyMuPDF, Leaflet, MinIO S3) ensuring feasibility and reproducibility.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A192F"/>
                </a:solidFill>
                <a:latin typeface="Arial"/>
              </a:rPr>
              <a:t>• Submission Demonstration &amp; Verified Links: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A192F"/>
                </a:solidFill>
                <a:latin typeface="Arial"/>
              </a:rPr>
              <a:t>  ▶ Video Demo: </a:t>
            </a:r>
            <a:r>
              <a:rPr b="1" sz="1000" u="sng">
                <a:solidFill>
                  <a:srgbClr val="0066CC"/>
                </a:solidFill>
                <a:latin typeface="Arial"/>
                <a:hlinkClick r:id="rId7"/>
              </a:rPr>
              <a:t>https://youtu.be/HitV08Q82Fg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A192F"/>
                </a:solidFill>
                <a:latin typeface="Arial"/>
              </a:rPr>
              <a:t>  ▶ GitHub Repo: </a:t>
            </a:r>
            <a:r>
              <a:rPr b="1" sz="1000" u="sng">
                <a:solidFill>
                  <a:srgbClr val="0066CC"/>
                </a:solidFill>
                <a:latin typeface="Arial"/>
                <a:hlinkClick r:id="rId8"/>
              </a:rPr>
              <a:t>https://github.com/jayaram14329/polaris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0A192F"/>
                </a:solidFill>
                <a:latin typeface="Arial"/>
              </a:rPr>
              <a:t>  ▶ Live Prototype: </a:t>
            </a:r>
            <a:r>
              <a:rPr b="1" sz="950" u="sng">
                <a:solidFill>
                  <a:srgbClr val="0066CC"/>
                </a:solidFill>
                <a:latin typeface="Arial"/>
                <a:hlinkClick r:id="rId9"/>
              </a:rPr>
              <a:t>https://hopes-convertible-vcr-versions.trycloudflare.com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949638" y="1996523"/>
            <a:ext cx="8001000" cy="314532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spcAft>
                <a:spcPts val="800"/>
              </a:spcAft>
              <a:defRPr sz="1200" b="1">
                <a:solidFill>
                  <a:srgbClr val="0B2545"/>
                </a:solidFill>
                <a:latin typeface="Arial"/>
              </a:defRPr>
            </a:pPr>
            <a:r>
              <a:rPr sz="1400" dirty="0"/>
              <a:t>TECHNICAL STANDARDS &amp; ARCHITECTURAL ALIGNMENT MATRIX</a:t>
            </a:r>
          </a:p>
          <a:p>
            <a:pPr>
              <a:spcAft>
                <a:spcPts val="600"/>
              </a:spcAft>
            </a:pPr>
            <a:r>
              <a:rPr sz="950" b="1" dirty="0">
                <a:solidFill>
                  <a:srgbClr val="0B2545"/>
                </a:solidFill>
                <a:latin typeface="Arial"/>
              </a:rPr>
              <a:t>• </a:t>
            </a:r>
            <a:r>
              <a:rPr sz="1200" b="1" dirty="0">
                <a:solidFill>
                  <a:srgbClr val="0B2545"/>
                </a:solidFill>
                <a:latin typeface="Arial"/>
              </a:rPr>
              <a:t>Institutional Mandate &amp; Polar Data (</a:t>
            </a:r>
            <a:r>
              <a:rPr sz="1200" b="1" dirty="0">
                <a:solidFill>
                  <a:srgbClr val="0077B6"/>
                </a:solidFill>
                <a:latin typeface="Arial"/>
              </a:rPr>
              <a:t>Refs [01, 02]</a:t>
            </a:r>
            <a:r>
              <a:rPr sz="1200" dirty="0">
                <a:solidFill>
                  <a:srgbClr val="1E293B"/>
                </a:solidFill>
                <a:latin typeface="Arial"/>
              </a:rPr>
              <a:t>): </a:t>
            </a:r>
            <a:r>
              <a:rPr sz="1200" dirty="0" err="1">
                <a:solidFill>
                  <a:srgbClr val="1E293B"/>
                </a:solidFill>
                <a:latin typeface="Arial"/>
              </a:rPr>
              <a:t>MoES</a:t>
            </a:r>
            <a:r>
              <a:rPr sz="1200" dirty="0">
                <a:solidFill>
                  <a:srgbClr val="1E293B"/>
                </a:solidFill>
                <a:latin typeface="Arial"/>
              </a:rPr>
              <a:t> / NCPOR SIH26063 guidelines, Three-Region coverage (Antarctica, Arctic, Himalayas), and national cryosphere repository compatibility.</a:t>
            </a:r>
          </a:p>
          <a:p>
            <a:pPr>
              <a:spcAft>
                <a:spcPts val="600"/>
              </a:spcAft>
            </a:pPr>
            <a:r>
              <a:rPr sz="1200" b="1" dirty="0">
                <a:solidFill>
                  <a:srgbClr val="0B2545"/>
                </a:solidFill>
                <a:latin typeface="Arial"/>
              </a:rPr>
              <a:t>• FAIR Metadata &amp; Data Interoperability (</a:t>
            </a:r>
            <a:r>
              <a:rPr sz="1200" b="1" dirty="0">
                <a:solidFill>
                  <a:srgbClr val="0077B6"/>
                </a:solidFill>
                <a:latin typeface="Arial"/>
              </a:rPr>
              <a:t>Refs [04, 05]</a:t>
            </a:r>
            <a:r>
              <a:rPr sz="1200" dirty="0">
                <a:solidFill>
                  <a:srgbClr val="1E293B"/>
                </a:solidFill>
                <a:latin typeface="Arial"/>
              </a:rPr>
              <a:t>): </a:t>
            </a:r>
            <a:r>
              <a:rPr sz="1200" dirty="0" err="1">
                <a:solidFill>
                  <a:srgbClr val="1E293B"/>
                </a:solidFill>
                <a:latin typeface="Arial"/>
              </a:rPr>
              <a:t>DataCite</a:t>
            </a:r>
            <a:r>
              <a:rPr sz="1200" dirty="0">
                <a:solidFill>
                  <a:srgbClr val="1E293B"/>
                </a:solidFill>
                <a:latin typeface="Arial"/>
              </a:rPr>
              <a:t> 4.4 kernel and Dublin Core (ISO 15836-1:2017) schemas ensuring Findable, Accessible, Interoperable, and Reusable scientific records.</a:t>
            </a:r>
          </a:p>
          <a:p>
            <a:pPr>
              <a:spcAft>
                <a:spcPts val="600"/>
              </a:spcAft>
            </a:pPr>
            <a:r>
              <a:rPr sz="1200" b="1" dirty="0">
                <a:solidFill>
                  <a:srgbClr val="0B2545"/>
                </a:solidFill>
                <a:latin typeface="Arial"/>
              </a:rPr>
              <a:t>• AI, Semantic Search &amp; Multimodal Indexing (</a:t>
            </a:r>
            <a:r>
              <a:rPr sz="1200" b="1" dirty="0">
                <a:solidFill>
                  <a:srgbClr val="0077B6"/>
                </a:solidFill>
                <a:latin typeface="Arial"/>
              </a:rPr>
              <a:t>Refs [03, 06, 07]</a:t>
            </a:r>
            <a:r>
              <a:rPr sz="1200" dirty="0">
                <a:solidFill>
                  <a:srgbClr val="1E293B"/>
                </a:solidFill>
                <a:latin typeface="Arial"/>
              </a:rPr>
              <a:t>): Retrieval-Augmented Generation (Lewis et al.), Sentence-BERT dense embeddings, and OpenAI CLIP multimodal representations in </a:t>
            </a:r>
            <a:r>
              <a:rPr sz="1200" dirty="0" err="1">
                <a:solidFill>
                  <a:srgbClr val="1E293B"/>
                </a:solidFill>
                <a:latin typeface="Arial"/>
              </a:rPr>
              <a:t>pgvector</a:t>
            </a:r>
            <a:r>
              <a:rPr sz="1200" dirty="0">
                <a:solidFill>
                  <a:srgbClr val="1E293B"/>
                </a:solidFill>
                <a:latin typeface="Arial"/>
              </a:rPr>
              <a:t>.</a:t>
            </a:r>
          </a:p>
          <a:p>
            <a:pPr>
              <a:spcAft>
                <a:spcPts val="600"/>
              </a:spcAft>
            </a:pPr>
            <a:r>
              <a:rPr sz="1200" b="1" dirty="0">
                <a:solidFill>
                  <a:srgbClr val="0B2545"/>
                </a:solidFill>
                <a:latin typeface="Arial"/>
              </a:rPr>
              <a:t>• </a:t>
            </a:r>
            <a:r>
              <a:rPr sz="1200" b="1" dirty="0" err="1">
                <a:solidFill>
                  <a:srgbClr val="0B2545"/>
                </a:solidFill>
                <a:latin typeface="Arial"/>
              </a:rPr>
              <a:t>Cryospheric</a:t>
            </a:r>
            <a:r>
              <a:rPr sz="1200" b="1" dirty="0">
                <a:solidFill>
                  <a:srgbClr val="0B2545"/>
                </a:solidFill>
                <a:latin typeface="Arial"/>
              </a:rPr>
              <a:t> Sensors &amp; Polar GIS Standards (</a:t>
            </a:r>
            <a:r>
              <a:rPr sz="1200" b="1" dirty="0">
                <a:solidFill>
                  <a:srgbClr val="0077B6"/>
                </a:solidFill>
                <a:latin typeface="Arial"/>
              </a:rPr>
              <a:t>Refs [08, 09]</a:t>
            </a:r>
            <a:r>
              <a:rPr sz="1200" dirty="0">
                <a:solidFill>
                  <a:srgbClr val="1E293B"/>
                </a:solidFill>
                <a:latin typeface="Arial"/>
              </a:rPr>
              <a:t>): WMO Global Cryosphere Watch observation standards paired with Leaflet Antarctic/Arctic stereographic projections (EPSG:3031 / EPSG:3995).</a:t>
            </a:r>
          </a:p>
          <a:p>
            <a:pPr>
              <a:spcAft>
                <a:spcPts val="600"/>
              </a:spcAft>
            </a:pPr>
            <a:r>
              <a:rPr sz="1200" b="1" dirty="0">
                <a:solidFill>
                  <a:srgbClr val="0B2545"/>
                </a:solidFill>
                <a:latin typeface="Arial"/>
              </a:rPr>
              <a:t>• Microservice Engineering &amp; Containerization (</a:t>
            </a:r>
            <a:r>
              <a:rPr sz="1200" b="1" dirty="0">
                <a:solidFill>
                  <a:srgbClr val="0077B6"/>
                </a:solidFill>
                <a:latin typeface="Arial"/>
              </a:rPr>
              <a:t>Ref [10]</a:t>
            </a:r>
            <a:r>
              <a:rPr sz="1200" dirty="0">
                <a:solidFill>
                  <a:srgbClr val="1E293B"/>
                </a:solidFill>
                <a:latin typeface="Arial"/>
              </a:rPr>
              <a:t>): </a:t>
            </a:r>
            <a:r>
              <a:rPr sz="1200" dirty="0" err="1">
                <a:solidFill>
                  <a:srgbClr val="1E293B"/>
                </a:solidFill>
                <a:latin typeface="Arial"/>
              </a:rPr>
              <a:t>FastAPI</a:t>
            </a:r>
            <a:r>
              <a:rPr sz="1200" dirty="0">
                <a:solidFill>
                  <a:srgbClr val="1E293B"/>
                </a:solidFill>
                <a:latin typeface="Arial"/>
              </a:rPr>
              <a:t> async REST endpoints, </a:t>
            </a:r>
            <a:r>
              <a:rPr sz="1200" dirty="0" err="1">
                <a:solidFill>
                  <a:srgbClr val="1E293B"/>
                </a:solidFill>
                <a:latin typeface="Arial"/>
              </a:rPr>
              <a:t>Pydantic</a:t>
            </a:r>
            <a:r>
              <a:rPr sz="1200" dirty="0">
                <a:solidFill>
                  <a:srgbClr val="1E293B"/>
                </a:solidFill>
                <a:latin typeface="Arial"/>
              </a:rPr>
              <a:t> v2 schemas, PostgreSQL/</a:t>
            </a:r>
            <a:r>
              <a:rPr sz="1200" dirty="0" err="1">
                <a:solidFill>
                  <a:srgbClr val="1E293B"/>
                </a:solidFill>
                <a:latin typeface="Arial"/>
              </a:rPr>
              <a:t>pgvector</a:t>
            </a:r>
            <a:r>
              <a:rPr sz="1200" dirty="0">
                <a:solidFill>
                  <a:srgbClr val="1E293B"/>
                </a:solidFill>
                <a:latin typeface="Arial"/>
              </a:rPr>
              <a:t> cluster, </a:t>
            </a:r>
            <a:r>
              <a:rPr sz="1200" dirty="0" err="1">
                <a:solidFill>
                  <a:srgbClr val="1E293B"/>
                </a:solidFill>
                <a:latin typeface="Arial"/>
              </a:rPr>
              <a:t>MinIO</a:t>
            </a:r>
            <a:r>
              <a:rPr sz="1200" dirty="0">
                <a:solidFill>
                  <a:srgbClr val="1E293B"/>
                </a:solidFill>
                <a:latin typeface="Arial"/>
              </a:rPr>
              <a:t> S3 object store, and Docker orchestration.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4680000" y="5860000"/>
            <a:ext cx="2320000" cy="3250000"/>
          </a:xfrm>
          <a:prstGeom prst="roundRect">
            <a:avLst/>
          </a:prstGeom>
          <a:solidFill>
            <a:srgbClr val="F6FAFE"/>
          </a:solidFill>
          <a:ln w="12700">
            <a:solidFill>
              <a:srgbClr val="A0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4700000" y="5920000"/>
            <a:ext cx="228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000">
                <a:solidFill>
                  <a:srgbClr val="0A192F"/>
                </a:solidFill>
                <a:latin typeface="Arial"/>
              </a:rPr>
              <a:t>SCAN FOR VIDEO DEMO</a:t>
            </a:r>
          </a:p>
        </p:txBody>
      </p:sp>
      <p:pic>
        <p:nvPicPr>
          <p:cNvPr id="48" name="Picture 47" descr="polaris_youtube_q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840000" y="6320000"/>
            <a:ext cx="2000000" cy="200000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4700000" y="8360000"/>
            <a:ext cx="22800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900">
                <a:solidFill>
                  <a:srgbClr val="0A192F"/>
                </a:solidFill>
                <a:latin typeface="Arial"/>
              </a:rPr>
              <a:t>YouTube: HitV08Q82Fg</a:t>
            </a:r>
          </a:p>
          <a:p>
            <a:pPr algn="ctr"/>
            <a:r>
              <a:rPr i="1" sz="800">
                <a:solidFill>
                  <a:srgbClr val="647382"/>
                </a:solidFill>
                <a:latin typeface="Arial"/>
              </a:rPr>
              <a:t>Click link or scan QR code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649</TotalTime>
  <Words>3112</Words>
  <Application>Microsoft Office PowerPoint</Application>
  <PresentationFormat>Custom</PresentationFormat>
  <Paragraphs>316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Segoe UI</vt:lpstr>
      <vt:lpstr>Arimo Bold</vt:lpstr>
      <vt:lpstr>Garamond</vt:lpstr>
      <vt:lpstr>Times New Roman Bold</vt:lpstr>
      <vt:lpstr>Times New Roman</vt:lpstr>
      <vt:lpstr>Calibri</vt:lpstr>
      <vt:lpstr>Office Theme</vt:lpstr>
      <vt:lpstr>SMART INDIA HACKATHON 2025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sih1.pptx</dc:title>
  <cp:lastModifiedBy>Gourishetti Jayaram</cp:lastModifiedBy>
  <cp:revision>18</cp:revision>
  <dcterms:created xsi:type="dcterms:W3CDTF">2006-08-16T00:00:00Z</dcterms:created>
  <dcterms:modified xsi:type="dcterms:W3CDTF">2026-10-05T17:59:37Z</dcterms:modified>
  <dc:identifier>DAHWTH-KGtA</dc:identifier>
</cp:coreProperties>
</file>